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7"/>
  </p:notesMasterIdLst>
  <p:sldIdLst>
    <p:sldId id="258" r:id="rId2"/>
    <p:sldId id="271" r:id="rId3"/>
    <p:sldId id="407" r:id="rId4"/>
    <p:sldId id="312" r:id="rId5"/>
    <p:sldId id="315" r:id="rId6"/>
    <p:sldId id="369" r:id="rId7"/>
    <p:sldId id="370" r:id="rId8"/>
    <p:sldId id="371" r:id="rId9"/>
    <p:sldId id="372" r:id="rId10"/>
    <p:sldId id="320" r:id="rId11"/>
    <p:sldId id="321" r:id="rId12"/>
    <p:sldId id="373" r:id="rId13"/>
    <p:sldId id="374" r:id="rId14"/>
    <p:sldId id="375" r:id="rId15"/>
    <p:sldId id="376" r:id="rId16"/>
    <p:sldId id="377" r:id="rId17"/>
    <p:sldId id="378" r:id="rId18"/>
    <p:sldId id="379" r:id="rId19"/>
    <p:sldId id="380" r:id="rId20"/>
    <p:sldId id="381" r:id="rId21"/>
    <p:sldId id="382" r:id="rId22"/>
    <p:sldId id="384" r:id="rId23"/>
    <p:sldId id="383" r:id="rId24"/>
    <p:sldId id="386" r:id="rId25"/>
    <p:sldId id="387" r:id="rId26"/>
    <p:sldId id="388" r:id="rId27"/>
    <p:sldId id="389" r:id="rId28"/>
    <p:sldId id="390" r:id="rId29"/>
    <p:sldId id="385" r:id="rId30"/>
    <p:sldId id="391" r:id="rId31"/>
    <p:sldId id="392" r:id="rId32"/>
    <p:sldId id="394" r:id="rId33"/>
    <p:sldId id="395" r:id="rId34"/>
    <p:sldId id="393" r:id="rId35"/>
    <p:sldId id="396" r:id="rId36"/>
    <p:sldId id="397" r:id="rId37"/>
    <p:sldId id="398" r:id="rId38"/>
    <p:sldId id="399" r:id="rId39"/>
    <p:sldId id="400" r:id="rId40"/>
    <p:sldId id="401" r:id="rId41"/>
    <p:sldId id="402" r:id="rId42"/>
    <p:sldId id="403" r:id="rId43"/>
    <p:sldId id="404" r:id="rId44"/>
    <p:sldId id="405" r:id="rId45"/>
    <p:sldId id="406" r:id="rId46"/>
  </p:sldIdLst>
  <p:sldSz cx="12192000" cy="6858000"/>
  <p:notesSz cx="7315200" cy="96012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FFCC"/>
    <a:srgbClr val="E0F8E0"/>
    <a:srgbClr val="92278F"/>
    <a:srgbClr val="CADEB2"/>
    <a:srgbClr val="C9D3BD"/>
    <a:srgbClr val="FBF9FB"/>
    <a:srgbClr val="EAE5EB"/>
    <a:srgbClr val="CCFF99"/>
    <a:srgbClr val="E3DFF7"/>
    <a:srgbClr val="DEE6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157" autoAdjust="0"/>
    <p:restoredTop sz="94660"/>
  </p:normalViewPr>
  <p:slideViewPr>
    <p:cSldViewPr snapToGrid="0">
      <p:cViewPr varScale="1">
        <p:scale>
          <a:sx n="67" d="100"/>
          <a:sy n="67" d="100"/>
        </p:scale>
        <p:origin x="604" y="25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notesMaster" Target="notesMasters/notesMaster1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169920" cy="481727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143587" y="0"/>
            <a:ext cx="3169920" cy="481727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r">
              <a:defRPr sz="1300"/>
            </a:lvl1pPr>
          </a:lstStyle>
          <a:p>
            <a:fld id="{B7D6DDD3-D7E9-488B-B626-1E8285E424D8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77875" y="1200150"/>
            <a:ext cx="5759450" cy="32400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6661" tIns="48331" rIns="96661" bIns="48331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31520" y="4620577"/>
            <a:ext cx="5852160" cy="3780473"/>
          </a:xfrm>
          <a:prstGeom prst="rect">
            <a:avLst/>
          </a:prstGeom>
        </p:spPr>
        <p:txBody>
          <a:bodyPr vert="horz" lIns="96661" tIns="48331" rIns="96661" bIns="48331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119474"/>
            <a:ext cx="3169920" cy="481726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143587" y="9119474"/>
            <a:ext cx="3169920" cy="481726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r">
              <a:defRPr sz="1300"/>
            </a:lvl1pPr>
          </a:lstStyle>
          <a:p>
            <a:fld id="{65CF6084-2C3C-4FE7-B181-D16A342905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54252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/>
          <p:cNvSpPr/>
          <p:nvPr userDrawn="1"/>
        </p:nvSpPr>
        <p:spPr>
          <a:xfrm>
            <a:off x="0" y="6171231"/>
            <a:ext cx="12192000" cy="697337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800"/>
          </a:p>
        </p:txBody>
      </p:sp>
      <p:sp>
        <p:nvSpPr>
          <p:cNvPr id="17" name="Rectangle 16"/>
          <p:cNvSpPr/>
          <p:nvPr userDrawn="1"/>
        </p:nvSpPr>
        <p:spPr>
          <a:xfrm>
            <a:off x="15" y="6094179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164" y="6292310"/>
            <a:ext cx="2113225" cy="334949"/>
          </a:xfrm>
          <a:prstGeom prst="rect">
            <a:avLst/>
          </a:prstGeom>
        </p:spPr>
      </p:pic>
      <p:pic>
        <p:nvPicPr>
          <p:cNvPr id="15" name="Picture 14" descr="final-logo-3.eps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61914" y="6270691"/>
            <a:ext cx="1117381" cy="817404"/>
          </a:xfrm>
          <a:prstGeom prst="rect">
            <a:avLst/>
          </a:prstGeom>
        </p:spPr>
      </p:pic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46794" y="6314268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 marL="91440" indent="-91440">
              <a:buSzPct val="100000"/>
              <a:buFont typeface="Wingdings" panose="05000000000000000000" pitchFamily="2" charset="2"/>
              <a:buChar char="q"/>
              <a:defRPr/>
            </a:lvl1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 userDrawn="1"/>
        </p:nvSpPr>
        <p:spPr>
          <a:xfrm>
            <a:off x="0" y="6339080"/>
            <a:ext cx="12192000" cy="518920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800" dirty="0"/>
          </a:p>
        </p:txBody>
      </p:sp>
      <p:sp>
        <p:nvSpPr>
          <p:cNvPr id="11" name="Rectangle 10"/>
          <p:cNvSpPr/>
          <p:nvPr userDrawn="1"/>
        </p:nvSpPr>
        <p:spPr>
          <a:xfrm>
            <a:off x="15" y="627259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17" name="Picture 16" descr="final-logo-3.eps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61914" y="6379551"/>
            <a:ext cx="1117381" cy="817404"/>
          </a:xfrm>
          <a:prstGeom prst="rect">
            <a:avLst/>
          </a:prstGeom>
        </p:spPr>
      </p:pic>
      <p:pic>
        <p:nvPicPr>
          <p:cNvPr id="18" name="Picture 17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045" y="6405564"/>
            <a:ext cx="2113225" cy="334949"/>
          </a:xfrm>
          <a:prstGeom prst="rect">
            <a:avLst/>
          </a:prstGeom>
        </p:spPr>
      </p:pic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46794" y="6314268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05451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1060198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477911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214193"/>
            <a:ext cx="4937760" cy="3378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477911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214193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 userDrawn="1"/>
        </p:nvSpPr>
        <p:spPr>
          <a:xfrm>
            <a:off x="0" y="6339080"/>
            <a:ext cx="12192000" cy="518920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800"/>
          </a:p>
        </p:txBody>
      </p:sp>
      <p:sp>
        <p:nvSpPr>
          <p:cNvPr id="11" name="Rectangle 10"/>
          <p:cNvSpPr/>
          <p:nvPr userDrawn="1"/>
        </p:nvSpPr>
        <p:spPr>
          <a:xfrm>
            <a:off x="15" y="627259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832682" y="6508672"/>
            <a:ext cx="984019" cy="273844"/>
          </a:xfrm>
          <a:prstGeom prst="rect">
            <a:avLst/>
          </a:prstGeom>
        </p:spPr>
        <p:txBody>
          <a:bodyPr vert="horz" lIns="68567" tIns="34289" rIns="68567" bIns="34289" rtlCol="0" anchor="ctr"/>
          <a:lstStyle>
            <a:lvl1pPr algn="r">
              <a:defRPr sz="80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507" y="6405564"/>
            <a:ext cx="2113225" cy="334949"/>
          </a:xfrm>
          <a:prstGeom prst="rect">
            <a:avLst/>
          </a:prstGeom>
        </p:spPr>
      </p:pic>
      <p:pic>
        <p:nvPicPr>
          <p:cNvPr id="16" name="Picture 15" descr="final-logo-3.eps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42543" y="6446621"/>
            <a:ext cx="923615" cy="675657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  <a:prstGeom prst="rect">
            <a:avLst/>
          </a:prstGeo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emf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6160663"/>
            <a:ext cx="12192000" cy="697337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800" dirty="0"/>
          </a:p>
        </p:txBody>
      </p:sp>
      <p:sp>
        <p:nvSpPr>
          <p:cNvPr id="9" name="Rectangle 8"/>
          <p:cNvSpPr/>
          <p:nvPr/>
        </p:nvSpPr>
        <p:spPr>
          <a:xfrm>
            <a:off x="15" y="6094179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04021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539277"/>
            <a:ext cx="10058400" cy="4329817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46794" y="6314268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0" name="Straight Connector 9"/>
          <p:cNvCxnSpPr/>
          <p:nvPr/>
        </p:nvCxnSpPr>
        <p:spPr>
          <a:xfrm>
            <a:off x="1097280" y="14330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12"/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307" y="6307398"/>
            <a:ext cx="2113225" cy="334949"/>
          </a:xfrm>
          <a:prstGeom prst="rect">
            <a:avLst/>
          </a:prstGeom>
        </p:spPr>
      </p:pic>
      <p:pic>
        <p:nvPicPr>
          <p:cNvPr id="15" name="Picture 14" descr="final-logo-3.eps"/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61914" y="6270691"/>
            <a:ext cx="1117381" cy="817404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62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8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7" Type="http://schemas.openxmlformats.org/officeDocument/2006/relationships/image" Target="../media/image66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5.png"/><Relationship Id="rId5" Type="http://schemas.openxmlformats.org/officeDocument/2006/relationships/image" Target="../media/image64.png"/><Relationship Id="rId4" Type="http://schemas.openxmlformats.org/officeDocument/2006/relationships/image" Target="../media/image63.png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6600"/>
              <a:t>Unit 7 </a:t>
            </a:r>
            <a:br>
              <a:rPr lang="en-US" sz="6600" dirty="0"/>
            </a:br>
            <a:r>
              <a:rPr lang="en-US" sz="6600" dirty="0"/>
              <a:t>Loop Optimization and Pipelining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EL-GY 9463:  Introduction to Hardware Design</a:t>
            </a:r>
          </a:p>
          <a:p>
            <a:r>
              <a:rPr lang="en-US"/>
              <a:t>ProfS. Sundeep Rangan, Siddharth Garg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42935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Manually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pipeline</a:t>
            </a:r>
            <a:r>
              <a:rPr lang="en-US" dirty="0"/>
              <a:t> simple sequential modules in System Verilog</a:t>
            </a:r>
          </a:p>
          <a:p>
            <a:r>
              <a:rPr lang="en-US" dirty="0"/>
              <a:t>Measure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initiation interval</a:t>
            </a:r>
            <a:r>
              <a:rPr lang="en-US" dirty="0"/>
              <a:t>,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latency</a:t>
            </a:r>
            <a:r>
              <a:rPr lang="en-US" dirty="0"/>
              <a:t>, and total latency</a:t>
            </a:r>
          </a:p>
          <a:p>
            <a:r>
              <a:rPr lang="en-US" dirty="0"/>
              <a:t>Control auto-pipelining in Vitis HLS</a:t>
            </a:r>
          </a:p>
          <a:p>
            <a:r>
              <a:rPr lang="en-US" dirty="0"/>
              <a:t>Extract resource and pipelining data from Vitis HLS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synthesis reports</a:t>
            </a:r>
          </a:p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Unroll</a:t>
            </a:r>
            <a:r>
              <a:rPr lang="en-US" dirty="0"/>
              <a:t> loops in Vitis HLS</a:t>
            </a:r>
          </a:p>
          <a:p>
            <a:r>
              <a:rPr lang="en-US" dirty="0"/>
              <a:t>Mitigate memory bottlenecks in unrolled loops with:</a:t>
            </a:r>
          </a:p>
          <a:p>
            <a:pPr lvl="1"/>
            <a:r>
              <a:rPr lang="en-US" dirty="0"/>
              <a:t>Increased memory bit width</a:t>
            </a:r>
          </a:p>
          <a:p>
            <a:pPr lvl="1"/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Memory partitioning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85531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5C648C-F24B-3E02-A196-A8D9BF9D12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37797F-7CD8-AC18-0AAD-460CDF2AB6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1CD2F2-F951-798B-1A8B-5156FDEA89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Pipelining in </a:t>
            </a:r>
            <a:r>
              <a:rPr lang="en-US" sz="2400" dirty="0" err="1"/>
              <a:t>SystemVerilog</a:t>
            </a:r>
            <a:endParaRPr lang="en-US" sz="2400" dirty="0"/>
          </a:p>
          <a:p>
            <a:r>
              <a:rPr lang="en-US" sz="2400" dirty="0"/>
              <a:t>Loop Pipelining in Vitis HLS </a:t>
            </a:r>
          </a:p>
          <a:p>
            <a:r>
              <a:rPr lang="en-US" sz="2400" dirty="0"/>
              <a:t>Loop Unrolling and Memory Constraints </a:t>
            </a:r>
          </a:p>
          <a:p>
            <a:pPr marL="0" indent="0">
              <a:buNone/>
            </a:pP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C41135-692F-4813-D146-AA10C9E690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</a:t>
            </a:fld>
            <a:endParaRPr lang="en-US" dirty="0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88FBEDAB-E7B9-4460-DC0B-6E34A4CE33F8}"/>
              </a:ext>
            </a:extLst>
          </p:cNvPr>
          <p:cNvSpPr/>
          <p:nvPr/>
        </p:nvSpPr>
        <p:spPr>
          <a:xfrm>
            <a:off x="392264" y="1447851"/>
            <a:ext cx="938784" cy="484632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06446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B94A4A-7EC3-F1D5-CCD1-F3A2252BE2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Quadratic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B850F2B-0267-F55D-667E-FCD9D833C66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Consider a quadratic function: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 (from previous unit)</a:t>
                </a:r>
              </a:p>
              <a:p>
                <a:r>
                  <a:rPr lang="en-US" dirty="0"/>
                  <a:t>For simplicity, assume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are fixed parameters</a:t>
                </a:r>
              </a:p>
              <a:p>
                <a:r>
                  <a:rPr lang="en-US" dirty="0"/>
                  <a:t>Single cycle implementation to the right</a:t>
                </a:r>
              </a:p>
              <a:p>
                <a:r>
                  <a:rPr lang="en-US" dirty="0"/>
                  <a:t>Marked multiplier units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B850F2B-0267-F55D-667E-FCD9D833C66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55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683774-5CDF-B36B-08BA-D3D91EDBF7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FCB3689-9345-9818-6567-DB05B146BF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7753" y="3458280"/>
            <a:ext cx="5472241" cy="285598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DF20F9E-1368-9BB3-20F6-C4D8679DE7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4706" y="1985927"/>
            <a:ext cx="3839156" cy="24098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93352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D925CC-3FAE-1C38-5338-4F54381D7C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the Critical Path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EF3B3E-B8D7-F21E-CD8F-53C070E03A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20028" y="1539277"/>
            <a:ext cx="5029060" cy="4329817"/>
          </a:xfrm>
        </p:spPr>
        <p:txBody>
          <a:bodyPr/>
          <a:lstStyle/>
          <a:p>
            <a:r>
              <a:rPr lang="en-US" dirty="0"/>
              <a:t>Consider implementation with times in table</a:t>
            </a:r>
          </a:p>
          <a:p>
            <a:r>
              <a:rPr lang="en-US" dirty="0"/>
              <a:t>Find critical path</a:t>
            </a:r>
          </a:p>
          <a:p>
            <a:pPr lvl="1"/>
            <a:r>
              <a:rPr lang="en-US" dirty="0"/>
              <a:t>Not including </a:t>
            </a:r>
            <a:r>
              <a:rPr lang="en-US" dirty="0" err="1"/>
              <a:t>clk</a:t>
            </a:r>
            <a:r>
              <a:rPr lang="en-US" dirty="0"/>
              <a:t>-Q and setup time</a:t>
            </a:r>
          </a:p>
          <a:p>
            <a:r>
              <a:rPr lang="en-US" dirty="0"/>
              <a:t>Two paths:</a:t>
            </a:r>
          </a:p>
          <a:p>
            <a:r>
              <a:rPr lang="en-US" dirty="0"/>
              <a:t>Path 1:  x, </a:t>
            </a:r>
            <a:r>
              <a:rPr lang="en-US" dirty="0" err="1"/>
              <a:t>x_reg</a:t>
            </a:r>
            <a:r>
              <a:rPr lang="en-US" dirty="0"/>
              <a:t>, xsq_w2, y</a:t>
            </a:r>
          </a:p>
          <a:p>
            <a:pPr lvl="1"/>
            <a:r>
              <a:rPr lang="en-US" dirty="0"/>
              <a:t>2 </a:t>
            </a:r>
            <a:r>
              <a:rPr lang="en-US" dirty="0" err="1"/>
              <a:t>mults</a:t>
            </a:r>
            <a:r>
              <a:rPr lang="en-US" dirty="0"/>
              <a:t>, 2 adders = 8.5 ns</a:t>
            </a:r>
          </a:p>
          <a:p>
            <a:r>
              <a:rPr lang="en-US" dirty="0"/>
              <a:t>Path 2:  x, </a:t>
            </a:r>
            <a:r>
              <a:rPr lang="en-US" dirty="0" err="1"/>
              <a:t>x_reg</a:t>
            </a:r>
            <a:r>
              <a:rPr lang="en-US" dirty="0"/>
              <a:t>, x_w1, y</a:t>
            </a:r>
          </a:p>
          <a:p>
            <a:pPr lvl="1"/>
            <a:r>
              <a:rPr lang="en-US" dirty="0"/>
              <a:t>1 register, 1 </a:t>
            </a:r>
            <a:r>
              <a:rPr lang="en-US" dirty="0" err="1"/>
              <a:t>mult</a:t>
            </a:r>
            <a:r>
              <a:rPr lang="en-US" dirty="0"/>
              <a:t>, 2 adders = 5.5 ns</a:t>
            </a:r>
          </a:p>
          <a:p>
            <a:r>
              <a:rPr lang="en-US" dirty="0"/>
              <a:t>Path 1 is critical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C661ED-ACB6-1F1B-7341-4BFDA341A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5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BE8A388-7D9A-964A-6E24-A30F124C18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8695" y="3518335"/>
            <a:ext cx="4878705" cy="251209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Content Placeholder 6">
                <a:extLst>
                  <a:ext uri="{FF2B5EF4-FFF2-40B4-BE49-F238E27FC236}">
                    <a16:creationId xmlns:a16="http://schemas.microsoft.com/office/drawing/2014/main" id="{D0809D2E-1732-FB1C-B5B2-470369B4616B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2028926154"/>
                  </p:ext>
                </p:extLst>
              </p:nvPr>
            </p:nvGraphicFramePr>
            <p:xfrm>
              <a:off x="1320559" y="1539277"/>
              <a:ext cx="4267255" cy="18542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876425">
                      <a:extLst>
                        <a:ext uri="{9D8B030D-6E8A-4147-A177-3AD203B41FA5}">
                          <a16:colId xmlns:a16="http://schemas.microsoft.com/office/drawing/2014/main" val="3489589385"/>
                        </a:ext>
                      </a:extLst>
                    </a:gridCol>
                    <a:gridCol w="2390830">
                      <a:extLst>
                        <a:ext uri="{9D8B030D-6E8A-4147-A177-3AD203B41FA5}">
                          <a16:colId xmlns:a16="http://schemas.microsoft.com/office/drawing/2014/main" val="163809716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Hardware block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Value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0462693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Multiplier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𝑚𝑢𝑙𝑡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dirty="0"/>
                            <a:t> = 3 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506413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Adder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𝑎𝑑𝑑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</m:oMath>
                          </a14:m>
                          <a:r>
                            <a:rPr lang="en-US" b="0" dirty="0"/>
                            <a:t>1 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704282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Path 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3+3+1+1 = 8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007954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00B050"/>
                              </a:solidFill>
                            </a:rPr>
                            <a:t>Path 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00B050"/>
                              </a:solidFill>
                            </a:rPr>
                            <a:t>3+1+1=5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6516230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Content Placeholder 6">
                <a:extLst>
                  <a:ext uri="{FF2B5EF4-FFF2-40B4-BE49-F238E27FC236}">
                    <a16:creationId xmlns:a16="http://schemas.microsoft.com/office/drawing/2014/main" id="{D0809D2E-1732-FB1C-B5B2-470369B4616B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2028926154"/>
                  </p:ext>
                </p:extLst>
              </p:nvPr>
            </p:nvGraphicFramePr>
            <p:xfrm>
              <a:off x="1320559" y="1539277"/>
              <a:ext cx="4267255" cy="18542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876425">
                      <a:extLst>
                        <a:ext uri="{9D8B030D-6E8A-4147-A177-3AD203B41FA5}">
                          <a16:colId xmlns:a16="http://schemas.microsoft.com/office/drawing/2014/main" val="3489589385"/>
                        </a:ext>
                      </a:extLst>
                    </a:gridCol>
                    <a:gridCol w="2390830">
                      <a:extLst>
                        <a:ext uri="{9D8B030D-6E8A-4147-A177-3AD203B41FA5}">
                          <a16:colId xmlns:a16="http://schemas.microsoft.com/office/drawing/2014/main" val="163809716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Hardware block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Value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0462693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Multiplier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78626" t="-108197" r="-1018" b="-3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506413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Adder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78626" t="-208197" r="-1018" b="-2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704282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Path 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3+3+1+1 = 8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007954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00B050"/>
                              </a:solidFill>
                            </a:rPr>
                            <a:t>Path 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00B050"/>
                              </a:solidFill>
                            </a:rPr>
                            <a:t>3+1+1=5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65162302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4504265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D61756-9B9C-BB13-E360-A2BE997DA8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Timing Diagram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F91522E-5711-B32D-449C-2F901F2ABA4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05046" y="5215867"/>
                <a:ext cx="5950633" cy="653227"/>
              </a:xfrm>
            </p:spPr>
            <p:txBody>
              <a:bodyPr/>
              <a:lstStyle/>
              <a:p>
                <a:r>
                  <a:rPr lang="en-US" dirty="0"/>
                  <a:t>Timing diagram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𝑐𝑙𝑘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r>
                  <a:rPr lang="en-US" dirty="0"/>
                  <a:t> ns (100 MHz)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F91522E-5711-B32D-449C-2F901F2ABA4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05046" y="5215867"/>
                <a:ext cx="5950633" cy="653227"/>
              </a:xfrm>
              <a:blipFill>
                <a:blip r:embed="rId2"/>
                <a:stretch>
                  <a:fillRect l="-2459" t="-102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DC059D-AFB9-2411-3A99-29842B317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6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34D8726-E503-889C-578D-8A869711D0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6085" y="1877986"/>
            <a:ext cx="7960900" cy="306614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48934DC-3C90-727A-8021-BCDA3F8BB2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720" y="3633646"/>
            <a:ext cx="3917995" cy="20448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50359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E39B8F-8227-BFD3-FC96-EB192739F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Multiplier Utilization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6651D81-F04F-1B4D-6D72-2EA6DCBEF8B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75578" y="1539277"/>
                <a:ext cx="5680101" cy="4329817"/>
              </a:xfrm>
            </p:spPr>
            <p:txBody>
              <a:bodyPr/>
              <a:lstStyle/>
              <a:p>
                <a:r>
                  <a:rPr lang="en-US" dirty="0"/>
                  <a:t>When are the multipliers 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busy</a:t>
                </a:r>
                <a:r>
                  <a:rPr lang="en-US" dirty="0"/>
                  <a:t>?</a:t>
                </a:r>
              </a:p>
              <a:p>
                <a:r>
                  <a:rPr lang="en-US" dirty="0"/>
                  <a:t>Consider multiplier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Input is </a:t>
                </a:r>
                <a:r>
                  <a:rPr lang="en-US" dirty="0" err="1"/>
                  <a:t>xreg</a:t>
                </a:r>
                <a:r>
                  <a:rPr lang="en-US" dirty="0"/>
                  <a:t> available 0.5 ns after clock edge</a:t>
                </a:r>
              </a:p>
              <a:p>
                <a:pPr lvl="1"/>
                <a:r>
                  <a:rPr lang="en-US" dirty="0"/>
                  <a:t>Max PD for multiplier is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𝑚𝑢𝑙𝑡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lang="en-US" dirty="0"/>
                  <a:t> ns</a:t>
                </a:r>
              </a:p>
              <a:p>
                <a:pPr lvl="1"/>
                <a:r>
                  <a:rPr lang="en-US" dirty="0"/>
                  <a:t>So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is busy for [0.5, 3.5] ns in each interval</a:t>
                </a:r>
              </a:p>
              <a:p>
                <a:r>
                  <a:rPr lang="en-US" dirty="0"/>
                  <a:t>Rest of the time,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is 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idle</a:t>
                </a:r>
              </a:p>
              <a:p>
                <a:pPr lvl="1"/>
                <a:r>
                  <a:rPr lang="en-US" dirty="0"/>
                  <a:t>Not being used.  “Waiting” for next input</a:t>
                </a:r>
              </a:p>
              <a:p>
                <a:r>
                  <a:rPr lang="en-US" dirty="0"/>
                  <a:t>Fraction 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utilization</a:t>
                </a:r>
                <a:r>
                  <a:rPr lang="en-US" dirty="0"/>
                  <a:t>: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 i="0" smtClean="0">
                        <a:latin typeface="Cambria Math" panose="02040503050406030204" pitchFamily="18" charset="0"/>
                      </a:rPr>
                      <m:t>utilization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nor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Busy</m:t>
                        </m:r>
                        <m:r>
                          <m:rPr>
                            <m:nor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time</m:t>
                        </m:r>
                      </m:num>
                      <m:den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𝑐𝑙𝑘</m:t>
                            </m:r>
                          </m:sub>
                        </m:sSub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=30%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6651D81-F04F-1B4D-6D72-2EA6DCBEF8B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75578" y="1539277"/>
                <a:ext cx="5680101" cy="4329817"/>
              </a:xfrm>
              <a:blipFill>
                <a:blip r:embed="rId2"/>
                <a:stretch>
                  <a:fillRect l="-2575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FBBE6A-F7D6-9064-DB54-CBE217343C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7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0CDFEEB-BB13-3AD5-1658-68402CEC4A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886" y="2404973"/>
            <a:ext cx="4779340" cy="2494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30967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14F2B3AC-8F6D-3C8D-7BAD-A1736451E5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402" y="1462774"/>
            <a:ext cx="7628368" cy="392366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CCE9A48-C746-A910-3272-5CDEACBD23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Plotting the Utilization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BAFD60-9990-84ED-CFCC-5EDF882FA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8</a:t>
            </a:fld>
            <a:endParaRPr lang="en-US" dirty="0"/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272B651F-F5EA-27FB-1460-1D7CF2962F60}"/>
              </a:ext>
            </a:extLst>
          </p:cNvPr>
          <p:cNvSpPr/>
          <p:nvPr/>
        </p:nvSpPr>
        <p:spPr>
          <a:xfrm>
            <a:off x="8224909" y="3873324"/>
            <a:ext cx="334742" cy="1195754"/>
          </a:xfrm>
          <a:prstGeom prst="rightBrac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4D3E91C-600A-9D38-7D21-29C96117036E}"/>
              </a:ext>
            </a:extLst>
          </p:cNvPr>
          <p:cNvSpPr txBox="1"/>
          <p:nvPr/>
        </p:nvSpPr>
        <p:spPr>
          <a:xfrm>
            <a:off x="8906267" y="3873324"/>
            <a:ext cx="203298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i="1" dirty="0">
                <a:solidFill>
                  <a:schemeClr val="accent2">
                    <a:lumMod val="75000"/>
                  </a:schemeClr>
                </a:solidFill>
              </a:rPr>
              <a:t>Each multiplier busy only once in clock period 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6B2CE0B-0F2C-52AB-DB0C-EC0BD5C204E5}"/>
              </a:ext>
            </a:extLst>
          </p:cNvPr>
          <p:cNvCxnSpPr>
            <a:cxnSpLocks/>
          </p:cNvCxnSpPr>
          <p:nvPr/>
        </p:nvCxnSpPr>
        <p:spPr>
          <a:xfrm>
            <a:off x="2992081" y="4359460"/>
            <a:ext cx="0" cy="1429399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38B1A3C-2E16-C195-F310-0D6029B2FF81}"/>
              </a:ext>
            </a:extLst>
          </p:cNvPr>
          <p:cNvCxnSpPr>
            <a:cxnSpLocks/>
          </p:cNvCxnSpPr>
          <p:nvPr/>
        </p:nvCxnSpPr>
        <p:spPr>
          <a:xfrm>
            <a:off x="3511714" y="4378509"/>
            <a:ext cx="0" cy="1391299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0397B2D-0B6A-9733-FF6D-44ECEFD71188}"/>
              </a:ext>
            </a:extLst>
          </p:cNvPr>
          <p:cNvCxnSpPr/>
          <p:nvPr/>
        </p:nvCxnSpPr>
        <p:spPr>
          <a:xfrm>
            <a:off x="2207696" y="5552075"/>
            <a:ext cx="78438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C213F81-D010-CFC7-C317-1AF3DC1C198E}"/>
              </a:ext>
            </a:extLst>
          </p:cNvPr>
          <p:cNvCxnSpPr>
            <a:cxnSpLocks/>
          </p:cNvCxnSpPr>
          <p:nvPr/>
        </p:nvCxnSpPr>
        <p:spPr>
          <a:xfrm flipH="1">
            <a:off x="3511714" y="5552075"/>
            <a:ext cx="53772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BD447B5-9644-72A0-E733-D83518D4AB78}"/>
                  </a:ext>
                </a:extLst>
              </p:cNvPr>
              <p:cNvSpPr txBox="1"/>
              <p:nvPr/>
            </p:nvSpPr>
            <p:spPr>
              <a:xfrm>
                <a:off x="781455" y="5369698"/>
                <a:ext cx="177704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chemeClr val="accent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accent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accent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b="0" i="1" smtClean="0">
                        <a:solidFill>
                          <a:schemeClr val="accent2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000" b="0" i="1" smtClean="0">
                            <a:solidFill>
                              <a:schemeClr val="accent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accent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accent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sz="2000" i="1" dirty="0">
                    <a:solidFill>
                      <a:schemeClr val="accent2">
                        <a:lumMod val="75000"/>
                      </a:schemeClr>
                    </a:solidFill>
                  </a:rPr>
                  <a:t> busy</a:t>
                </a: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BD447B5-9644-72A0-E733-D83518D4AB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455" y="5369698"/>
                <a:ext cx="1777040" cy="400110"/>
              </a:xfrm>
              <a:prstGeom prst="rect">
                <a:avLst/>
              </a:prstGeom>
              <a:blipFill>
                <a:blip r:embed="rId3"/>
                <a:stretch>
                  <a:fillRect t="-9231" b="-27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09155633-6E32-EB88-3711-C76C89D6F23B}"/>
              </a:ext>
            </a:extLst>
          </p:cNvPr>
          <p:cNvCxnSpPr>
            <a:cxnSpLocks/>
          </p:cNvCxnSpPr>
          <p:nvPr/>
        </p:nvCxnSpPr>
        <p:spPr>
          <a:xfrm>
            <a:off x="5200618" y="4187703"/>
            <a:ext cx="0" cy="1429399"/>
          </a:xfrm>
          <a:prstGeom prst="line">
            <a:avLst/>
          </a:prstGeom>
          <a:ln w="254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D152E424-77A2-6134-4C83-E73C44BAE3FD}"/>
              </a:ext>
            </a:extLst>
          </p:cNvPr>
          <p:cNvCxnSpPr>
            <a:cxnSpLocks/>
          </p:cNvCxnSpPr>
          <p:nvPr/>
        </p:nvCxnSpPr>
        <p:spPr>
          <a:xfrm>
            <a:off x="5705095" y="4206752"/>
            <a:ext cx="0" cy="1391299"/>
          </a:xfrm>
          <a:prstGeom prst="line">
            <a:avLst/>
          </a:prstGeom>
          <a:ln w="254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5D1E19F6-6533-FA8C-51FC-C9AAE6D0B4E7}"/>
              </a:ext>
            </a:extLst>
          </p:cNvPr>
          <p:cNvCxnSpPr/>
          <p:nvPr/>
        </p:nvCxnSpPr>
        <p:spPr>
          <a:xfrm>
            <a:off x="4416233" y="5380318"/>
            <a:ext cx="784385" cy="0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376CD5FF-4781-CE25-1919-089434CC2CF2}"/>
              </a:ext>
            </a:extLst>
          </p:cNvPr>
          <p:cNvCxnSpPr>
            <a:cxnSpLocks/>
          </p:cNvCxnSpPr>
          <p:nvPr/>
        </p:nvCxnSpPr>
        <p:spPr>
          <a:xfrm flipH="1">
            <a:off x="5720251" y="5380318"/>
            <a:ext cx="537722" cy="0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D8683328-645A-8BA3-7876-2889FE014804}"/>
                  </a:ext>
                </a:extLst>
              </p:cNvPr>
              <p:cNvSpPr txBox="1"/>
              <p:nvPr/>
            </p:nvSpPr>
            <p:spPr>
              <a:xfrm>
                <a:off x="5858706" y="5511643"/>
                <a:ext cx="177704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chemeClr val="accent5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accent5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accent5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000" i="1" dirty="0">
                    <a:solidFill>
                      <a:schemeClr val="accent5">
                        <a:lumMod val="50000"/>
                      </a:schemeClr>
                    </a:solidFill>
                  </a:rPr>
                  <a:t> busy</a:t>
                </a:r>
                <a:endParaRPr lang="en-US" sz="2000" i="1" dirty="0">
                  <a:solidFill>
                    <a:schemeClr val="accent2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D8683328-645A-8BA3-7876-2889FE0148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58706" y="5511643"/>
                <a:ext cx="1777040" cy="400110"/>
              </a:xfrm>
              <a:prstGeom prst="rect">
                <a:avLst/>
              </a:prstGeom>
              <a:blipFill>
                <a:blip r:embed="rId4"/>
                <a:stretch>
                  <a:fillRect t="-7576" b="-257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900772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80A53D-CBAF-4383-0C61-9CCD488D78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Best Utilization with Single Cycle Design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BF2778-A644-AF03-1129-2BCB6A87A54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97279" y="1539277"/>
                <a:ext cx="5247949" cy="4329817"/>
              </a:xfrm>
            </p:spPr>
            <p:txBody>
              <a:bodyPr/>
              <a:lstStyle/>
              <a:p>
                <a:r>
                  <a:rPr lang="en-US" dirty="0"/>
                  <a:t>From previous slide:</a:t>
                </a:r>
              </a:p>
              <a:p>
                <a:pPr lvl="1"/>
                <a:r>
                  <a:rPr lang="en-US" dirty="0"/>
                  <a:t>Critical path delay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𝑐𝑟𝑖𝑡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=8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𝑛𝑠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Two multipliers + two adders</a:t>
                </a:r>
              </a:p>
              <a:p>
                <a:r>
                  <a:rPr lang="en-US" dirty="0"/>
                  <a:t>To close timing, assume parameters to right:</a:t>
                </a:r>
              </a:p>
              <a:p>
                <a:pPr lvl="1"/>
                <a:r>
                  <a:rPr lang="en-US" dirty="0"/>
                  <a:t>Find min clock period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𝑐𝑙𝑘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𝑐𝑟𝑖𝑡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𝑠𝑒𝑡𝑢𝑝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𝑐𝑙𝑘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=9.5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ns</m:t>
                    </m:r>
                  </m:oMath>
                </a14:m>
                <a:endParaRPr lang="en-US" dirty="0"/>
              </a:p>
              <a:p>
                <a:r>
                  <a:rPr lang="en-US" dirty="0"/>
                  <a:t>Each </a:t>
                </a:r>
                <a:r>
                  <a:rPr lang="en-US" dirty="0" err="1"/>
                  <a:t>multipier</a:t>
                </a:r>
                <a:r>
                  <a:rPr lang="en-US" dirty="0"/>
                  <a:t> is busy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𝑚𝑢𝑙𝑡</m:t>
                        </m:r>
                      </m:sub>
                    </m:sSub>
                  </m:oMath>
                </a14:m>
                <a:r>
                  <a:rPr lang="en-US" dirty="0"/>
                  <a:t> per clock period</a:t>
                </a:r>
              </a:p>
              <a:p>
                <a:r>
                  <a:rPr lang="en-US" dirty="0"/>
                  <a:t>Best utilization</a:t>
                </a: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𝑈𝑡𝑖𝑖𝑧𝑎𝑡𝑖𝑜𝑛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𝑚𝑢𝑙𝑡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𝑐𝑙𝑘</m:t>
                            </m:r>
                          </m:sub>
                        </m:sSub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9.5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≈0.31</m:t>
                    </m:r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BF2778-A644-AF03-1129-2BCB6A87A54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97279" y="1539277"/>
                <a:ext cx="5247949" cy="4329817"/>
              </a:xfrm>
              <a:blipFill>
                <a:blip r:embed="rId2"/>
                <a:stretch>
                  <a:fillRect l="-2787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810FFF-93CC-83ED-2135-0C3F1BBE3F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9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Content Placeholder 6">
                <a:extLst>
                  <a:ext uri="{FF2B5EF4-FFF2-40B4-BE49-F238E27FC236}">
                    <a16:creationId xmlns:a16="http://schemas.microsoft.com/office/drawing/2014/main" id="{5A9BB9FC-96AA-DEA8-E930-68680C205E59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3539055013"/>
                  </p:ext>
                </p:extLst>
              </p:nvPr>
            </p:nvGraphicFramePr>
            <p:xfrm>
              <a:off x="6436165" y="1599900"/>
              <a:ext cx="5077192" cy="289553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603269">
                      <a:extLst>
                        <a:ext uri="{9D8B030D-6E8A-4147-A177-3AD203B41FA5}">
                          <a16:colId xmlns:a16="http://schemas.microsoft.com/office/drawing/2014/main" val="3489589385"/>
                        </a:ext>
                      </a:extLst>
                    </a:gridCol>
                    <a:gridCol w="2473923">
                      <a:extLst>
                        <a:ext uri="{9D8B030D-6E8A-4147-A177-3AD203B41FA5}">
                          <a16:colId xmlns:a16="http://schemas.microsoft.com/office/drawing/2014/main" val="163809716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Item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Value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0462693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Register (</a:t>
                          </a:r>
                          <a:r>
                            <a:rPr lang="en-US" dirty="0" err="1"/>
                            <a:t>clk</a:t>
                          </a:r>
                          <a:r>
                            <a:rPr lang="en-US" dirty="0"/>
                            <a:t>-Q) delay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𝑐𝑙𝑘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dirty="0"/>
                            <a:t>= 0.5 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517038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Multiplier PD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𝑚𝑢𝑙𝑡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dirty="0"/>
                            <a:t> = 3 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506413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Adder PD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𝑎𝑑𝑑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</m:oMath>
                          </a14:m>
                          <a:r>
                            <a:rPr lang="en-US" b="0" dirty="0"/>
                            <a:t>1 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704282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Min set up time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𝑠𝑒𝑡𝑢𝑝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</m:oMath>
                          </a14:m>
                          <a:r>
                            <a:rPr lang="en-US" b="0" dirty="0"/>
                            <a:t> 1 ns 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951631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 err="1">
                              <a:solidFill>
                                <a:schemeClr val="tx1"/>
                              </a:solidFill>
                            </a:rPr>
                            <a:t>Crtitcal</a:t>
                          </a:r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 path delay</a:t>
                          </a:r>
                          <a:br>
                            <a:rPr lang="en-US" dirty="0">
                              <a:solidFill>
                                <a:schemeClr val="tx1"/>
                              </a:solidFill>
                            </a:rPr>
                          </a:br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(in combinational logic)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𝑐𝑟𝑖𝑡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</m:oMath>
                          </a14:m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3+3+1+1 = 8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007954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Min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𝑐𝑙𝑘</m:t>
                                  </m:r>
                                </m:sub>
                              </m:sSub>
                            </m:oMath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𝑐𝑙𝑘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</m:oMath>
                          </a14:m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8.5+0.5+1= 9.5 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6516230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Content Placeholder 6">
                <a:extLst>
                  <a:ext uri="{FF2B5EF4-FFF2-40B4-BE49-F238E27FC236}">
                    <a16:creationId xmlns:a16="http://schemas.microsoft.com/office/drawing/2014/main" id="{5A9BB9FC-96AA-DEA8-E930-68680C205E59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3539055013"/>
                  </p:ext>
                </p:extLst>
              </p:nvPr>
            </p:nvGraphicFramePr>
            <p:xfrm>
              <a:off x="6436165" y="1599900"/>
              <a:ext cx="5077192" cy="289553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603269">
                      <a:extLst>
                        <a:ext uri="{9D8B030D-6E8A-4147-A177-3AD203B41FA5}">
                          <a16:colId xmlns:a16="http://schemas.microsoft.com/office/drawing/2014/main" val="3489589385"/>
                        </a:ext>
                      </a:extLst>
                    </a:gridCol>
                    <a:gridCol w="2473923">
                      <a:extLst>
                        <a:ext uri="{9D8B030D-6E8A-4147-A177-3AD203B41FA5}">
                          <a16:colId xmlns:a16="http://schemas.microsoft.com/office/drawing/2014/main" val="163809716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Item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Value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04626930"/>
                      </a:ext>
                    </a:extLst>
                  </a:tr>
                  <a:tr h="385128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Register (</a:t>
                          </a:r>
                          <a:r>
                            <a:rPr lang="en-US" dirty="0" err="1"/>
                            <a:t>clk</a:t>
                          </a:r>
                          <a:r>
                            <a:rPr lang="en-US" dirty="0"/>
                            <a:t>-Q) delay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5665" t="-104762" r="-985" b="-58254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517038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Multiplier PD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5665" t="-211475" r="-985" b="-50163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506413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Adder PD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5665" t="-311475" r="-985" b="-40163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70428240"/>
                      </a:ext>
                    </a:extLst>
                  </a:tr>
                  <a:tr h="386969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Min set up time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5665" t="-392188" r="-985" b="-2828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9516310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r>
                            <a:rPr lang="en-US" dirty="0" err="1">
                              <a:solidFill>
                                <a:schemeClr val="tx1"/>
                              </a:solidFill>
                            </a:rPr>
                            <a:t>Crtitcal</a:t>
                          </a:r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 path delay</a:t>
                          </a:r>
                          <a:br>
                            <a:rPr lang="en-US" dirty="0">
                              <a:solidFill>
                                <a:schemeClr val="tx1"/>
                              </a:solidFill>
                            </a:rPr>
                          </a:br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(in combinational logic)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5665" t="-300000" r="-985" b="-7238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007954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34" t="-688525" r="-95794" b="-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5665" t="-688525" r="-985" b="-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65162302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7127432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C3B4F9-E779-590A-C8ED-63B7616F11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Two Cycle Design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C50DFC-FB98-979E-4E4F-99F0FBA1C6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can improve throughput by breaking computation over two cycles</a:t>
            </a:r>
          </a:p>
          <a:p>
            <a:r>
              <a:rPr lang="en-US" dirty="0"/>
              <a:t>Register two intermediate terms: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xsq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xreg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*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xreg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lin_term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w1*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xreg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w0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35234D-CAB4-024E-EF1D-840B21D17C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10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C9E648D-5421-41D3-24F2-423FFF956B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7027" y="2604069"/>
            <a:ext cx="4385213" cy="271465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32F5FBB-9813-2E90-5E91-D9D54F972C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356" y="3086100"/>
            <a:ext cx="5635271" cy="2657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41345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C39BBA-A50E-FE84-C290-1308077A3D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Three Stages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12673EF-ACCC-0796-B3DB-87EB7711CF1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Design is processed in three stages = 2 cycles</a:t>
                </a:r>
              </a:p>
              <a:p>
                <a:r>
                  <a:rPr lang="en-US" dirty="0"/>
                  <a:t>Stage 0</a:t>
                </a:r>
              </a:p>
              <a:p>
                <a:pPr lvl="1"/>
                <a:r>
                  <a:rPr lang="en-US" dirty="0"/>
                  <a:t>Register input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to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xreg</a:t>
                </a:r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r>
                  <a:rPr lang="en-US" dirty="0"/>
                  <a:t>Stage 1:  Compute and register:</a:t>
                </a:r>
              </a:p>
              <a:p>
                <a:pPr lvl="1"/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xsq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=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xreg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*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xreg</a:t>
                </a:r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lvl="1"/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lin_term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= w1*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xreg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+ w0</a:t>
                </a:r>
              </a:p>
              <a:p>
                <a:r>
                  <a:rPr lang="en-US" dirty="0"/>
                  <a:t>Stage 2: Compute output</a:t>
                </a:r>
              </a:p>
              <a:p>
                <a:pPr lvl="1"/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y = w2*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xsq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+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lin_term</a:t>
                </a:r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12673EF-ACCC-0796-B3DB-87EB7711CF1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55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BD5EA0-8335-E815-2F77-A4824334CA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11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0413C95-29D4-0DDB-81C3-4DC2051BFA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1906" y="1771988"/>
            <a:ext cx="4385213" cy="27146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93591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D21647-563F-100C-FA3C-8463A46665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Pipelining Timing Diagram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77158F-671C-6F4F-7A35-B8A7ED52B6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28562" y="1539277"/>
            <a:ext cx="3027118" cy="4329817"/>
          </a:xfrm>
        </p:spPr>
        <p:txBody>
          <a:bodyPr/>
          <a:lstStyle/>
          <a:p>
            <a:r>
              <a:rPr lang="en-US" dirty="0"/>
              <a:t>Processing via a “pipeline”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F90F5B-B22A-3515-BFF2-B387E8AA9D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12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21D3D20-4EBE-54E2-6C29-D3A3664F59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2367918"/>
            <a:ext cx="7926484" cy="3307903"/>
          </a:xfrm>
          <a:prstGeom prst="rect">
            <a:avLst/>
          </a:prstGeom>
        </p:spPr>
      </p:pic>
      <p:sp>
        <p:nvSpPr>
          <p:cNvPr id="9" name="Right Brace 8">
            <a:extLst>
              <a:ext uri="{FF2B5EF4-FFF2-40B4-BE49-F238E27FC236}">
                <a16:creationId xmlns:a16="http://schemas.microsoft.com/office/drawing/2014/main" id="{0D6C6086-85EE-3A46-0D5D-083CBA222ECF}"/>
              </a:ext>
            </a:extLst>
          </p:cNvPr>
          <p:cNvSpPr/>
          <p:nvPr/>
        </p:nvSpPr>
        <p:spPr>
          <a:xfrm>
            <a:off x="7926485" y="4405286"/>
            <a:ext cx="328375" cy="931544"/>
          </a:xfrm>
          <a:prstGeom prst="rightBrac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0F74A54-2090-D03A-E74D-71301146DD63}"/>
              </a:ext>
            </a:extLst>
          </p:cNvPr>
          <p:cNvSpPr txBox="1"/>
          <p:nvPr/>
        </p:nvSpPr>
        <p:spPr>
          <a:xfrm>
            <a:off x="8330300" y="4303060"/>
            <a:ext cx="203298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i="1" dirty="0">
                <a:solidFill>
                  <a:schemeClr val="accent2">
                    <a:lumMod val="75000"/>
                  </a:schemeClr>
                </a:solidFill>
              </a:rPr>
              <a:t>Multipliers working simultaneously</a:t>
            </a:r>
          </a:p>
        </p:txBody>
      </p:sp>
    </p:spTree>
    <p:extLst>
      <p:ext uri="{BB962C8B-B14F-4D97-AF65-F5344CB8AC3E}">
        <p14:creationId xmlns:p14="http://schemas.microsoft.com/office/powerpoint/2010/main" val="36146831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AFECB0-43D0-6222-A503-A386B0C2AD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Comparison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Content Placeholder 4">
                <a:extLst>
                  <a:ext uri="{FF2B5EF4-FFF2-40B4-BE49-F238E27FC236}">
                    <a16:creationId xmlns:a16="http://schemas.microsoft.com/office/drawing/2014/main" id="{CF520833-0DDB-E574-9892-0310C797353A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2220892044"/>
                  </p:ext>
                </p:extLst>
              </p:nvPr>
            </p:nvGraphicFramePr>
            <p:xfrm>
              <a:off x="1096963" y="1539875"/>
              <a:ext cx="9561856" cy="335368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390464">
                      <a:extLst>
                        <a:ext uri="{9D8B030D-6E8A-4147-A177-3AD203B41FA5}">
                          <a16:colId xmlns:a16="http://schemas.microsoft.com/office/drawing/2014/main" val="4283726672"/>
                        </a:ext>
                      </a:extLst>
                    </a:gridCol>
                    <a:gridCol w="2390464">
                      <a:extLst>
                        <a:ext uri="{9D8B030D-6E8A-4147-A177-3AD203B41FA5}">
                          <a16:colId xmlns:a16="http://schemas.microsoft.com/office/drawing/2014/main" val="1721545586"/>
                        </a:ext>
                      </a:extLst>
                    </a:gridCol>
                    <a:gridCol w="2390464">
                      <a:extLst>
                        <a:ext uri="{9D8B030D-6E8A-4147-A177-3AD203B41FA5}">
                          <a16:colId xmlns:a16="http://schemas.microsoft.com/office/drawing/2014/main" val="817107790"/>
                        </a:ext>
                      </a:extLst>
                    </a:gridCol>
                    <a:gridCol w="2390464">
                      <a:extLst>
                        <a:ext uri="{9D8B030D-6E8A-4147-A177-3AD203B41FA5}">
                          <a16:colId xmlns:a16="http://schemas.microsoft.com/office/drawing/2014/main" val="285413845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Single Cycle Design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Two Cycle Design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2128638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Register + Setup time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𝑐𝑙𝑘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𝑠𝑒𝑡𝑢𝑝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1.5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9279835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Multiplier PD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𝑚𝑢𝑙𝑡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094458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Add PD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𝑎𝑑𝑑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1831986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Critical path PD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𝑐𝑟𝑖𝑡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3+3+1+1=8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3+1=4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1021884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Min clock period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𝑐𝑙𝑘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9.5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5.5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488808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Max throughput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1/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𝑐𝑙𝑘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105 MHz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181 MHz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4420661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Latency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𝑐𝑙𝑘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</m:oMath>
                          </a14:m>
                          <a:r>
                            <a:rPr lang="en-US" dirty="0"/>
                            <a:t> 9.5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𝑐𝑙𝑘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</m:oMath>
                          </a14:m>
                          <a:r>
                            <a:rPr lang="en-US" dirty="0"/>
                            <a:t> 11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2266709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Multiplier utilization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f>
                                <m:fPr>
                                  <m:type m:val="lin"/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𝑚𝑢𝑙𝑡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𝑐𝑙𝑘</m:t>
                                      </m:r>
                                    </m:sub>
                                  </m:sSub>
                                </m:den>
                              </m:f>
                            </m:oMath>
                          </a14:m>
                          <a:r>
                            <a:rPr lang="en-US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0.31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0.54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9554839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Content Placeholder 4">
                <a:extLst>
                  <a:ext uri="{FF2B5EF4-FFF2-40B4-BE49-F238E27FC236}">
                    <a16:creationId xmlns:a16="http://schemas.microsoft.com/office/drawing/2014/main" id="{CF520833-0DDB-E574-9892-0310C797353A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2220892044"/>
                  </p:ext>
                </p:extLst>
              </p:nvPr>
            </p:nvGraphicFramePr>
            <p:xfrm>
              <a:off x="1096963" y="1539875"/>
              <a:ext cx="9561856" cy="335368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390464">
                      <a:extLst>
                        <a:ext uri="{9D8B030D-6E8A-4147-A177-3AD203B41FA5}">
                          <a16:colId xmlns:a16="http://schemas.microsoft.com/office/drawing/2014/main" val="4283726672"/>
                        </a:ext>
                      </a:extLst>
                    </a:gridCol>
                    <a:gridCol w="2390464">
                      <a:extLst>
                        <a:ext uri="{9D8B030D-6E8A-4147-A177-3AD203B41FA5}">
                          <a16:colId xmlns:a16="http://schemas.microsoft.com/office/drawing/2014/main" val="1721545586"/>
                        </a:ext>
                      </a:extLst>
                    </a:gridCol>
                    <a:gridCol w="2390464">
                      <a:extLst>
                        <a:ext uri="{9D8B030D-6E8A-4147-A177-3AD203B41FA5}">
                          <a16:colId xmlns:a16="http://schemas.microsoft.com/office/drawing/2014/main" val="817107790"/>
                        </a:ext>
                      </a:extLst>
                    </a:gridCol>
                    <a:gridCol w="2390464">
                      <a:extLst>
                        <a:ext uri="{9D8B030D-6E8A-4147-A177-3AD203B41FA5}">
                          <a16:colId xmlns:a16="http://schemas.microsoft.com/office/drawing/2014/main" val="285413845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Single Cycle Design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Two Cycle Design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21286386"/>
                      </a:ext>
                    </a:extLst>
                  </a:tr>
                  <a:tr h="386969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Register + Setup time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510" t="-103125" r="-201276" b="-8328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1.5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9279835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Multiplier PD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510" t="-216667" r="-201276" b="-788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094458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Add PD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510" t="-311475" r="-201276" b="-67541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1831986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Critical path PD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510" t="-411475" r="-201276" b="-57541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3+3+1+1=8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3+1=4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1021884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Min clock period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510" t="-511475" r="-201276" b="-47541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9.5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5.5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488808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Max throughput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510" t="-611475" r="-201276" b="-37541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105 MHz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181 MHz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4420661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Latency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000" t="-711475" r="-100763" b="-27541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00765" t="-711475" r="-1020" b="-27541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72266709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Multiplier utilization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510" t="-811475" r="-201276" b="-17541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0.31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0.54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95548399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E63B21-6AD1-BEC4-CF4E-CABD18A336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13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BEFC69C-D2AC-986B-149E-695975A857BD}"/>
              </a:ext>
            </a:extLst>
          </p:cNvPr>
          <p:cNvSpPr/>
          <p:nvPr/>
        </p:nvSpPr>
        <p:spPr>
          <a:xfrm>
            <a:off x="2035677" y="5106625"/>
            <a:ext cx="7674139" cy="591076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solidFill>
                  <a:schemeClr val="accent1"/>
                </a:solidFill>
              </a:rPr>
              <a:t>Pipelining:  Higher throughput via better utilization</a:t>
            </a:r>
          </a:p>
        </p:txBody>
      </p:sp>
    </p:spTree>
    <p:extLst>
      <p:ext uri="{BB962C8B-B14F-4D97-AF65-F5344CB8AC3E}">
        <p14:creationId xmlns:p14="http://schemas.microsoft.com/office/powerpoint/2010/main" val="11420981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C5CEE4-99F6-3AF0-8B56-013CF247E9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 Pipelining for a Series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9EDB67-C14E-C49D-9E83-DF398E52E8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35124" y="1539278"/>
            <a:ext cx="4820555" cy="700732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Insert registers on each stage</a:t>
            </a:r>
          </a:p>
          <a:p>
            <a:r>
              <a:rPr lang="en-US" dirty="0"/>
              <a:t>Use suffixes s0, s1, s2 to indicate stage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8E856A-4507-F13C-87A1-C1A31B0688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14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5D8E77B-742B-78BC-CB54-59BDCA8948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801" y="2323638"/>
            <a:ext cx="4257894" cy="83824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ECF15E7-FB16-1926-7DE5-314D97A858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3796" y="4366641"/>
            <a:ext cx="6096313" cy="80014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FAF5928-610F-E7BB-ECB4-2415849C5A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36488" y="1699872"/>
            <a:ext cx="2969849" cy="1795408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DB17E679-9053-6D21-84C2-2ADBD38D3BB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36488" y="3729652"/>
            <a:ext cx="3148867" cy="17954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27690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D20B58-1263-1E5C-267F-3C063FC920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Cycle-by-Cycle Timing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Content Placeholder 6">
                <a:extLst>
                  <a:ext uri="{FF2B5EF4-FFF2-40B4-BE49-F238E27FC236}">
                    <a16:creationId xmlns:a16="http://schemas.microsoft.com/office/drawing/2014/main" id="{68A72CBC-93B8-E649-C6D3-4F05D12956CA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683759057"/>
                  </p:ext>
                </p:extLst>
              </p:nvPr>
            </p:nvGraphicFramePr>
            <p:xfrm>
              <a:off x="1096962" y="1539875"/>
              <a:ext cx="6809316" cy="29667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02565">
                      <a:extLst>
                        <a:ext uri="{9D8B030D-6E8A-4147-A177-3AD203B41FA5}">
                          <a16:colId xmlns:a16="http://schemas.microsoft.com/office/drawing/2014/main" val="114699745"/>
                        </a:ext>
                      </a:extLst>
                    </a:gridCol>
                    <a:gridCol w="995231">
                      <a:extLst>
                        <a:ext uri="{9D8B030D-6E8A-4147-A177-3AD203B41FA5}">
                          <a16:colId xmlns:a16="http://schemas.microsoft.com/office/drawing/2014/main" val="3747743004"/>
                        </a:ext>
                      </a:extLst>
                    </a:gridCol>
                    <a:gridCol w="939660">
                      <a:extLst>
                        <a:ext uri="{9D8B030D-6E8A-4147-A177-3AD203B41FA5}">
                          <a16:colId xmlns:a16="http://schemas.microsoft.com/office/drawing/2014/main" val="792492998"/>
                        </a:ext>
                      </a:extLst>
                    </a:gridCol>
                    <a:gridCol w="1055854">
                      <a:extLst>
                        <a:ext uri="{9D8B030D-6E8A-4147-A177-3AD203B41FA5}">
                          <a16:colId xmlns:a16="http://schemas.microsoft.com/office/drawing/2014/main" val="25905041"/>
                        </a:ext>
                      </a:extLst>
                    </a:gridCol>
                    <a:gridCol w="1207412">
                      <a:extLst>
                        <a:ext uri="{9D8B030D-6E8A-4147-A177-3AD203B41FA5}">
                          <a16:colId xmlns:a16="http://schemas.microsoft.com/office/drawing/2014/main" val="2114528342"/>
                        </a:ext>
                      </a:extLst>
                    </a:gridCol>
                    <a:gridCol w="1808594">
                      <a:extLst>
                        <a:ext uri="{9D8B030D-6E8A-4147-A177-3AD203B41FA5}">
                          <a16:colId xmlns:a16="http://schemas.microsoft.com/office/drawing/2014/main" val="35965671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Cycle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_</m:t>
                              </m:r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</m:oMath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z1_s1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z2_s2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y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3268679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?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?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?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?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5652067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?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?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?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229046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r>
                            <a:rPr lang="en-US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?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?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046518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r>
                            <a:rPr lang="en-US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d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r>
                            <a:rPr lang="en-US" dirty="0"/>
                            <a:t> 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859789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r>
                            <a:rPr lang="en-US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</m:d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r>
                            <a:rPr lang="en-US" dirty="0"/>
                            <a:t> 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106206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r>
                            <a:rPr lang="en-US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</m:d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r>
                            <a:rPr lang="en-US" dirty="0"/>
                            <a:t> 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138605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𝐷</m:t>
                                    </m:r>
                                  </m:e>
                                </m:d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r>
                            <a:rPr lang="en-US" dirty="0"/>
                            <a:t> 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6757983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Content Placeholder 6">
                <a:extLst>
                  <a:ext uri="{FF2B5EF4-FFF2-40B4-BE49-F238E27FC236}">
                    <a16:creationId xmlns:a16="http://schemas.microsoft.com/office/drawing/2014/main" id="{68A72CBC-93B8-E649-C6D3-4F05D12956CA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683759057"/>
                  </p:ext>
                </p:extLst>
              </p:nvPr>
            </p:nvGraphicFramePr>
            <p:xfrm>
              <a:off x="1096962" y="1539875"/>
              <a:ext cx="6809316" cy="29667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02565">
                      <a:extLst>
                        <a:ext uri="{9D8B030D-6E8A-4147-A177-3AD203B41FA5}">
                          <a16:colId xmlns:a16="http://schemas.microsoft.com/office/drawing/2014/main" val="114699745"/>
                        </a:ext>
                      </a:extLst>
                    </a:gridCol>
                    <a:gridCol w="995231">
                      <a:extLst>
                        <a:ext uri="{9D8B030D-6E8A-4147-A177-3AD203B41FA5}">
                          <a16:colId xmlns:a16="http://schemas.microsoft.com/office/drawing/2014/main" val="3747743004"/>
                        </a:ext>
                      </a:extLst>
                    </a:gridCol>
                    <a:gridCol w="939660">
                      <a:extLst>
                        <a:ext uri="{9D8B030D-6E8A-4147-A177-3AD203B41FA5}">
                          <a16:colId xmlns:a16="http://schemas.microsoft.com/office/drawing/2014/main" val="792492998"/>
                        </a:ext>
                      </a:extLst>
                    </a:gridCol>
                    <a:gridCol w="1055854">
                      <a:extLst>
                        <a:ext uri="{9D8B030D-6E8A-4147-A177-3AD203B41FA5}">
                          <a16:colId xmlns:a16="http://schemas.microsoft.com/office/drawing/2014/main" val="25905041"/>
                        </a:ext>
                      </a:extLst>
                    </a:gridCol>
                    <a:gridCol w="1207412">
                      <a:extLst>
                        <a:ext uri="{9D8B030D-6E8A-4147-A177-3AD203B41FA5}">
                          <a16:colId xmlns:a16="http://schemas.microsoft.com/office/drawing/2014/main" val="2114528342"/>
                        </a:ext>
                      </a:extLst>
                    </a:gridCol>
                    <a:gridCol w="1808594">
                      <a:extLst>
                        <a:ext uri="{9D8B030D-6E8A-4147-A177-3AD203B41FA5}">
                          <a16:colId xmlns:a16="http://schemas.microsoft.com/office/drawing/2014/main" val="35965671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Cycle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81595" t="-8197" r="-507975" b="-7114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92208" t="-8197" r="-437662" b="-7114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z1_s1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z2_s2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y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3268679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?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?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?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?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5652067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?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?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?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229046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58621" t="-308197" r="-287356" b="-4114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?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?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046518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58621" t="-408197" r="-287356" b="-3114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15152" t="-408197" r="-152525" b="-3114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6768" t="-408197" r="-1684" b="-31147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859789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58621" t="-508197" r="-287356" b="-2114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15152" t="-508197" r="-152525" b="-2114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6768" t="-508197" r="-1684" b="-21147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106206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58621" t="-608197" r="-287356" b="-1114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15152" t="-608197" r="-152525" b="-1114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6768" t="-608197" r="-1684" b="-11147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2138605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15152" t="-708197" r="-152525" b="-114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6768" t="-708197" r="-1684" b="-1147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67579837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73A39B-FBCC-2605-4CFE-21E2CEDC9E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15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1A0C46A-53E1-8B8B-8611-F525CA8A54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2506" y="5072913"/>
            <a:ext cx="6096313" cy="80014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6FBADE1-1773-176D-F7AA-09DB149BC2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8579" y="1893132"/>
            <a:ext cx="3148867" cy="17954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17432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285DB8-033F-093D-FA97-3FFC29F2CB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Timing Terminology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4A8A806-AB02-1E04-C943-4BCAD312831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>
                    <a:solidFill>
                      <a:schemeClr val="accent1"/>
                    </a:solidFill>
                  </a:rPr>
                  <a:t>Initiation Interval </a:t>
                </a:r>
                <a:r>
                  <a:rPr lang="en-US" dirty="0"/>
                  <a:t>(II)</a:t>
                </a:r>
              </a:p>
              <a:p>
                <a:pPr lvl="1"/>
                <a:r>
                  <a:rPr lang="en-US" dirty="0"/>
                  <a:t>Minimum number cycles between the start of two inputs entering the pipeline</a:t>
                </a:r>
              </a:p>
              <a:p>
                <a:r>
                  <a:rPr lang="en-US" dirty="0">
                    <a:solidFill>
                      <a:schemeClr val="accent1"/>
                    </a:solidFill>
                  </a:rPr>
                  <a:t>Latency</a:t>
                </a:r>
                <a:r>
                  <a:rPr lang="en-US" dirty="0"/>
                  <a:t> 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dirty="0"/>
                  <a:t>)</a:t>
                </a:r>
              </a:p>
              <a:p>
                <a:pPr lvl="1"/>
                <a:r>
                  <a:rPr lang="en-US" dirty="0"/>
                  <a:t>Number of cycles between an input and when output is available</a:t>
                </a:r>
              </a:p>
              <a:p>
                <a:pPr lvl="1"/>
                <a:r>
                  <a:rPr lang="en-US" dirty="0"/>
                  <a:t>If input is available before end of cycle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dirty="0"/>
                  <a:t> output available before end of cycle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Equal to number of stages between registered inputs</a:t>
                </a:r>
                <a:endParaRPr lang="en-US" b="0" dirty="0"/>
              </a:p>
              <a:p>
                <a:r>
                  <a:rPr lang="en-US" dirty="0">
                    <a:solidFill>
                      <a:schemeClr val="accent1"/>
                    </a:solidFill>
                  </a:rPr>
                  <a:t>Number of samples </a:t>
                </a:r>
                <a:r>
                  <a:rPr lang="en-US" dirty="0"/>
                  <a:t>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)</a:t>
                </a:r>
              </a:p>
              <a:p>
                <a:pPr lvl="1"/>
                <a:r>
                  <a:rPr lang="en-US" dirty="0"/>
                  <a:t>Number of consecutive input samples </a:t>
                </a:r>
              </a:p>
              <a:p>
                <a:r>
                  <a:rPr lang="en-US" dirty="0">
                    <a:solidFill>
                      <a:schemeClr val="accent1"/>
                    </a:solidFill>
                  </a:rPr>
                  <a:t>Total processing time</a:t>
                </a:r>
                <a:r>
                  <a:rPr lang="en-US" dirty="0"/>
                  <a:t>: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𝐼𝐼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4A8A806-AB02-1E04-C943-4BCAD312831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55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D6443A-0431-DBDB-350B-F5ED36EE1C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601144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13089E-D46F-7B2A-D599-0CABEAD267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E9541-29EC-D93D-4D85-A90149C1CE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Timing Terminology Visualized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Content Placeholder 6">
                <a:extLst>
                  <a:ext uri="{FF2B5EF4-FFF2-40B4-BE49-F238E27FC236}">
                    <a16:creationId xmlns:a16="http://schemas.microsoft.com/office/drawing/2014/main" id="{396A9179-BAC8-E9E6-A2F8-83D326F0A78D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171199844"/>
                  </p:ext>
                </p:extLst>
              </p:nvPr>
            </p:nvGraphicFramePr>
            <p:xfrm>
              <a:off x="4794978" y="1514615"/>
              <a:ext cx="6809316" cy="29667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02565">
                      <a:extLst>
                        <a:ext uri="{9D8B030D-6E8A-4147-A177-3AD203B41FA5}">
                          <a16:colId xmlns:a16="http://schemas.microsoft.com/office/drawing/2014/main" val="114699745"/>
                        </a:ext>
                      </a:extLst>
                    </a:gridCol>
                    <a:gridCol w="995231">
                      <a:extLst>
                        <a:ext uri="{9D8B030D-6E8A-4147-A177-3AD203B41FA5}">
                          <a16:colId xmlns:a16="http://schemas.microsoft.com/office/drawing/2014/main" val="3747743004"/>
                        </a:ext>
                      </a:extLst>
                    </a:gridCol>
                    <a:gridCol w="939660">
                      <a:extLst>
                        <a:ext uri="{9D8B030D-6E8A-4147-A177-3AD203B41FA5}">
                          <a16:colId xmlns:a16="http://schemas.microsoft.com/office/drawing/2014/main" val="792492998"/>
                        </a:ext>
                      </a:extLst>
                    </a:gridCol>
                    <a:gridCol w="1055854">
                      <a:extLst>
                        <a:ext uri="{9D8B030D-6E8A-4147-A177-3AD203B41FA5}">
                          <a16:colId xmlns:a16="http://schemas.microsoft.com/office/drawing/2014/main" val="25905041"/>
                        </a:ext>
                      </a:extLst>
                    </a:gridCol>
                    <a:gridCol w="1207412">
                      <a:extLst>
                        <a:ext uri="{9D8B030D-6E8A-4147-A177-3AD203B41FA5}">
                          <a16:colId xmlns:a16="http://schemas.microsoft.com/office/drawing/2014/main" val="2114528342"/>
                        </a:ext>
                      </a:extLst>
                    </a:gridCol>
                    <a:gridCol w="1808594">
                      <a:extLst>
                        <a:ext uri="{9D8B030D-6E8A-4147-A177-3AD203B41FA5}">
                          <a16:colId xmlns:a16="http://schemas.microsoft.com/office/drawing/2014/main" val="35965671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Cycle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_</m:t>
                              </m:r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</m:oMath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z1_s1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z2_s2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y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3268679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?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?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?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?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5652067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?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?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?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229046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r>
                            <a:rPr lang="en-US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?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?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046518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r>
                            <a:rPr lang="en-US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d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r>
                            <a:rPr lang="en-US" dirty="0"/>
                            <a:t> 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859789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r>
                            <a:rPr lang="en-US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</m:d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r>
                            <a:rPr lang="en-US" dirty="0"/>
                            <a:t> 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106206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r>
                            <a:rPr lang="en-US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</m:d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r>
                            <a:rPr lang="en-US" dirty="0"/>
                            <a:t> 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138605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𝐷</m:t>
                                    </m:r>
                                  </m:e>
                                </m:d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r>
                            <a:rPr lang="en-US" dirty="0"/>
                            <a:t> 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6757983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Content Placeholder 6">
                <a:extLst>
                  <a:ext uri="{FF2B5EF4-FFF2-40B4-BE49-F238E27FC236}">
                    <a16:creationId xmlns:a16="http://schemas.microsoft.com/office/drawing/2014/main" id="{396A9179-BAC8-E9E6-A2F8-83D326F0A78D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171199844"/>
                  </p:ext>
                </p:extLst>
              </p:nvPr>
            </p:nvGraphicFramePr>
            <p:xfrm>
              <a:off x="4794978" y="1514615"/>
              <a:ext cx="6809316" cy="29667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02565">
                      <a:extLst>
                        <a:ext uri="{9D8B030D-6E8A-4147-A177-3AD203B41FA5}">
                          <a16:colId xmlns:a16="http://schemas.microsoft.com/office/drawing/2014/main" val="114699745"/>
                        </a:ext>
                      </a:extLst>
                    </a:gridCol>
                    <a:gridCol w="995231">
                      <a:extLst>
                        <a:ext uri="{9D8B030D-6E8A-4147-A177-3AD203B41FA5}">
                          <a16:colId xmlns:a16="http://schemas.microsoft.com/office/drawing/2014/main" val="3747743004"/>
                        </a:ext>
                      </a:extLst>
                    </a:gridCol>
                    <a:gridCol w="939660">
                      <a:extLst>
                        <a:ext uri="{9D8B030D-6E8A-4147-A177-3AD203B41FA5}">
                          <a16:colId xmlns:a16="http://schemas.microsoft.com/office/drawing/2014/main" val="792492998"/>
                        </a:ext>
                      </a:extLst>
                    </a:gridCol>
                    <a:gridCol w="1055854">
                      <a:extLst>
                        <a:ext uri="{9D8B030D-6E8A-4147-A177-3AD203B41FA5}">
                          <a16:colId xmlns:a16="http://schemas.microsoft.com/office/drawing/2014/main" val="25905041"/>
                        </a:ext>
                      </a:extLst>
                    </a:gridCol>
                    <a:gridCol w="1207412">
                      <a:extLst>
                        <a:ext uri="{9D8B030D-6E8A-4147-A177-3AD203B41FA5}">
                          <a16:colId xmlns:a16="http://schemas.microsoft.com/office/drawing/2014/main" val="2114528342"/>
                        </a:ext>
                      </a:extLst>
                    </a:gridCol>
                    <a:gridCol w="1808594">
                      <a:extLst>
                        <a:ext uri="{9D8B030D-6E8A-4147-A177-3AD203B41FA5}">
                          <a16:colId xmlns:a16="http://schemas.microsoft.com/office/drawing/2014/main" val="35965671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Cycle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81595" t="-8197" r="-507362" b="-7114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92208" t="-8197" r="-437013" b="-7114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z1_s1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z2_s2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y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3268679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?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?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?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?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5652067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?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?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?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229046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58621" t="-308197" r="-286782" b="-4114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?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?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046518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58621" t="-408197" r="-286782" b="-3114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15152" t="-408197" r="-152020" b="-3114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6768" t="-408197" r="-1347" b="-31147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859789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58621" t="-508197" r="-286782" b="-2114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15152" t="-508197" r="-152020" b="-2114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6768" t="-508197" r="-1347" b="-21147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106206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58621" t="-608197" r="-286782" b="-1114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15152" t="-608197" r="-152020" b="-1114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6768" t="-608197" r="-1347" b="-11147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2138605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15152" t="-708197" r="-152020" b="-114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6768" t="-708197" r="-1347" b="-1147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67579837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AFDC54-6F80-0F40-B76B-A5CEBE7D7E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17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E08D461-41CA-2783-BB79-18412B6437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2506" y="5072913"/>
            <a:ext cx="6096313" cy="800141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783F9A5-52B9-1C01-C929-7F543F443C6C}"/>
              </a:ext>
            </a:extLst>
          </p:cNvPr>
          <p:cNvCxnSpPr>
            <a:cxnSpLocks/>
          </p:cNvCxnSpPr>
          <p:nvPr/>
        </p:nvCxnSpPr>
        <p:spPr>
          <a:xfrm>
            <a:off x="2485552" y="1995514"/>
            <a:ext cx="2061189" cy="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800D2B8-9E88-5A85-53C7-ECA901B26A4A}"/>
              </a:ext>
            </a:extLst>
          </p:cNvPr>
          <p:cNvCxnSpPr>
            <a:cxnSpLocks/>
          </p:cNvCxnSpPr>
          <p:nvPr/>
        </p:nvCxnSpPr>
        <p:spPr>
          <a:xfrm>
            <a:off x="4023519" y="2435874"/>
            <a:ext cx="523222" cy="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69A1084-AC17-9642-DD5F-792B1968AAE5}"/>
              </a:ext>
            </a:extLst>
          </p:cNvPr>
          <p:cNvCxnSpPr/>
          <p:nvPr/>
        </p:nvCxnSpPr>
        <p:spPr>
          <a:xfrm>
            <a:off x="4334559" y="1995514"/>
            <a:ext cx="0" cy="444570"/>
          </a:xfrm>
          <a:prstGeom prst="straightConnector1">
            <a:avLst/>
          </a:prstGeom>
          <a:ln w="22225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670C36A-919B-D87F-7D09-BDD81A5C9D67}"/>
                  </a:ext>
                </a:extLst>
              </p:cNvPr>
              <p:cNvSpPr txBox="1"/>
              <p:nvPr/>
            </p:nvSpPr>
            <p:spPr>
              <a:xfrm>
                <a:off x="3431798" y="2070753"/>
                <a:ext cx="108111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𝐼𝐼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670C36A-919B-D87F-7D09-BDD81A5C9D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798" y="2070753"/>
                <a:ext cx="1081113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E3C4774-D6E9-8600-50C5-F0CEFBB4DC07}"/>
              </a:ext>
            </a:extLst>
          </p:cNvPr>
          <p:cNvCxnSpPr>
            <a:cxnSpLocks/>
          </p:cNvCxnSpPr>
          <p:nvPr/>
        </p:nvCxnSpPr>
        <p:spPr>
          <a:xfrm>
            <a:off x="2419877" y="3245026"/>
            <a:ext cx="2126864" cy="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CFBA2D1-4077-7F5A-EC79-517C05777749}"/>
              </a:ext>
            </a:extLst>
          </p:cNvPr>
          <p:cNvCxnSpPr>
            <a:cxnSpLocks/>
          </p:cNvCxnSpPr>
          <p:nvPr/>
        </p:nvCxnSpPr>
        <p:spPr>
          <a:xfrm>
            <a:off x="2971379" y="1991304"/>
            <a:ext cx="0" cy="1211622"/>
          </a:xfrm>
          <a:prstGeom prst="straightConnector1">
            <a:avLst/>
          </a:prstGeom>
          <a:ln w="22225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10D53E2-6562-B8C9-A4D1-7CCEFD6E5B5F}"/>
                  </a:ext>
                </a:extLst>
              </p:cNvPr>
              <p:cNvSpPr txBox="1"/>
              <p:nvPr/>
            </p:nvSpPr>
            <p:spPr>
              <a:xfrm>
                <a:off x="2028203" y="2490495"/>
                <a:ext cx="108111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10D53E2-6562-B8C9-A4D1-7CCEFD6E5B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28203" y="2490495"/>
                <a:ext cx="1081113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54874515-A291-6188-51FA-0A637EFCA7A6}"/>
              </a:ext>
            </a:extLst>
          </p:cNvPr>
          <p:cNvSpPr txBox="1">
            <a:spLocks/>
          </p:cNvSpPr>
          <p:nvPr/>
        </p:nvSpPr>
        <p:spPr>
          <a:xfrm>
            <a:off x="747686" y="4605474"/>
            <a:ext cx="4820555" cy="700732"/>
          </a:xfrm>
          <a:prstGeom prst="rect">
            <a:avLst/>
          </a:prstGeom>
        </p:spPr>
        <p:txBody>
          <a:bodyPr vert="horz" lIns="0" tIns="45720" rIns="0" bIns="45720" rtlCol="0">
            <a:normAutofit fontScale="92500" lnSpcReduction="20000"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Wingdings" panose="05000000000000000000" pitchFamily="2" charset="2"/>
              <a:buChar char="q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Insert registers on each stage</a:t>
            </a:r>
          </a:p>
          <a:p>
            <a:r>
              <a:rPr lang="en-US"/>
              <a:t>Use suffixes s0, s1, s2 to indicate stage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330216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FE31A-6E5C-1CE4-72BD-0F23F1DBFB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Pipelining with Multiple Paths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65E0A8-2A7D-C3B0-C848-7D7CEF52F0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Now consider a more complex example with multiple paths</a:t>
            </a:r>
          </a:p>
          <a:p>
            <a:r>
              <a:rPr lang="en-US" sz="2400" dirty="0"/>
              <a:t>How do we pipeline this?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731608-A4E5-224F-A0A6-9D04444D5D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18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4C5A494-64E0-59E3-CB9C-75EABB1A10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9225" y="2220156"/>
            <a:ext cx="3802060" cy="280402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6FAFEE2-C5E9-7028-364F-E236092DAA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320" y="2748419"/>
            <a:ext cx="6090507" cy="23576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325502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842D1C-AF3F-168F-88CE-2CD3375034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56D13A-4056-1F84-77B5-699D49BFF0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Multi-Path Pipelining: Identify Stages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62B687-838F-33E7-7F8E-703FBEF440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17567" y="1539277"/>
            <a:ext cx="4937239" cy="4329817"/>
          </a:xfrm>
        </p:spPr>
        <p:txBody>
          <a:bodyPr>
            <a:normAutofit/>
          </a:bodyPr>
          <a:lstStyle/>
          <a:p>
            <a:r>
              <a:rPr lang="en-US" sz="2400" dirty="0"/>
              <a:t>First, we draw the stages</a:t>
            </a:r>
          </a:p>
          <a:p>
            <a:pPr lvl="1"/>
            <a:r>
              <a:rPr lang="en-US" sz="2200" dirty="0"/>
              <a:t>Shown in the vertical lines</a:t>
            </a:r>
          </a:p>
          <a:p>
            <a:r>
              <a:rPr lang="en-US" sz="2400" dirty="0"/>
              <a:t>Stage 0:  Inputs to registers</a:t>
            </a:r>
          </a:p>
          <a:p>
            <a:pPr lvl="1"/>
            <a:r>
              <a:rPr lang="en-US" sz="2200" dirty="0"/>
              <a:t>This stage will exist in non-pipeline code</a:t>
            </a:r>
          </a:p>
          <a:p>
            <a:r>
              <a:rPr lang="en-US" sz="2400" dirty="0"/>
              <a:t>Stage 1, 2, …</a:t>
            </a:r>
          </a:p>
          <a:p>
            <a:pPr lvl="1"/>
            <a:r>
              <a:rPr lang="en-US" sz="2200" dirty="0"/>
              <a:t>Will end where we will put registers</a:t>
            </a:r>
          </a:p>
          <a:p>
            <a:pPr lvl="1"/>
            <a:r>
              <a:rPr lang="en-US" sz="2200" dirty="0"/>
              <a:t>Ensure that each stage can be computed in sufficient time</a:t>
            </a:r>
          </a:p>
          <a:p>
            <a:r>
              <a:rPr lang="en-US" sz="2400" dirty="0"/>
              <a:t>Output stage is combinational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3AEA9A-ABD6-81FB-8C1B-1EBA14E3FD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19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389CA2C-8D0F-1EF6-65D6-DCCEA9C285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699" y="2612017"/>
            <a:ext cx="6090507" cy="2357615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1999941-54C8-4D25-5D1A-E308751A67F4}"/>
              </a:ext>
            </a:extLst>
          </p:cNvPr>
          <p:cNvCxnSpPr/>
          <p:nvPr/>
        </p:nvCxnSpPr>
        <p:spPr>
          <a:xfrm>
            <a:off x="1846736" y="2612017"/>
            <a:ext cx="0" cy="29542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CE5EF08-2288-9AFB-34D6-8884487148CF}"/>
              </a:ext>
            </a:extLst>
          </p:cNvPr>
          <p:cNvCxnSpPr/>
          <p:nvPr/>
        </p:nvCxnSpPr>
        <p:spPr>
          <a:xfrm>
            <a:off x="3469249" y="2581956"/>
            <a:ext cx="0" cy="29542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B58E124-9B1D-E54E-816C-A6B89BFACCE1}"/>
              </a:ext>
            </a:extLst>
          </p:cNvPr>
          <p:cNvCxnSpPr/>
          <p:nvPr/>
        </p:nvCxnSpPr>
        <p:spPr>
          <a:xfrm>
            <a:off x="4601724" y="2551894"/>
            <a:ext cx="0" cy="29542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310C96D-E4BF-8EC7-C992-06094F0F09D3}"/>
              </a:ext>
            </a:extLst>
          </p:cNvPr>
          <p:cNvSpPr txBox="1"/>
          <p:nvPr/>
        </p:nvSpPr>
        <p:spPr>
          <a:xfrm>
            <a:off x="2276099" y="2397290"/>
            <a:ext cx="8676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Stage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C0C4933-972C-7447-EC01-30D7AE5421E5}"/>
              </a:ext>
            </a:extLst>
          </p:cNvPr>
          <p:cNvSpPr txBox="1"/>
          <p:nvPr/>
        </p:nvSpPr>
        <p:spPr>
          <a:xfrm>
            <a:off x="820773" y="2427351"/>
            <a:ext cx="8676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Stage 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8C7FFE6-E214-3A3C-B6E8-C27D0969AB2D}"/>
              </a:ext>
            </a:extLst>
          </p:cNvPr>
          <p:cNvSpPr txBox="1"/>
          <p:nvPr/>
        </p:nvSpPr>
        <p:spPr>
          <a:xfrm>
            <a:off x="3678348" y="2397290"/>
            <a:ext cx="8676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Stage 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B38625B-1A03-9AE8-021A-F8CF3B426227}"/>
              </a:ext>
            </a:extLst>
          </p:cNvPr>
          <p:cNvSpPr txBox="1"/>
          <p:nvPr/>
        </p:nvSpPr>
        <p:spPr>
          <a:xfrm>
            <a:off x="4783716" y="2367228"/>
            <a:ext cx="15563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Combinational</a:t>
            </a:r>
          </a:p>
        </p:txBody>
      </p:sp>
    </p:spTree>
    <p:extLst>
      <p:ext uri="{BB962C8B-B14F-4D97-AF65-F5344CB8AC3E}">
        <p14:creationId xmlns:p14="http://schemas.microsoft.com/office/powerpoint/2010/main" val="287771811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372CA0-54DF-B178-4166-6226EAABC0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3D77F6-46D4-8104-F160-D8AAD6FE7B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Multi-Path Pipelining: Register Locations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68058-D871-8364-4301-EECB80D2E4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17567" y="1539277"/>
            <a:ext cx="4937239" cy="4329817"/>
          </a:xfrm>
        </p:spPr>
        <p:txBody>
          <a:bodyPr>
            <a:normAutofit/>
          </a:bodyPr>
          <a:lstStyle/>
          <a:p>
            <a:r>
              <a:rPr lang="en-US" sz="2400" dirty="0"/>
              <a:t>Place registers at stage crossing</a:t>
            </a:r>
          </a:p>
          <a:p>
            <a:r>
              <a:rPr lang="en-US" sz="2400" dirty="0"/>
              <a:t>Shown in blue circles</a:t>
            </a:r>
          </a:p>
          <a:p>
            <a:r>
              <a:rPr lang="en-US" sz="2400" dirty="0"/>
              <a:t>Note:  Need register even when</a:t>
            </a:r>
            <a:endParaRPr lang="en-US" sz="2200" dirty="0"/>
          </a:p>
          <a:p>
            <a:pPr lvl="1"/>
            <a:r>
              <a:rPr lang="en-US" sz="2200"/>
              <a:t>Signal </a:t>
            </a:r>
            <a:r>
              <a:rPr lang="en-US" sz="2200" dirty="0"/>
              <a:t>is just a pass through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2AE59C-8A12-5714-A846-F4368DFBC4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20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1C1CFFA-83D8-D860-56F7-E6141B5698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699" y="2612017"/>
            <a:ext cx="6090507" cy="2357615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B179C77-0284-308B-03F0-AD1717FFEDBD}"/>
              </a:ext>
            </a:extLst>
          </p:cNvPr>
          <p:cNvCxnSpPr/>
          <p:nvPr/>
        </p:nvCxnSpPr>
        <p:spPr>
          <a:xfrm>
            <a:off x="1846736" y="2612017"/>
            <a:ext cx="0" cy="29542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0F3A73A-2712-D2D3-E258-00F3EEA11593}"/>
              </a:ext>
            </a:extLst>
          </p:cNvPr>
          <p:cNvCxnSpPr/>
          <p:nvPr/>
        </p:nvCxnSpPr>
        <p:spPr>
          <a:xfrm>
            <a:off x="3469249" y="2581956"/>
            <a:ext cx="0" cy="29542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13C099D-0709-082D-2CF7-5772926333A4}"/>
              </a:ext>
            </a:extLst>
          </p:cNvPr>
          <p:cNvCxnSpPr/>
          <p:nvPr/>
        </p:nvCxnSpPr>
        <p:spPr>
          <a:xfrm>
            <a:off x="4601724" y="2551894"/>
            <a:ext cx="0" cy="29542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CAEE14C9-860A-0C2A-8A2B-E3E725C6F3FB}"/>
              </a:ext>
            </a:extLst>
          </p:cNvPr>
          <p:cNvSpPr txBox="1"/>
          <p:nvPr/>
        </p:nvSpPr>
        <p:spPr>
          <a:xfrm>
            <a:off x="2276099" y="2397289"/>
            <a:ext cx="8676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Stage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B54CE0B-ABF4-4090-0F11-D40A481D1827}"/>
              </a:ext>
            </a:extLst>
          </p:cNvPr>
          <p:cNvSpPr txBox="1"/>
          <p:nvPr/>
        </p:nvSpPr>
        <p:spPr>
          <a:xfrm>
            <a:off x="820773" y="2397289"/>
            <a:ext cx="8676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Stage 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838BBC2-7CB5-1A62-7B0A-5F159102FB4F}"/>
              </a:ext>
            </a:extLst>
          </p:cNvPr>
          <p:cNvSpPr txBox="1"/>
          <p:nvPr/>
        </p:nvSpPr>
        <p:spPr>
          <a:xfrm>
            <a:off x="3598203" y="2397289"/>
            <a:ext cx="8676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Stage 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4BD62C1-3C36-AADB-C485-45D987DAE72A}"/>
              </a:ext>
            </a:extLst>
          </p:cNvPr>
          <p:cNvSpPr txBox="1"/>
          <p:nvPr/>
        </p:nvSpPr>
        <p:spPr>
          <a:xfrm>
            <a:off x="4783716" y="2397289"/>
            <a:ext cx="15563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Combinational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B083C70C-E7DD-F48E-2939-6A8C89AE71C9}"/>
              </a:ext>
            </a:extLst>
          </p:cNvPr>
          <p:cNvSpPr/>
          <p:nvPr/>
        </p:nvSpPr>
        <p:spPr>
          <a:xfrm>
            <a:off x="3263549" y="2736560"/>
            <a:ext cx="359024" cy="369332"/>
          </a:xfrm>
          <a:prstGeom prst="ellipse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140A67BD-BF5B-F4D3-6AF6-C0791A04C6A4}"/>
              </a:ext>
            </a:extLst>
          </p:cNvPr>
          <p:cNvSpPr/>
          <p:nvPr/>
        </p:nvSpPr>
        <p:spPr>
          <a:xfrm>
            <a:off x="3263549" y="3382777"/>
            <a:ext cx="359024" cy="369332"/>
          </a:xfrm>
          <a:prstGeom prst="ellipse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892A19A9-82D4-437F-DD5F-0FCE9D1C2F27}"/>
              </a:ext>
            </a:extLst>
          </p:cNvPr>
          <p:cNvSpPr/>
          <p:nvPr/>
        </p:nvSpPr>
        <p:spPr>
          <a:xfrm>
            <a:off x="3296335" y="4316227"/>
            <a:ext cx="359024" cy="369332"/>
          </a:xfrm>
          <a:prstGeom prst="ellipse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47411E40-337E-6F70-D72E-72D09789D705}"/>
              </a:ext>
            </a:extLst>
          </p:cNvPr>
          <p:cNvSpPr/>
          <p:nvPr/>
        </p:nvSpPr>
        <p:spPr>
          <a:xfrm>
            <a:off x="4392102" y="4316227"/>
            <a:ext cx="359024" cy="369332"/>
          </a:xfrm>
          <a:prstGeom prst="ellipse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DED2ABF5-5DA9-B156-D6BA-36ECB84FDF5A}"/>
              </a:ext>
            </a:extLst>
          </p:cNvPr>
          <p:cNvSpPr/>
          <p:nvPr/>
        </p:nvSpPr>
        <p:spPr>
          <a:xfrm>
            <a:off x="4424692" y="3356758"/>
            <a:ext cx="359024" cy="369332"/>
          </a:xfrm>
          <a:prstGeom prst="ellipse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0C7F6F38-C671-A369-AA4B-A47C8485A0AB}"/>
              </a:ext>
            </a:extLst>
          </p:cNvPr>
          <p:cNvSpPr/>
          <p:nvPr/>
        </p:nvSpPr>
        <p:spPr>
          <a:xfrm>
            <a:off x="6570120" y="4387665"/>
            <a:ext cx="359024" cy="369332"/>
          </a:xfrm>
          <a:prstGeom prst="ellipse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B69F851-B5B0-BFE2-4239-D2E2DBAF2204}"/>
              </a:ext>
            </a:extLst>
          </p:cNvPr>
          <p:cNvSpPr txBox="1"/>
          <p:nvPr/>
        </p:nvSpPr>
        <p:spPr>
          <a:xfrm>
            <a:off x="6992998" y="4387665"/>
            <a:ext cx="202311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Register locations</a:t>
            </a:r>
          </a:p>
        </p:txBody>
      </p:sp>
    </p:spTree>
    <p:extLst>
      <p:ext uri="{BB962C8B-B14F-4D97-AF65-F5344CB8AC3E}">
        <p14:creationId xmlns:p14="http://schemas.microsoft.com/office/powerpoint/2010/main" val="257675076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D06C18-B2B2-1EBD-5852-026043455A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Final Pipelined Diagram and Code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5B800C-5EE2-DD10-6DD2-D9E692A7D3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21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83756FA-0309-5656-9507-7CA94D3A29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9501" y="2140391"/>
            <a:ext cx="3856400" cy="311794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B2695FD-EB5D-51E3-3922-AA0D005847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93" y="2326580"/>
            <a:ext cx="7490608" cy="2578734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50DC4126-E1C2-D7ED-2885-638C9518D6EE}"/>
              </a:ext>
            </a:extLst>
          </p:cNvPr>
          <p:cNvSpPr txBox="1"/>
          <p:nvPr/>
        </p:nvSpPr>
        <p:spPr>
          <a:xfrm>
            <a:off x="2154194" y="5345027"/>
            <a:ext cx="8676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Stage 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FA54FFA-E2FF-BEC8-C00A-F401BA9A4575}"/>
              </a:ext>
            </a:extLst>
          </p:cNvPr>
          <p:cNvSpPr txBox="1"/>
          <p:nvPr/>
        </p:nvSpPr>
        <p:spPr>
          <a:xfrm>
            <a:off x="405857" y="5386874"/>
            <a:ext cx="8676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Stage 0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DA13A5A-764E-C4F1-DE20-3593552CED97}"/>
              </a:ext>
            </a:extLst>
          </p:cNvPr>
          <p:cNvSpPr txBox="1"/>
          <p:nvPr/>
        </p:nvSpPr>
        <p:spPr>
          <a:xfrm>
            <a:off x="4238454" y="5350079"/>
            <a:ext cx="8676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Stage 2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8AC77325-866E-07CB-2DC4-9FFE284E4AF3}"/>
              </a:ext>
            </a:extLst>
          </p:cNvPr>
          <p:cNvCxnSpPr/>
          <p:nvPr/>
        </p:nvCxnSpPr>
        <p:spPr>
          <a:xfrm>
            <a:off x="3680294" y="2373893"/>
            <a:ext cx="0" cy="2954215"/>
          </a:xfrm>
          <a:prstGeom prst="line">
            <a:avLst/>
          </a:prstGeom>
          <a:ln w="19050">
            <a:solidFill>
              <a:srgbClr val="0070C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20249469-8907-5550-C094-3D1207AED6BA}"/>
              </a:ext>
            </a:extLst>
          </p:cNvPr>
          <p:cNvCxnSpPr/>
          <p:nvPr/>
        </p:nvCxnSpPr>
        <p:spPr>
          <a:xfrm>
            <a:off x="1534064" y="2373893"/>
            <a:ext cx="0" cy="2954215"/>
          </a:xfrm>
          <a:prstGeom prst="line">
            <a:avLst/>
          </a:prstGeom>
          <a:ln w="19050">
            <a:solidFill>
              <a:srgbClr val="0070C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407F53D-8508-D1CA-6643-30CE9DE8AB69}"/>
              </a:ext>
            </a:extLst>
          </p:cNvPr>
          <p:cNvCxnSpPr/>
          <p:nvPr/>
        </p:nvCxnSpPr>
        <p:spPr>
          <a:xfrm>
            <a:off x="5823998" y="2326580"/>
            <a:ext cx="0" cy="2954215"/>
          </a:xfrm>
          <a:prstGeom prst="line">
            <a:avLst/>
          </a:prstGeom>
          <a:ln w="19050">
            <a:solidFill>
              <a:srgbClr val="0070C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065501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20626F-5E40-2741-553D-6AE4E3EFF1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Accesses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02B6C3-8117-6642-392D-14C16DE733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Memory reads and writes:</a:t>
            </a:r>
          </a:p>
          <a:p>
            <a:pPr lvl="1"/>
            <a:r>
              <a:rPr lang="en-US" dirty="0"/>
              <a:t>Generally take at least on cycle delay</a:t>
            </a:r>
          </a:p>
          <a:p>
            <a:pPr lvl="1"/>
            <a:r>
              <a:rPr lang="en-US" dirty="0"/>
              <a:t>Hardware provides an address</a:t>
            </a:r>
          </a:p>
          <a:p>
            <a:pPr lvl="1"/>
            <a:r>
              <a:rPr lang="en-US" dirty="0"/>
              <a:t>Memory location fetched with an address decoder</a:t>
            </a:r>
          </a:p>
          <a:p>
            <a:r>
              <a:rPr lang="en-US" dirty="0"/>
              <a:t>Pipelining must account for this delay</a:t>
            </a:r>
          </a:p>
          <a:p>
            <a:r>
              <a:rPr lang="en-US" dirty="0"/>
              <a:t>Example to the right:</a:t>
            </a:r>
          </a:p>
          <a:p>
            <a:pPr lvl="1"/>
            <a:r>
              <a:rPr lang="en-US" dirty="0"/>
              <a:t>Takes elementwise product</a:t>
            </a:r>
          </a:p>
          <a:p>
            <a:pPr lvl="1"/>
            <a:r>
              <a:rPr lang="en-US" dirty="0"/>
              <a:t>Load, product, and store are on separate cycles</a:t>
            </a:r>
          </a:p>
          <a:p>
            <a:r>
              <a:rPr lang="en-US" dirty="0"/>
              <a:t>Note the pipeline flush</a:t>
            </a:r>
          </a:p>
          <a:p>
            <a:pPr lvl="1"/>
            <a:r>
              <a:rPr lang="en-US" dirty="0"/>
              <a:t>Tail of the pipeline for stages 1, 	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A18D3A-51FE-0AB6-9D66-65CDF92C6B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22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9F01D69-B6F7-09E5-C21E-90ECAA3C10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6196" y="441739"/>
            <a:ext cx="5024808" cy="6129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560543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C773DB-FC68-9DC5-17B3-8D921AF56A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4321B6-40A2-539F-E1DE-F747FC134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49E866-69C6-E9F1-3298-649BAEE5AB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Pipelining in </a:t>
            </a:r>
            <a:r>
              <a:rPr lang="en-US" sz="2400" dirty="0" err="1"/>
              <a:t>SystemVerilog</a:t>
            </a:r>
            <a:endParaRPr lang="en-US" sz="2400" dirty="0"/>
          </a:p>
          <a:p>
            <a:r>
              <a:rPr lang="en-US" sz="2400" dirty="0"/>
              <a:t>Loop Pipelining in Vitis HLS </a:t>
            </a:r>
          </a:p>
          <a:p>
            <a:r>
              <a:rPr lang="en-US" sz="2400" dirty="0"/>
              <a:t>Loop Unrolling and Memory Constraints </a:t>
            </a:r>
          </a:p>
          <a:p>
            <a:pPr marL="0" indent="0">
              <a:buNone/>
            </a:pP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079534-5143-CB62-2708-F6E01E1A41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23</a:t>
            </a:fld>
            <a:endParaRPr lang="en-US" dirty="0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FD47FE3B-F00F-7CB2-8AF5-A57A21956C37}"/>
              </a:ext>
            </a:extLst>
          </p:cNvPr>
          <p:cNvSpPr/>
          <p:nvPr/>
        </p:nvSpPr>
        <p:spPr>
          <a:xfrm>
            <a:off x="398614" y="1993951"/>
            <a:ext cx="938784" cy="484632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739111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4A8AC-3F04-F413-8E6C-F39428C49B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Use Vitis HLS?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E24329-415A-0FC7-71C0-3D713ABFB6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86789" y="2870686"/>
            <a:ext cx="4820889" cy="3050145"/>
          </a:xfrm>
        </p:spPr>
        <p:txBody>
          <a:bodyPr/>
          <a:lstStyle/>
          <a:p>
            <a:r>
              <a:rPr lang="en-US" dirty="0"/>
              <a:t> Manual pipelining in System Verilog:</a:t>
            </a:r>
          </a:p>
          <a:p>
            <a:pPr lvl="1"/>
            <a:r>
              <a:rPr lang="en-US" dirty="0"/>
              <a:t>Tedious</a:t>
            </a:r>
          </a:p>
          <a:p>
            <a:pPr lvl="1"/>
            <a:r>
              <a:rPr lang="en-US" dirty="0"/>
              <a:t>Prone to mistakes</a:t>
            </a:r>
          </a:p>
          <a:p>
            <a:pPr lvl="1"/>
            <a:r>
              <a:rPr lang="en-US" dirty="0"/>
              <a:t>Hard to optimize schedule</a:t>
            </a:r>
          </a:p>
          <a:p>
            <a:pPr lvl="1"/>
            <a:r>
              <a:rPr lang="en-US" dirty="0"/>
              <a:t>Need to re-optimize on each technology</a:t>
            </a:r>
          </a:p>
          <a:p>
            <a:r>
              <a:rPr lang="en-US" dirty="0"/>
              <a:t>Vitis HLS C++</a:t>
            </a:r>
          </a:p>
          <a:p>
            <a:pPr lvl="1"/>
            <a:r>
              <a:rPr lang="en-US" dirty="0"/>
              <a:t>Fully automated pipelining </a:t>
            </a:r>
          </a:p>
          <a:p>
            <a:pPr lvl="1"/>
            <a:r>
              <a:rPr lang="en-US" dirty="0"/>
              <a:t>High-level description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4A96F6-C145-CB38-0099-FE41B2F5D8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24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CF396FF-81F1-9B3D-AB94-D85337E443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7917" y="1471361"/>
            <a:ext cx="3865151" cy="133560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1BCD681-70F9-A1BF-1BB0-64F55D7225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849" y="1536408"/>
            <a:ext cx="3843406" cy="46884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678339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8F8EBB-7B2C-FDA7-093C-B2DF25998E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Polynomial Loop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D308EC-D52E-1140-7709-ACA9BA4279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Loop over cubic polynomial</a:t>
            </a:r>
          </a:p>
          <a:p>
            <a:r>
              <a:rPr lang="en-US" dirty="0"/>
              <a:t>Implemented with </a:t>
            </a:r>
            <a:r>
              <a:rPr lang="en-US" dirty="0" err="1"/>
              <a:t>Horners</a:t>
            </a:r>
            <a:r>
              <a:rPr lang="en-US" dirty="0"/>
              <a:t> method</a:t>
            </a:r>
          </a:p>
          <a:p>
            <a:pPr lvl="1"/>
            <a:r>
              <a:rPr lang="en-US" dirty="0"/>
              <a:t>Bottom right</a:t>
            </a:r>
          </a:p>
          <a:p>
            <a:r>
              <a:rPr lang="en-US" dirty="0"/>
              <a:t>Each iteration involves</a:t>
            </a:r>
          </a:p>
          <a:p>
            <a:pPr lvl="1"/>
            <a:r>
              <a:rPr lang="en-US" dirty="0"/>
              <a:t>One load from the array</a:t>
            </a:r>
          </a:p>
          <a:p>
            <a:pPr lvl="1"/>
            <a:r>
              <a:rPr lang="en-US" dirty="0"/>
              <a:t>Three multiplications</a:t>
            </a:r>
          </a:p>
          <a:p>
            <a:pPr lvl="1"/>
            <a:r>
              <a:rPr lang="en-US" dirty="0"/>
              <a:t>Three adds</a:t>
            </a:r>
          </a:p>
          <a:p>
            <a:pPr lvl="1"/>
            <a:r>
              <a:rPr lang="en-US" dirty="0"/>
              <a:t>One store</a:t>
            </a:r>
          </a:p>
          <a:p>
            <a:r>
              <a:rPr lang="en-US" dirty="0"/>
              <a:t>We will implement in floating point FP32</a:t>
            </a:r>
          </a:p>
          <a:p>
            <a:pPr lvl="1"/>
            <a:r>
              <a:rPr lang="en-US" dirty="0"/>
              <a:t>These are themselves pipelined </a:t>
            </a:r>
          </a:p>
          <a:p>
            <a:r>
              <a:rPr lang="en-US" dirty="0"/>
              <a:t>Would be hard to implement manually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8280DD-BB89-6C9E-2442-0E9245A1C4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25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84FCF60-A21C-16CF-0608-6F293CCB1E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8931" y="3168883"/>
            <a:ext cx="3786220" cy="273772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F275803-6C78-1EF7-C9C5-F6F574DC1D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2003" y="1663512"/>
            <a:ext cx="6601841" cy="1381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58628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6E52BD-EA63-E693-8B79-8DD8A6A339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Message Passing Protocol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9CB893-9B36-459A-F2D9-795711FAA4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98465" y="1539277"/>
            <a:ext cx="4163475" cy="4329817"/>
          </a:xfrm>
        </p:spPr>
        <p:txBody>
          <a:bodyPr/>
          <a:lstStyle/>
          <a:p>
            <a:r>
              <a:rPr lang="en-US" dirty="0"/>
              <a:t>Similar protocol to previous unit</a:t>
            </a:r>
          </a:p>
          <a:p>
            <a:r>
              <a:rPr lang="en-US" dirty="0"/>
              <a:t>Processing in blocks</a:t>
            </a:r>
          </a:p>
          <a:p>
            <a:r>
              <a:rPr lang="en-US" dirty="0"/>
              <a:t>Coefficients sent in a header</a:t>
            </a:r>
          </a:p>
          <a:p>
            <a:r>
              <a:rPr lang="en-US" dirty="0"/>
              <a:t>Followed by data</a:t>
            </a:r>
          </a:p>
          <a:p>
            <a:r>
              <a:rPr lang="en-US" dirty="0"/>
              <a:t>Transaction ID </a:t>
            </a:r>
          </a:p>
          <a:p>
            <a:pPr lvl="1"/>
            <a:r>
              <a:rPr lang="en-US" dirty="0"/>
              <a:t>Used to ensure synchronization</a:t>
            </a:r>
          </a:p>
          <a:p>
            <a:pPr lvl="1"/>
            <a:r>
              <a:rPr lang="en-US" dirty="0"/>
              <a:t>Robust to dropped packets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3F07A5-E41A-31DA-9730-291FE6547B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26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8D7F0C7-1A79-447E-51B2-8B7455C9AA8C}"/>
              </a:ext>
            </a:extLst>
          </p:cNvPr>
          <p:cNvSpPr/>
          <p:nvPr/>
        </p:nvSpPr>
        <p:spPr>
          <a:xfrm>
            <a:off x="1895106" y="2172617"/>
            <a:ext cx="191659" cy="364973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D417DF2-C02F-AE66-1477-4C65263A76E8}"/>
              </a:ext>
            </a:extLst>
          </p:cNvPr>
          <p:cNvSpPr/>
          <p:nvPr/>
        </p:nvSpPr>
        <p:spPr>
          <a:xfrm>
            <a:off x="5395544" y="2205955"/>
            <a:ext cx="110697" cy="3663139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B223299-1193-AA44-0914-7A844D968FDC}"/>
              </a:ext>
            </a:extLst>
          </p:cNvPr>
          <p:cNvSpPr txBox="1"/>
          <p:nvPr/>
        </p:nvSpPr>
        <p:spPr>
          <a:xfrm>
            <a:off x="469017" y="3306506"/>
            <a:ext cx="113460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Testbench</a:t>
            </a:r>
            <a:br>
              <a:rPr lang="en-US" dirty="0"/>
            </a:br>
            <a:r>
              <a:rPr lang="en-US" dirty="0"/>
              <a:t>or PS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A9AAFD2-C713-DCF3-6CA8-53F1D53679E7}"/>
              </a:ext>
            </a:extLst>
          </p:cNvPr>
          <p:cNvCxnSpPr/>
          <p:nvPr/>
        </p:nvCxnSpPr>
        <p:spPr>
          <a:xfrm>
            <a:off x="2042745" y="2572668"/>
            <a:ext cx="3352799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C2DE13BA-6C95-FAC3-2A8B-7DEE3F9DC9EC}"/>
              </a:ext>
            </a:extLst>
          </p:cNvPr>
          <p:cNvSpPr txBox="1"/>
          <p:nvPr/>
        </p:nvSpPr>
        <p:spPr>
          <a:xfrm>
            <a:off x="2303683" y="1904658"/>
            <a:ext cx="20319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CmdHdr</a:t>
            </a:r>
            <a:r>
              <a:rPr lang="en-US" sz="1600" dirty="0"/>
              <a:t>:  Coefficients</a:t>
            </a:r>
            <a:br>
              <a:rPr lang="en-US" sz="1600" dirty="0"/>
            </a:br>
            <a:r>
              <a:rPr lang="en-US" sz="1600" dirty="0"/>
              <a:t>num samples, trans ID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0BA56A2-8482-D54A-5125-5FDCA2C7F52E}"/>
                  </a:ext>
                </a:extLst>
              </p:cNvPr>
              <p:cNvSpPr txBox="1"/>
              <p:nvPr/>
            </p:nvSpPr>
            <p:spPr>
              <a:xfrm>
                <a:off x="2183456" y="3219113"/>
                <a:ext cx="2381806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SampDatIn:  Values of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0BA56A2-8482-D54A-5125-5FDCA2C7F5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83456" y="3219113"/>
                <a:ext cx="2381806" cy="338554"/>
              </a:xfrm>
              <a:prstGeom prst="rect">
                <a:avLst/>
              </a:prstGeom>
              <a:blipFill>
                <a:blip r:embed="rId2"/>
                <a:stretch>
                  <a:fillRect l="-1279" t="-5357" b="-2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2C016FB-B01D-D22E-030E-60FF33B26AEB}"/>
              </a:ext>
            </a:extLst>
          </p:cNvPr>
          <p:cNvCxnSpPr/>
          <p:nvPr/>
        </p:nvCxnSpPr>
        <p:spPr>
          <a:xfrm>
            <a:off x="2009405" y="3582965"/>
            <a:ext cx="3352799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8248D1E-9602-918F-2D86-61D5CC1FF459}"/>
              </a:ext>
            </a:extLst>
          </p:cNvPr>
          <p:cNvSpPr/>
          <p:nvPr/>
        </p:nvSpPr>
        <p:spPr>
          <a:xfrm>
            <a:off x="4907814" y="3688848"/>
            <a:ext cx="2302921" cy="9144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accent6"/>
                </a:solidFill>
              </a:rPr>
              <a:t>Perform polynomial evaluation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9382B4E7-5D1B-237D-C494-2D3772789F6B}"/>
              </a:ext>
            </a:extLst>
          </p:cNvPr>
          <p:cNvCxnSpPr>
            <a:cxnSpLocks/>
          </p:cNvCxnSpPr>
          <p:nvPr/>
        </p:nvCxnSpPr>
        <p:spPr>
          <a:xfrm flipH="1">
            <a:off x="1992737" y="2990058"/>
            <a:ext cx="3386137" cy="0"/>
          </a:xfrm>
          <a:prstGeom prst="straightConnector1">
            <a:avLst/>
          </a:prstGeom>
          <a:ln w="254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B2B521D9-BA68-BAAB-6550-E4FE3BE70215}"/>
              </a:ext>
            </a:extLst>
          </p:cNvPr>
          <p:cNvSpPr txBox="1"/>
          <p:nvPr/>
        </p:nvSpPr>
        <p:spPr>
          <a:xfrm>
            <a:off x="2373810" y="2615855"/>
            <a:ext cx="15651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RespFtr</a:t>
            </a:r>
            <a:r>
              <a:rPr lang="en-US" sz="1600" dirty="0"/>
              <a:t>:  </a:t>
            </a:r>
            <a:r>
              <a:rPr lang="en-US" sz="1600" dirty="0" err="1"/>
              <a:t>TransId</a:t>
            </a:r>
            <a:endParaRPr lang="en-US" sz="1600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FEE071F3-DFEB-3CF4-40AB-EC84F10785B9}"/>
              </a:ext>
            </a:extLst>
          </p:cNvPr>
          <p:cNvCxnSpPr>
            <a:cxnSpLocks/>
          </p:cNvCxnSpPr>
          <p:nvPr/>
        </p:nvCxnSpPr>
        <p:spPr>
          <a:xfrm flipH="1">
            <a:off x="1985595" y="4664999"/>
            <a:ext cx="3386137" cy="0"/>
          </a:xfrm>
          <a:prstGeom prst="straightConnector1">
            <a:avLst/>
          </a:prstGeom>
          <a:ln w="254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3C29D856-CC4F-1B2A-2640-8327BDF48A29}"/>
                  </a:ext>
                </a:extLst>
              </p:cNvPr>
              <p:cNvSpPr txBox="1"/>
              <p:nvPr/>
            </p:nvSpPr>
            <p:spPr>
              <a:xfrm>
                <a:off x="2177254" y="4273032"/>
                <a:ext cx="2416687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SampDataOut:  Values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3C29D856-CC4F-1B2A-2640-8327BDF48A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7254" y="4273032"/>
                <a:ext cx="2416687" cy="338554"/>
              </a:xfrm>
              <a:prstGeom prst="rect">
                <a:avLst/>
              </a:prstGeom>
              <a:blipFill>
                <a:blip r:embed="rId3"/>
                <a:stretch>
                  <a:fillRect l="-1259" t="-5455" b="-2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DDDC399-30B8-34D4-A3BC-7D089C1D8F1D}"/>
              </a:ext>
            </a:extLst>
          </p:cNvPr>
          <p:cNvCxnSpPr>
            <a:cxnSpLocks/>
          </p:cNvCxnSpPr>
          <p:nvPr/>
        </p:nvCxnSpPr>
        <p:spPr>
          <a:xfrm flipH="1">
            <a:off x="1952257" y="5325429"/>
            <a:ext cx="3386137" cy="0"/>
          </a:xfrm>
          <a:prstGeom prst="straightConnector1">
            <a:avLst/>
          </a:prstGeom>
          <a:ln w="254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0C56A0F8-B703-E51D-0186-E709266BECE2}"/>
              </a:ext>
            </a:extLst>
          </p:cNvPr>
          <p:cNvSpPr txBox="1"/>
          <p:nvPr/>
        </p:nvSpPr>
        <p:spPr>
          <a:xfrm>
            <a:off x="2143916" y="4933462"/>
            <a:ext cx="27638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RespFtr</a:t>
            </a:r>
            <a:r>
              <a:rPr lang="en-US" sz="1600" dirty="0"/>
              <a:t>:  Error Code, num read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4E9650F-1FE5-C186-C593-840E3A842651}"/>
              </a:ext>
            </a:extLst>
          </p:cNvPr>
          <p:cNvSpPr txBox="1"/>
          <p:nvPr/>
        </p:nvSpPr>
        <p:spPr>
          <a:xfrm>
            <a:off x="5663818" y="2785132"/>
            <a:ext cx="12239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Vitis kernel</a:t>
            </a:r>
          </a:p>
        </p:txBody>
      </p:sp>
    </p:spTree>
    <p:extLst>
      <p:ext uri="{BB962C8B-B14F-4D97-AF65-F5344CB8AC3E}">
        <p14:creationId xmlns:p14="http://schemas.microsoft.com/office/powerpoint/2010/main" val="171922628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CCB0A6-9099-6948-3FCA-D2A9A4883A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Define Data Structures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B56015-62E4-0ED1-A123-89695C748F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</a:t>
            </a:r>
            <a:r>
              <a:rPr lang="en-US" dirty="0" err="1"/>
              <a:t>xilinxutils</a:t>
            </a:r>
            <a:r>
              <a:rPr lang="en-US" dirty="0"/>
              <a:t> package</a:t>
            </a:r>
          </a:p>
          <a:p>
            <a:r>
              <a:rPr lang="en-US" dirty="0"/>
              <a:t>Define data structures in python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3FD6B6-9F7C-C9D6-A2A9-2FBD5D1324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27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7241DA7-3CC0-FCAD-9E4E-EA4D752A39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0744" y="1434749"/>
            <a:ext cx="4905481" cy="211916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E368F30-1E60-7C38-5F9A-B79427A530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2819590"/>
            <a:ext cx="4001482" cy="2938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141273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1C444C-4C38-0CF7-1C9D-5E64914EC2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a Python Golden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3C6AC4-316A-5C57-9E58-E4D63DB2F1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Python Golden model</a:t>
            </a:r>
          </a:p>
          <a:p>
            <a:r>
              <a:rPr lang="en-US" dirty="0"/>
              <a:t>Simulates the same messages</a:t>
            </a:r>
          </a:p>
          <a:p>
            <a:r>
              <a:rPr lang="en-US" dirty="0"/>
              <a:t>Runs python polynomial evaluation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98749E-FA99-0036-8FD0-75C9B5105A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28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7CEADD3-F2CE-0DB9-8020-3916272ED6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4051" y="1457513"/>
            <a:ext cx="4447191" cy="47937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372646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AAD688-12BF-4CF6-905E-43FE8029F2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Running the Golden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4A6EC4-6FDA-8C9A-9569-4D83185929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Run the Golden model</a:t>
            </a:r>
          </a:p>
          <a:p>
            <a:r>
              <a:rPr lang="en-US" dirty="0"/>
              <a:t>Generate:</a:t>
            </a:r>
          </a:p>
          <a:p>
            <a:pPr lvl="1"/>
            <a:r>
              <a:rPr lang="en-US" dirty="0"/>
              <a:t>Inputs</a:t>
            </a:r>
          </a:p>
          <a:p>
            <a:pPr lvl="1"/>
            <a:r>
              <a:rPr lang="en-US" dirty="0"/>
              <a:t>Expected outputs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C3F7D5-A643-D933-1D6B-AA690484FA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29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F9D24E9-5636-87E9-8FA4-CFA0B88F63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4556844"/>
            <a:ext cx="8581993" cy="136704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F4277F7-8D3B-F499-1CF0-D3A7C21787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5119" y="1238766"/>
            <a:ext cx="5083350" cy="40015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996533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67CB2F-8E75-A6B8-AA11-E717F8AE60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Auto-Generate the Header Files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E41635-9B51-2AC8-5CB6-81D2A99E86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each class, we generate a header file</a:t>
            </a:r>
          </a:p>
          <a:p>
            <a:r>
              <a:rPr lang="en-US" dirty="0"/>
              <a:t>Header files include:</a:t>
            </a:r>
          </a:p>
          <a:p>
            <a:pPr lvl="1"/>
            <a:r>
              <a:rPr lang="en-US" dirty="0"/>
              <a:t>Fields in the data structure</a:t>
            </a:r>
          </a:p>
          <a:p>
            <a:pPr lvl="1"/>
            <a:r>
              <a:rPr lang="en-US" dirty="0"/>
              <a:t>Methods for serializing and deserializing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6407D6-9C40-AEE9-778A-291DCB1125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30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6E78B62-5A50-519D-B01F-14D38018F8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6282" y="1539277"/>
            <a:ext cx="4634998" cy="43411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892916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7460B6-351D-F718-3F41-B8ECF17043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Vitis Kernel Implementation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119E44-35C1-4DC4-CE90-C0450D29A7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51318" y="1539277"/>
            <a:ext cx="4704361" cy="4329817"/>
          </a:xfrm>
        </p:spPr>
        <p:txBody>
          <a:bodyPr/>
          <a:lstStyle/>
          <a:p>
            <a:r>
              <a:rPr lang="en-US" dirty="0"/>
              <a:t>Use array:</a:t>
            </a:r>
          </a:p>
          <a:p>
            <a:pPr lvl="1"/>
            <a:r>
              <a:rPr lang="en-US" dirty="0"/>
              <a:t>Load to array, compute, write array to stream</a:t>
            </a:r>
          </a:p>
          <a:p>
            <a:pPr lvl="1"/>
            <a:r>
              <a:rPr lang="en-US" dirty="0"/>
              <a:t>Computationally, adds an extra step</a:t>
            </a:r>
          </a:p>
          <a:p>
            <a:pPr lvl="1"/>
            <a:r>
              <a:rPr lang="en-US" dirty="0"/>
              <a:t>But allows easy loop optimization analysis</a:t>
            </a:r>
          </a:p>
          <a:p>
            <a:r>
              <a:rPr lang="en-US" dirty="0"/>
              <a:t>Main loop is very simple</a:t>
            </a:r>
          </a:p>
          <a:p>
            <a:r>
              <a:rPr lang="en-US" dirty="0"/>
              <a:t>Note pragma HLS PIPELINE II=1</a:t>
            </a:r>
          </a:p>
          <a:p>
            <a:pPr lvl="1"/>
            <a:r>
              <a:rPr lang="en-US" dirty="0"/>
              <a:t>Indicates to Vitis to try to pipeline this loop</a:t>
            </a:r>
          </a:p>
          <a:p>
            <a:pPr lvl="1"/>
            <a:r>
              <a:rPr lang="en-US" dirty="0"/>
              <a:t>Try to find a schedule with II=1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60FDBE-2160-B28C-1DD8-0A247D0EBB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31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2169CAE-0677-20AF-B429-69CEE822B2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347" y="1710363"/>
            <a:ext cx="5252455" cy="4400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053932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04915C-C035-0732-904D-4580792491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DB887-9242-9A26-0D6B-ADA9EBF189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Running Vitis 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E66F18-AA44-647F-53D6-06DEC6C7F0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Run C-simulation</a:t>
            </a:r>
          </a:p>
          <a:p>
            <a:pPr lvl="1"/>
            <a:r>
              <a:rPr lang="en-US" dirty="0"/>
              <a:t>Performs functional validation</a:t>
            </a:r>
          </a:p>
          <a:p>
            <a:r>
              <a:rPr lang="en-US" dirty="0"/>
              <a:t>Run C-synthesis</a:t>
            </a:r>
          </a:p>
          <a:p>
            <a:pPr lvl="1"/>
            <a:r>
              <a:rPr lang="en-US" dirty="0"/>
              <a:t>Performs pipelining</a:t>
            </a:r>
          </a:p>
          <a:p>
            <a:pPr lvl="1"/>
            <a:r>
              <a:rPr lang="en-US" dirty="0"/>
              <a:t>Mapping of functions to resources</a:t>
            </a:r>
          </a:p>
          <a:p>
            <a:r>
              <a:rPr lang="en-US" dirty="0"/>
              <a:t>File to right:  TCL script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535447-8A13-D5B4-196B-62817189E5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32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59FFA07-2F09-1623-451F-A88F7C7F41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982" y="359390"/>
            <a:ext cx="4899197" cy="5455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454857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081AF2-DBB2-0FE2-048C-FCC8E4B53A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2250B1-4C82-D28B-FF74-A9FD37AF16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Parsing the 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73CE0A-7EF6-ABD0-B7A5-E092BAA04A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Vitis loop optimization results stored in XML file</a:t>
            </a:r>
          </a:p>
          <a:p>
            <a:r>
              <a:rPr lang="en-US" dirty="0"/>
              <a:t>Can parse results in </a:t>
            </a:r>
            <a:r>
              <a:rPr lang="en-US" dirty="0" err="1"/>
              <a:t>xilinxutils</a:t>
            </a:r>
            <a:r>
              <a:rPr lang="en-US" dirty="0"/>
              <a:t> </a:t>
            </a:r>
            <a:r>
              <a:rPr lang="en-US" dirty="0" err="1"/>
              <a:t>CsynthParser</a:t>
            </a:r>
            <a:endParaRPr lang="en-US" dirty="0"/>
          </a:p>
          <a:p>
            <a:r>
              <a:rPr lang="en-US" dirty="0"/>
              <a:t>Allows easy automation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701CB5-2028-746B-A36E-C1F65FF6EE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33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1340892-4D32-2A11-B13D-AA3891AD6C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3290" y="2010634"/>
            <a:ext cx="5092664" cy="3387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543697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DD0828-4C8F-714A-25A5-B2ED2F7550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Pipelining 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D618A5-E366-147F-F306-1355E00EB4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Main processing loop</a:t>
            </a:r>
          </a:p>
          <a:p>
            <a:pPr lvl="1"/>
            <a:r>
              <a:rPr lang="en-US" sz="2400" dirty="0"/>
              <a:t>Obtains II=1</a:t>
            </a:r>
          </a:p>
          <a:p>
            <a:pPr lvl="1"/>
            <a:r>
              <a:rPr lang="en-US" sz="2400" dirty="0"/>
              <a:t>High latency L=30</a:t>
            </a:r>
          </a:p>
          <a:p>
            <a:pPr lvl="1"/>
            <a:r>
              <a:rPr lang="en-US" sz="2400" dirty="0"/>
              <a:t>Needed for many FP32 multiplies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CA89E9-1C7B-48CF-08F0-F2E6FE0FF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34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3C39433-CD62-95BB-E3B0-64AD0D9CEA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2870372"/>
            <a:ext cx="5648341" cy="3052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131931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E512B8-971F-C064-0E0E-8DAAAB68A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Loop Carry Dependency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EA2492-FCA1-012A-D88A-3F3724E7BAF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2400" dirty="0"/>
                  <a:t>Not all loops can be pipelined</a:t>
                </a:r>
              </a:p>
              <a:p>
                <a:r>
                  <a:rPr lang="en-US" sz="2400" dirty="0"/>
                  <a:t>Consider merge sort</a:t>
                </a:r>
              </a:p>
              <a:p>
                <a:pPr lvl="1"/>
                <a:r>
                  <a:rPr lang="en-US" sz="2200" dirty="0"/>
                  <a:t>Given two sorted lists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sz="2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sz="2200" b="0" i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m:rPr>
                        <m:sty m:val="p"/>
                      </m:rPr>
                      <a:rPr lang="en-US" sz="2200" b="0" i="0" smtClean="0">
                        <a:latin typeface="Cambria Math" panose="02040503050406030204" pitchFamily="18" charset="0"/>
                      </a:rPr>
                      <m:t>j</m:t>
                    </m:r>
                    <m:r>
                      <a:rPr lang="en-US" sz="2200" b="0" i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sz="2200" dirty="0"/>
              </a:p>
              <a:p>
                <a:pPr lvl="1"/>
                <a:r>
                  <a:rPr lang="en-US" sz="2200" dirty="0"/>
                  <a:t>Find a merged sorted list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2200" dirty="0"/>
                  <a:t> </a:t>
                </a:r>
              </a:p>
              <a:p>
                <a:r>
                  <a:rPr lang="en-US" sz="2400" dirty="0"/>
                  <a:t>Algorithm:</a:t>
                </a:r>
              </a:p>
              <a:p>
                <a:pPr lvl="1"/>
                <a:r>
                  <a:rPr lang="en-US" sz="2200" dirty="0"/>
                  <a:t>C code to the right</a:t>
                </a:r>
              </a:p>
              <a:p>
                <a:pPr lvl="1"/>
                <a:r>
                  <a:rPr lang="en-US" sz="2200" dirty="0"/>
                  <a:t>Compare current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2200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sz="2200" dirty="0"/>
              </a:p>
              <a:p>
                <a:pPr lvl="1"/>
                <a:r>
                  <a:rPr lang="en-US" sz="2200" dirty="0"/>
                  <a:t>Places smaller one on list</a:t>
                </a:r>
              </a:p>
              <a:p>
                <a:pPr lvl="1"/>
                <a:r>
                  <a:rPr lang="en-US" sz="2200" dirty="0"/>
                  <a:t>Increments counter for the selected element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EA2492-FCA1-012A-D88A-3F3724E7BAF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697" t="-19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824F72-E889-36FB-B0EE-6E852232A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35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99B3FFB-DDEC-03E0-E862-8700A47A15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2108" y="1771988"/>
            <a:ext cx="5045681" cy="3648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909625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8F5337-6806-8898-7C21-DF306013F2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Merge Sort Example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DCC7F0-1452-63B6-BC7A-CC156830BE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36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57605325-CB8F-79AC-455D-011860781E9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01527265"/>
                  </p:ext>
                </p:extLst>
              </p:nvPr>
            </p:nvGraphicFramePr>
            <p:xfrm>
              <a:off x="8125306" y="1771506"/>
              <a:ext cx="2969414" cy="1478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84707">
                      <a:extLst>
                        <a:ext uri="{9D8B030D-6E8A-4147-A177-3AD203B41FA5}">
                          <a16:colId xmlns:a16="http://schemas.microsoft.com/office/drawing/2014/main" val="1087884957"/>
                        </a:ext>
                      </a:extLst>
                    </a:gridCol>
                    <a:gridCol w="1484707">
                      <a:extLst>
                        <a:ext uri="{9D8B030D-6E8A-4147-A177-3AD203B41FA5}">
                          <a16:colId xmlns:a16="http://schemas.microsoft.com/office/drawing/2014/main" val="3147720345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[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𝒊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]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[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𝒋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]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072454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356708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66791875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5987599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57605325-CB8F-79AC-455D-011860781E9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01527265"/>
                  </p:ext>
                </p:extLst>
              </p:nvPr>
            </p:nvGraphicFramePr>
            <p:xfrm>
              <a:off x="8125306" y="1771506"/>
              <a:ext cx="2969414" cy="1478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84707">
                      <a:extLst>
                        <a:ext uri="{9D8B030D-6E8A-4147-A177-3AD203B41FA5}">
                          <a16:colId xmlns:a16="http://schemas.microsoft.com/office/drawing/2014/main" val="1087884957"/>
                        </a:ext>
                      </a:extLst>
                    </a:gridCol>
                    <a:gridCol w="1484707">
                      <a:extLst>
                        <a:ext uri="{9D8B030D-6E8A-4147-A177-3AD203B41FA5}">
                          <a16:colId xmlns:a16="http://schemas.microsoft.com/office/drawing/2014/main" val="3147720345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10" t="-1667" r="-102049" b="-33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410" t="-1667" r="-2049" b="-33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072454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356708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66791875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59875998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38D72D87-B8CE-2A87-BF21-3EE4512881E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58179023"/>
                  </p:ext>
                </p:extLst>
              </p:nvPr>
            </p:nvGraphicFramePr>
            <p:xfrm>
              <a:off x="1006458" y="1770469"/>
              <a:ext cx="5773242" cy="25958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62207">
                      <a:extLst>
                        <a:ext uri="{9D8B030D-6E8A-4147-A177-3AD203B41FA5}">
                          <a16:colId xmlns:a16="http://schemas.microsoft.com/office/drawing/2014/main" val="3422338162"/>
                        </a:ext>
                      </a:extLst>
                    </a:gridCol>
                    <a:gridCol w="962207">
                      <a:extLst>
                        <a:ext uri="{9D8B030D-6E8A-4147-A177-3AD203B41FA5}">
                          <a16:colId xmlns:a16="http://schemas.microsoft.com/office/drawing/2014/main" val="2947596319"/>
                        </a:ext>
                      </a:extLst>
                    </a:gridCol>
                    <a:gridCol w="962207">
                      <a:extLst>
                        <a:ext uri="{9D8B030D-6E8A-4147-A177-3AD203B41FA5}">
                          <a16:colId xmlns:a16="http://schemas.microsoft.com/office/drawing/2014/main" val="3432115000"/>
                        </a:ext>
                      </a:extLst>
                    </a:gridCol>
                    <a:gridCol w="962207">
                      <a:extLst>
                        <a:ext uri="{9D8B030D-6E8A-4147-A177-3AD203B41FA5}">
                          <a16:colId xmlns:a16="http://schemas.microsoft.com/office/drawing/2014/main" val="3750638946"/>
                        </a:ext>
                      </a:extLst>
                    </a:gridCol>
                    <a:gridCol w="962207">
                      <a:extLst>
                        <a:ext uri="{9D8B030D-6E8A-4147-A177-3AD203B41FA5}">
                          <a16:colId xmlns:a16="http://schemas.microsoft.com/office/drawing/2014/main" val="3201722914"/>
                        </a:ext>
                      </a:extLst>
                    </a:gridCol>
                    <a:gridCol w="962207">
                      <a:extLst>
                        <a:ext uri="{9D8B030D-6E8A-4147-A177-3AD203B41FA5}">
                          <a16:colId xmlns:a16="http://schemas.microsoft.com/office/drawing/2014/main" val="147297392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𝒌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𝒊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𝒋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[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𝒊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]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[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𝒋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]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[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𝒌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]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430484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2678310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904593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0489555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4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1234146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0350287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7519068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38D72D87-B8CE-2A87-BF21-3EE4512881E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58179023"/>
                  </p:ext>
                </p:extLst>
              </p:nvPr>
            </p:nvGraphicFramePr>
            <p:xfrm>
              <a:off x="1006458" y="1770469"/>
              <a:ext cx="5773242" cy="25958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62207">
                      <a:extLst>
                        <a:ext uri="{9D8B030D-6E8A-4147-A177-3AD203B41FA5}">
                          <a16:colId xmlns:a16="http://schemas.microsoft.com/office/drawing/2014/main" val="3422338162"/>
                        </a:ext>
                      </a:extLst>
                    </a:gridCol>
                    <a:gridCol w="962207">
                      <a:extLst>
                        <a:ext uri="{9D8B030D-6E8A-4147-A177-3AD203B41FA5}">
                          <a16:colId xmlns:a16="http://schemas.microsoft.com/office/drawing/2014/main" val="2947596319"/>
                        </a:ext>
                      </a:extLst>
                    </a:gridCol>
                    <a:gridCol w="962207">
                      <a:extLst>
                        <a:ext uri="{9D8B030D-6E8A-4147-A177-3AD203B41FA5}">
                          <a16:colId xmlns:a16="http://schemas.microsoft.com/office/drawing/2014/main" val="3432115000"/>
                        </a:ext>
                      </a:extLst>
                    </a:gridCol>
                    <a:gridCol w="962207">
                      <a:extLst>
                        <a:ext uri="{9D8B030D-6E8A-4147-A177-3AD203B41FA5}">
                          <a16:colId xmlns:a16="http://schemas.microsoft.com/office/drawing/2014/main" val="3750638946"/>
                        </a:ext>
                      </a:extLst>
                    </a:gridCol>
                    <a:gridCol w="962207">
                      <a:extLst>
                        <a:ext uri="{9D8B030D-6E8A-4147-A177-3AD203B41FA5}">
                          <a16:colId xmlns:a16="http://schemas.microsoft.com/office/drawing/2014/main" val="3201722914"/>
                        </a:ext>
                      </a:extLst>
                    </a:gridCol>
                    <a:gridCol w="962207">
                      <a:extLst>
                        <a:ext uri="{9D8B030D-6E8A-4147-A177-3AD203B41FA5}">
                          <a16:colId xmlns:a16="http://schemas.microsoft.com/office/drawing/2014/main" val="147297392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633" t="-1639" r="-502532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0633" t="-1639" r="-402532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0633" t="-1639" r="-302532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00633" t="-1639" r="-202532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00633" t="-1639" r="-102532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00633" t="-1639" r="-2532" b="-6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430484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2678310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904593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0489555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4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1234146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0350287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75190689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54888004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85EA27-8FCA-A341-2C5C-1E6CCBF572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Pipelining Limit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292590F-A10C-98FD-4DCF-15E1BD00D58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97280" y="1539277"/>
                <a:ext cx="6450309" cy="4329817"/>
              </a:xfrm>
            </p:spPr>
            <p:txBody>
              <a:bodyPr/>
              <a:lstStyle/>
              <a:p>
                <a:r>
                  <a:rPr lang="en-US" dirty="0"/>
                  <a:t>Consider main loop body needed to the right</a:t>
                </a:r>
              </a:p>
              <a:p>
                <a:r>
                  <a:rPr lang="en-US" dirty="0"/>
                  <a:t>Stage 0 of iteration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Depends on stage 1 completion in iteration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Why?  Since addresses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dirty="0"/>
                  <a:t> are updated</a:t>
                </a:r>
              </a:p>
              <a:p>
                <a:r>
                  <a:rPr lang="en-US" dirty="0"/>
                  <a:t>Implication:  Each iteration will need:</a:t>
                </a:r>
              </a:p>
              <a:p>
                <a:pPr lvl="1"/>
                <a:r>
                  <a:rPr lang="en-US" dirty="0"/>
                  <a:t>Stage 0 iteration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Stage 1 iteration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Stage 0 iteration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endParaRPr lang="en-US" dirty="0"/>
              </a:p>
              <a:p>
                <a:r>
                  <a:rPr lang="en-US" dirty="0"/>
                  <a:t>Minimum II=2</a:t>
                </a:r>
              </a:p>
              <a:p>
                <a:r>
                  <a:rPr lang="en-US" dirty="0"/>
                  <a:t>Called a 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loop carry dependency</a:t>
                </a:r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292590F-A10C-98FD-4DCF-15E1BD00D58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97280" y="1539277"/>
                <a:ext cx="6450309" cy="4329817"/>
              </a:xfrm>
              <a:blipFill>
                <a:blip r:embed="rId2"/>
                <a:stretch>
                  <a:fillRect l="-2268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7240E6-BAB3-193C-B6DF-D797A36190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37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68B3646-3B0A-1CBA-3F44-EAD578AD2E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3547" y="862706"/>
            <a:ext cx="2672369" cy="4622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534397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6997F7-E4CF-F24B-2071-ED27F9BE0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CFD770-B8AE-6930-F996-6C8A8FD73A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95D28D-4D4C-CF30-6EDA-FF8C0C8624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Pipelining in </a:t>
            </a:r>
            <a:r>
              <a:rPr lang="en-US" sz="2400" dirty="0" err="1"/>
              <a:t>SystemVerilog</a:t>
            </a:r>
            <a:endParaRPr lang="en-US" sz="2400" dirty="0"/>
          </a:p>
          <a:p>
            <a:r>
              <a:rPr lang="en-US" sz="2400" dirty="0"/>
              <a:t>Loop Pipelining in Vitis HLS </a:t>
            </a:r>
          </a:p>
          <a:p>
            <a:r>
              <a:rPr lang="en-US" sz="2400" dirty="0"/>
              <a:t>Loop Unrolling and Memory Constraints </a:t>
            </a:r>
          </a:p>
          <a:p>
            <a:pPr marL="0" indent="0">
              <a:buNone/>
            </a:pP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C0F7B2-51B9-CE49-7E23-32F772B000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38</a:t>
            </a:fld>
            <a:endParaRPr lang="en-US" dirty="0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99CA5B5B-1864-BBE1-8671-8B9842B14618}"/>
              </a:ext>
            </a:extLst>
          </p:cNvPr>
          <p:cNvSpPr/>
          <p:nvPr/>
        </p:nvSpPr>
        <p:spPr>
          <a:xfrm>
            <a:off x="378407" y="2504196"/>
            <a:ext cx="938784" cy="484632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040460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F7F38-9872-5807-D0AC-B812A4A0FF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Loop Unrolling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8519E3-7393-5EA5-2EA6-D3F7B22AD1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Simple idea:  Repeat processing in each cycle</a:t>
            </a:r>
          </a:p>
          <a:p>
            <a:r>
              <a:rPr lang="en-US" sz="2400" dirty="0"/>
              <a:t>Unroll by 2</a:t>
            </a:r>
          </a:p>
          <a:p>
            <a:pPr lvl="1"/>
            <a:r>
              <a:rPr lang="en-US" sz="2200" dirty="0"/>
              <a:t>Need half the number of iterations</a:t>
            </a:r>
          </a:p>
          <a:p>
            <a:pPr lvl="1"/>
            <a:r>
              <a:rPr lang="en-US" sz="2200" dirty="0"/>
              <a:t>But double the logic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AB66DB-9B86-DC44-02E6-201EAE5A16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39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15369FA-B673-538E-C72C-51FA0D7098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0748" y="2063273"/>
            <a:ext cx="4541088" cy="3555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653571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3BD300-8BB9-EE2B-7903-D2A70A69E3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Loop Unrolling in Vitis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18EDAE4-3805-85D5-206A-931A30067D4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97280" y="1539277"/>
                <a:ext cx="10058400" cy="1669871"/>
              </a:xfrm>
            </p:spPr>
            <p:txBody>
              <a:bodyPr>
                <a:normAutofit/>
              </a:bodyPr>
              <a:lstStyle/>
              <a:p>
                <a:r>
                  <a:rPr lang="en-US" sz="2400" dirty="0"/>
                  <a:t>Can be done with a simple pragma</a:t>
                </a:r>
              </a:p>
              <a:p>
                <a:r>
                  <a:rPr lang="en-US" sz="2400" dirty="0"/>
                  <a:t>No need to manually unroll!</a:t>
                </a:r>
              </a:p>
              <a:p>
                <a:r>
                  <a:rPr lang="en-US" sz="2400" dirty="0"/>
                  <a:t>Handles cases when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/>
                  <a:t> </a:t>
                </a:r>
                <a:r>
                  <a:rPr lang="en-US" sz="2400" dirty="0"/>
                  <a:t>is not divisible by unroll factor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18EDAE4-3805-85D5-206A-931A30067D4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97280" y="1539277"/>
                <a:ext cx="10058400" cy="1669871"/>
              </a:xfrm>
              <a:blipFill>
                <a:blip r:embed="rId2"/>
                <a:stretch>
                  <a:fillRect l="-1697" t="-51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51E725-5BD2-E980-A2F1-2A8E0CD732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40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B38C19E-6919-1DDA-28AE-E8115AA171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7429" y="3429000"/>
            <a:ext cx="3908597" cy="166987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8CDB722-0F46-43C6-0B65-AB1BA11A4E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5268" y="3421611"/>
            <a:ext cx="3656286" cy="159547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64CB35B-3414-E6FB-7DB0-01B16F752F7E}"/>
              </a:ext>
            </a:extLst>
          </p:cNvPr>
          <p:cNvSpPr txBox="1"/>
          <p:nvPr/>
        </p:nvSpPr>
        <p:spPr>
          <a:xfrm>
            <a:off x="6126480" y="3743586"/>
            <a:ext cx="46519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/>
              <a:t>=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436451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698C6A-107C-547D-948C-E252E74F24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Bottleneck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75C02B-402D-D548-8832-DE01C448887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360102" y="1539277"/>
                <a:ext cx="5795578" cy="4329817"/>
              </a:xfrm>
            </p:spPr>
            <p:txBody>
              <a:bodyPr>
                <a:normAutofit/>
              </a:bodyPr>
              <a:lstStyle/>
              <a:p>
                <a:r>
                  <a:rPr lang="en-US" sz="2400" dirty="0"/>
                  <a:t>M</a:t>
                </a:r>
                <a:r>
                  <a:rPr lang="en-US" sz="2200" dirty="0"/>
                  <a:t>emory bottleneck</a:t>
                </a:r>
              </a:p>
              <a:p>
                <a:pPr lvl="1"/>
                <a:r>
                  <a:rPr lang="en-US" sz="2000" dirty="0"/>
                  <a:t>Loop unrolling is often limited by memory accesses</a:t>
                </a:r>
              </a:p>
              <a:p>
                <a:r>
                  <a:rPr lang="en-US" sz="2200" dirty="0"/>
                  <a:t>Consider vector multiply SV code</a:t>
                </a:r>
              </a:p>
              <a:p>
                <a:r>
                  <a:rPr lang="en-US" sz="2200" dirty="0"/>
                  <a:t>Stage 0 needs:</a:t>
                </a:r>
              </a:p>
              <a:p>
                <a:pPr lvl="1"/>
                <a:r>
                  <a:rPr lang="en-US" sz="2000" dirty="0"/>
                  <a:t>Two reads from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000" dirty="0"/>
                  <a:t> and two reads from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endParaRPr lang="en-US" sz="2000" dirty="0"/>
              </a:p>
              <a:p>
                <a:r>
                  <a:rPr lang="en-US" sz="2200" dirty="0"/>
                  <a:t>Stage 2 needs:</a:t>
                </a:r>
              </a:p>
              <a:p>
                <a:pPr lvl="1"/>
                <a:r>
                  <a:rPr lang="en-US" sz="2000" dirty="0"/>
                  <a:t>Two writes to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US" sz="2000" dirty="0"/>
              </a:p>
              <a:p>
                <a:pPr marL="0" indent="0">
                  <a:buNone/>
                </a:pPr>
                <a:endParaRPr lang="en-US" sz="22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75C02B-402D-D548-8832-DE01C448887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60102" y="1539277"/>
                <a:ext cx="5795578" cy="4329817"/>
              </a:xfrm>
              <a:blipFill>
                <a:blip r:embed="rId2"/>
                <a:stretch>
                  <a:fillRect l="-2944" t="-1972" r="-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C3FF70-FE1C-DD4C-36AD-58DA6D6686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41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AF69AC2-BD2D-0ED2-8148-2993E57CE4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320" y="2163827"/>
            <a:ext cx="4025484" cy="35204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471122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8AFB79-FFC3-595F-8968-0538F2D662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Single Port Memory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1ECE66-05B0-0988-A504-15417A7A23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539277"/>
            <a:ext cx="5652103" cy="4329817"/>
          </a:xfrm>
        </p:spPr>
        <p:txBody>
          <a:bodyPr/>
          <a:lstStyle/>
          <a:p>
            <a:r>
              <a:rPr lang="en-US" dirty="0"/>
              <a:t>Recall memory architecture from Unit 4</a:t>
            </a:r>
          </a:p>
          <a:p>
            <a:r>
              <a:rPr lang="en-US" dirty="0"/>
              <a:t>Basic memories are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single port</a:t>
            </a:r>
          </a:p>
          <a:p>
            <a:r>
              <a:rPr lang="en-US" dirty="0"/>
              <a:t>There is a single address decoder</a:t>
            </a:r>
          </a:p>
          <a:p>
            <a:r>
              <a:rPr lang="en-US" dirty="0"/>
              <a:t>Can read / write one word in a cycle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3AE6E6-6B92-A8F4-9F2A-4DA28053E5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42</a:t>
            </a:fld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BD49341-5BE5-7D32-D16D-11A8ADA5298B}"/>
              </a:ext>
            </a:extLst>
          </p:cNvPr>
          <p:cNvSpPr/>
          <p:nvPr/>
        </p:nvSpPr>
        <p:spPr>
          <a:xfrm>
            <a:off x="9704107" y="2575829"/>
            <a:ext cx="914317" cy="26400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4D085F4-A645-E101-8C4A-DC452FCE6F6E}"/>
              </a:ext>
            </a:extLst>
          </p:cNvPr>
          <p:cNvSpPr/>
          <p:nvPr/>
        </p:nvSpPr>
        <p:spPr>
          <a:xfrm>
            <a:off x="7481412" y="3069792"/>
            <a:ext cx="914400" cy="9144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15B6015-0D73-54FA-AFCF-562D968601F9}"/>
              </a:ext>
            </a:extLst>
          </p:cNvPr>
          <p:cNvSpPr/>
          <p:nvPr/>
        </p:nvSpPr>
        <p:spPr>
          <a:xfrm>
            <a:off x="11367048" y="2436377"/>
            <a:ext cx="310060" cy="2882346"/>
          </a:xfrm>
          <a:prstGeom prst="rect">
            <a:avLst/>
          </a:prstGeom>
          <a:solidFill>
            <a:srgbClr val="CCFF99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AC1EB41-0F8E-C3AA-B8E1-F616056DC234}"/>
              </a:ext>
            </a:extLst>
          </p:cNvPr>
          <p:cNvSpPr/>
          <p:nvPr/>
        </p:nvSpPr>
        <p:spPr>
          <a:xfrm>
            <a:off x="9713872" y="3166646"/>
            <a:ext cx="914317" cy="30481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9CEA24F-8CA2-80E2-2AA4-90AC7DEB44EC}"/>
                  </a:ext>
                </a:extLst>
              </p:cNvPr>
              <p:cNvSpPr txBox="1"/>
              <p:nvPr/>
            </p:nvSpPr>
            <p:spPr>
              <a:xfrm>
                <a:off x="6126480" y="2846928"/>
                <a:ext cx="1334533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>
                    <a:solidFill>
                      <a:schemeClr val="accent6">
                        <a:lumMod val="75000"/>
                      </a:schemeClr>
                    </a:solidFill>
                  </a:rPr>
                  <a:t>Address input</a:t>
                </a:r>
                <a:br>
                  <a:rPr lang="en-US" sz="1600" dirty="0"/>
                </a:br>
                <a14:m>
                  <m:oMath xmlns:m="http://schemas.openxmlformats.org/officeDocument/2006/math">
                    <m:func>
                      <m:func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600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fName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600" dirty="0"/>
                  <a:t>bits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9CEA24F-8CA2-80E2-2AA4-90AC7DEB44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26480" y="2846928"/>
                <a:ext cx="1334533" cy="584775"/>
              </a:xfrm>
              <a:prstGeom prst="rect">
                <a:avLst/>
              </a:prstGeom>
              <a:blipFill>
                <a:blip r:embed="rId2"/>
                <a:stretch>
                  <a:fillRect l="-2283" t="-3125" r="-913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75E1734-DAAF-2224-B18A-B0DABB448493}"/>
              </a:ext>
            </a:extLst>
          </p:cNvPr>
          <p:cNvCxnSpPr>
            <a:cxnSpLocks/>
          </p:cNvCxnSpPr>
          <p:nvPr/>
        </p:nvCxnSpPr>
        <p:spPr>
          <a:xfrm flipH="1">
            <a:off x="8945666" y="2743781"/>
            <a:ext cx="30388" cy="2334152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391F4D9-7265-36AD-C4AB-6B69D3E6CAFB}"/>
              </a:ext>
            </a:extLst>
          </p:cNvPr>
          <p:cNvCxnSpPr/>
          <p:nvPr/>
        </p:nvCxnSpPr>
        <p:spPr>
          <a:xfrm>
            <a:off x="6749259" y="3463987"/>
            <a:ext cx="738563" cy="0"/>
          </a:xfrm>
          <a:prstGeom prst="straightConnector1">
            <a:avLst/>
          </a:prstGeom>
          <a:ln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C3E1AC1-44C5-A55F-7073-7AE278A62E12}"/>
                  </a:ext>
                </a:extLst>
              </p:cNvPr>
              <p:cNvSpPr txBox="1"/>
              <p:nvPr/>
            </p:nvSpPr>
            <p:spPr>
              <a:xfrm>
                <a:off x="7445432" y="4014348"/>
                <a:ext cx="1350050" cy="107721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>
                    <a:solidFill>
                      <a:schemeClr val="accent6">
                        <a:lumMod val="75000"/>
                      </a:schemeClr>
                    </a:solidFill>
                  </a:rPr>
                  <a:t>Address </a:t>
                </a:r>
                <a:br>
                  <a:rPr lang="en-US" sz="1600" dirty="0">
                    <a:solidFill>
                      <a:schemeClr val="accent6">
                        <a:lumMod val="75000"/>
                      </a:schemeClr>
                    </a:solidFill>
                  </a:rPr>
                </a:br>
                <a:r>
                  <a:rPr lang="en-US" sz="1600" dirty="0">
                    <a:solidFill>
                      <a:schemeClr val="accent6">
                        <a:lumMod val="75000"/>
                      </a:schemeClr>
                    </a:solidFill>
                  </a:rPr>
                  <a:t>decoder</a:t>
                </a:r>
                <a:br>
                  <a:rPr lang="en-US" sz="1600" dirty="0"/>
                </a:br>
                <a:r>
                  <a:rPr lang="en-US" sz="1600" dirty="0"/>
                  <a:t>Selects one of</a:t>
                </a:r>
              </a:p>
              <a:p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1600" dirty="0"/>
                  <a:t> </a:t>
                </a:r>
                <a:r>
                  <a:rPr lang="en-US" sz="1600" dirty="0">
                    <a:solidFill>
                      <a:schemeClr val="accent6">
                        <a:lumMod val="75000"/>
                      </a:schemeClr>
                    </a:solidFill>
                  </a:rPr>
                  <a:t>wordlines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C3E1AC1-44C5-A55F-7073-7AE278A62E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45432" y="4014348"/>
                <a:ext cx="1350050" cy="1077218"/>
              </a:xfrm>
              <a:prstGeom prst="rect">
                <a:avLst/>
              </a:prstGeom>
              <a:blipFill>
                <a:blip r:embed="rId3"/>
                <a:stretch>
                  <a:fillRect l="-2252" t="-1705" r="-901" b="-6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15EFE4F-E81A-8DDC-8F3F-DA47D9CCE0A3}"/>
                  </a:ext>
                </a:extLst>
              </p:cNvPr>
              <p:cNvSpPr txBox="1"/>
              <p:nvPr/>
            </p:nvSpPr>
            <p:spPr>
              <a:xfrm>
                <a:off x="7999422" y="2257444"/>
                <a:ext cx="1201226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1600" dirty="0"/>
                  <a:t> </a:t>
                </a:r>
                <a:r>
                  <a:rPr lang="en-US" sz="1600" dirty="0">
                    <a:solidFill>
                      <a:schemeClr val="accent6">
                        <a:lumMod val="75000"/>
                      </a:schemeClr>
                    </a:solidFill>
                  </a:rPr>
                  <a:t>wordlines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15EFE4F-E81A-8DDC-8F3F-DA47D9CCE0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99422" y="2257444"/>
                <a:ext cx="1201226" cy="338554"/>
              </a:xfrm>
              <a:prstGeom prst="rect">
                <a:avLst/>
              </a:prstGeom>
              <a:blipFill>
                <a:blip r:embed="rId4"/>
                <a:stretch>
                  <a:fillRect t="-5357" r="-2030" b="-2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A9FD932-FE3F-F748-B31B-A2B29D3F6159}"/>
                  </a:ext>
                </a:extLst>
              </p:cNvPr>
              <p:cNvSpPr txBox="1"/>
              <p:nvPr/>
            </p:nvSpPr>
            <p:spPr>
              <a:xfrm>
                <a:off x="9992218" y="3740400"/>
                <a:ext cx="3497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2400" dirty="0">
                  <a:solidFill>
                    <a:schemeClr val="accent1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A9FD932-FE3F-F748-B31B-A2B29D3F61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92218" y="3740400"/>
                <a:ext cx="349775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5D82BF4B-723E-1E51-EA74-0EC08081FE38}"/>
                  </a:ext>
                </a:extLst>
              </p:cNvPr>
              <p:cNvSpPr txBox="1"/>
              <p:nvPr/>
            </p:nvSpPr>
            <p:spPr>
              <a:xfrm>
                <a:off x="9142742" y="3812076"/>
                <a:ext cx="3497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2400" dirty="0">
                  <a:solidFill>
                    <a:schemeClr val="accent1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5D82BF4B-723E-1E51-EA74-0EC08081FE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2742" y="3812076"/>
                <a:ext cx="349775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" name="Group 18">
            <a:extLst>
              <a:ext uri="{FF2B5EF4-FFF2-40B4-BE49-F238E27FC236}">
                <a16:creationId xmlns:a16="http://schemas.microsoft.com/office/drawing/2014/main" id="{873E6B12-A295-5F9A-C2F6-1A9A77AB8409}"/>
              </a:ext>
            </a:extLst>
          </p:cNvPr>
          <p:cNvGrpSpPr/>
          <p:nvPr/>
        </p:nvGrpSpPr>
        <p:grpSpPr>
          <a:xfrm>
            <a:off x="8969428" y="2575829"/>
            <a:ext cx="2397325" cy="296148"/>
            <a:chOff x="3167386" y="2308781"/>
            <a:chExt cx="2397325" cy="296148"/>
          </a:xfrm>
        </p:grpSpPr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53DD3E9E-8852-078F-A606-1A3C7B0697F9}"/>
                </a:ext>
              </a:extLst>
            </p:cNvPr>
            <p:cNvCxnSpPr/>
            <p:nvPr/>
          </p:nvCxnSpPr>
          <p:spPr>
            <a:xfrm>
              <a:off x="3167386" y="2472526"/>
              <a:ext cx="738563" cy="0"/>
            </a:xfrm>
            <a:prstGeom prst="straightConnector1">
              <a:avLst/>
            </a:prstGeom>
            <a:ln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150D667E-B18C-0E99-2D0A-F8AAA5401919}"/>
                </a:ext>
              </a:extLst>
            </p:cNvPr>
            <p:cNvSpPr/>
            <p:nvPr/>
          </p:nvSpPr>
          <p:spPr>
            <a:xfrm>
              <a:off x="3911748" y="2308781"/>
              <a:ext cx="914400" cy="29614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FA7658F1-EAB6-9F3D-47A1-EA9EBB979190}"/>
                </a:ext>
              </a:extLst>
            </p:cNvPr>
            <p:cNvCxnSpPr/>
            <p:nvPr/>
          </p:nvCxnSpPr>
          <p:spPr>
            <a:xfrm>
              <a:off x="4826148" y="2507810"/>
              <a:ext cx="738563" cy="0"/>
            </a:xfrm>
            <a:prstGeom prst="straightConnector1">
              <a:avLst/>
            </a:prstGeom>
            <a:ln>
              <a:solidFill>
                <a:srgbClr val="00B05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4FE26795-C050-2628-4638-484C7B97743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826148" y="2406103"/>
              <a:ext cx="38124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494F1D3A-1BA3-082F-36D8-C8245D07CAC9}"/>
              </a:ext>
            </a:extLst>
          </p:cNvPr>
          <p:cNvCxnSpPr/>
          <p:nvPr/>
        </p:nvCxnSpPr>
        <p:spPr>
          <a:xfrm>
            <a:off x="8974222" y="3335915"/>
            <a:ext cx="738563" cy="0"/>
          </a:xfrm>
          <a:prstGeom prst="straightConnector1">
            <a:avLst/>
          </a:prstGeom>
          <a:ln w="25400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3F9EDD96-0DEC-74A9-677B-E83F76559CB7}"/>
              </a:ext>
            </a:extLst>
          </p:cNvPr>
          <p:cNvSpPr/>
          <p:nvPr/>
        </p:nvSpPr>
        <p:spPr>
          <a:xfrm>
            <a:off x="9711958" y="3172170"/>
            <a:ext cx="914400" cy="29614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268479F0-E014-0010-9B95-3D0D0219DE10}"/>
              </a:ext>
            </a:extLst>
          </p:cNvPr>
          <p:cNvCxnSpPr/>
          <p:nvPr/>
        </p:nvCxnSpPr>
        <p:spPr>
          <a:xfrm>
            <a:off x="10632984" y="3371199"/>
            <a:ext cx="738563" cy="0"/>
          </a:xfrm>
          <a:prstGeom prst="straightConnector1">
            <a:avLst/>
          </a:prstGeom>
          <a:ln>
            <a:solidFill>
              <a:srgbClr val="00B05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CA4A68C2-364E-0602-A642-60387C90E5E5}"/>
              </a:ext>
            </a:extLst>
          </p:cNvPr>
          <p:cNvCxnSpPr>
            <a:cxnSpLocks/>
          </p:cNvCxnSpPr>
          <p:nvPr/>
        </p:nvCxnSpPr>
        <p:spPr>
          <a:xfrm flipH="1">
            <a:off x="10632984" y="3269492"/>
            <a:ext cx="38124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C4EFCDA1-BF4F-0263-FF29-F0974093CBB6}"/>
              </a:ext>
            </a:extLst>
          </p:cNvPr>
          <p:cNvCxnSpPr>
            <a:cxnSpLocks/>
          </p:cNvCxnSpPr>
          <p:nvPr/>
        </p:nvCxnSpPr>
        <p:spPr>
          <a:xfrm>
            <a:off x="8395812" y="3463987"/>
            <a:ext cx="580242" cy="0"/>
          </a:xfrm>
          <a:prstGeom prst="straightConnector1">
            <a:avLst/>
          </a:prstGeom>
          <a:ln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AB999EB8-5468-2A4F-018D-4EE703E6D883}"/>
              </a:ext>
            </a:extLst>
          </p:cNvPr>
          <p:cNvCxnSpPr>
            <a:cxnSpLocks/>
          </p:cNvCxnSpPr>
          <p:nvPr/>
        </p:nvCxnSpPr>
        <p:spPr>
          <a:xfrm flipH="1">
            <a:off x="10996478" y="2436377"/>
            <a:ext cx="12957" cy="258069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3B6A1727-B00E-C404-7E04-C4A80F625018}"/>
              </a:ext>
            </a:extLst>
          </p:cNvPr>
          <p:cNvSpPr txBox="1"/>
          <p:nvPr/>
        </p:nvSpPr>
        <p:spPr>
          <a:xfrm>
            <a:off x="11248290" y="1897185"/>
            <a:ext cx="57137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00B050"/>
                </a:solidFill>
              </a:rPr>
              <a:t>Data</a:t>
            </a:r>
            <a:br>
              <a:rPr lang="en-US" sz="1600" dirty="0">
                <a:solidFill>
                  <a:srgbClr val="00B050"/>
                </a:solidFill>
              </a:rPr>
            </a:br>
            <a:r>
              <a:rPr lang="en-US" sz="1600" dirty="0">
                <a:solidFill>
                  <a:srgbClr val="00B050"/>
                </a:solidFill>
              </a:rPr>
              <a:t>Bus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A3547F62-0CEE-ACDE-48E0-FB5F9D10A398}"/>
              </a:ext>
            </a:extLst>
          </p:cNvPr>
          <p:cNvGrpSpPr/>
          <p:nvPr/>
        </p:nvGrpSpPr>
        <p:grpSpPr>
          <a:xfrm>
            <a:off x="8965544" y="2872878"/>
            <a:ext cx="2397325" cy="296148"/>
            <a:chOff x="3167386" y="2308781"/>
            <a:chExt cx="2397325" cy="296148"/>
          </a:xfrm>
        </p:grpSpPr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DEB26A35-5CFE-DE0B-CC24-036B9AC1C4DC}"/>
                </a:ext>
              </a:extLst>
            </p:cNvPr>
            <p:cNvCxnSpPr/>
            <p:nvPr/>
          </p:nvCxnSpPr>
          <p:spPr>
            <a:xfrm>
              <a:off x="3167386" y="2472526"/>
              <a:ext cx="738563" cy="0"/>
            </a:xfrm>
            <a:prstGeom prst="straightConnector1">
              <a:avLst/>
            </a:prstGeom>
            <a:ln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01EFD280-F037-904B-D39C-39E2646F08C6}"/>
                </a:ext>
              </a:extLst>
            </p:cNvPr>
            <p:cNvSpPr/>
            <p:nvPr/>
          </p:nvSpPr>
          <p:spPr>
            <a:xfrm>
              <a:off x="3911748" y="2308781"/>
              <a:ext cx="914400" cy="29614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926FBF84-CD52-E7D9-6DB3-0E39F26DDE4C}"/>
                </a:ext>
              </a:extLst>
            </p:cNvPr>
            <p:cNvCxnSpPr/>
            <p:nvPr/>
          </p:nvCxnSpPr>
          <p:spPr>
            <a:xfrm>
              <a:off x="4826148" y="2507810"/>
              <a:ext cx="738563" cy="0"/>
            </a:xfrm>
            <a:prstGeom prst="straightConnector1">
              <a:avLst/>
            </a:prstGeom>
            <a:ln>
              <a:solidFill>
                <a:srgbClr val="00B05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7BB28333-8223-1154-C750-EF5A07A0DFA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826148" y="2406103"/>
              <a:ext cx="38124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44A4ECE2-B06E-A07A-84CB-8929A6293EE1}"/>
              </a:ext>
            </a:extLst>
          </p:cNvPr>
          <p:cNvGrpSpPr/>
          <p:nvPr/>
        </p:nvGrpSpPr>
        <p:grpSpPr>
          <a:xfrm>
            <a:off x="8952292" y="4919749"/>
            <a:ext cx="2397325" cy="296148"/>
            <a:chOff x="3167386" y="2308781"/>
            <a:chExt cx="2397325" cy="296148"/>
          </a:xfrm>
        </p:grpSpPr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D4B99442-D4F6-A2CD-C914-5A437985C944}"/>
                </a:ext>
              </a:extLst>
            </p:cNvPr>
            <p:cNvCxnSpPr/>
            <p:nvPr/>
          </p:nvCxnSpPr>
          <p:spPr>
            <a:xfrm>
              <a:off x="3167386" y="2472526"/>
              <a:ext cx="738563" cy="0"/>
            </a:xfrm>
            <a:prstGeom prst="straightConnector1">
              <a:avLst/>
            </a:prstGeom>
            <a:ln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268A124-ED28-6FE0-DD53-E258595AF3EA}"/>
                </a:ext>
              </a:extLst>
            </p:cNvPr>
            <p:cNvSpPr/>
            <p:nvPr/>
          </p:nvSpPr>
          <p:spPr>
            <a:xfrm>
              <a:off x="3911748" y="2308781"/>
              <a:ext cx="914400" cy="29614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4A9A334E-596E-C2BE-BBA8-22DCF40FA115}"/>
                </a:ext>
              </a:extLst>
            </p:cNvPr>
            <p:cNvCxnSpPr/>
            <p:nvPr/>
          </p:nvCxnSpPr>
          <p:spPr>
            <a:xfrm>
              <a:off x="4826148" y="2507810"/>
              <a:ext cx="738563" cy="0"/>
            </a:xfrm>
            <a:prstGeom prst="straightConnector1">
              <a:avLst/>
            </a:prstGeom>
            <a:ln>
              <a:solidFill>
                <a:srgbClr val="00B05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BD6B7DE6-9FE1-1FE1-8265-E5810B8D14F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826148" y="2406103"/>
              <a:ext cx="38124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D98B39ED-C908-8283-3FFB-45B112C9B20C}"/>
                  </a:ext>
                </a:extLst>
              </p:cNvPr>
              <p:cNvSpPr txBox="1"/>
              <p:nvPr/>
            </p:nvSpPr>
            <p:spPr>
              <a:xfrm>
                <a:off x="9753455" y="1975810"/>
                <a:ext cx="800797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chemeClr val="accent2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1600" dirty="0">
                    <a:solidFill>
                      <a:schemeClr val="accent2">
                        <a:lumMod val="75000"/>
                      </a:schemeClr>
                    </a:solidFill>
                  </a:rPr>
                  <a:t> data </a:t>
                </a:r>
                <a:br>
                  <a:rPr lang="en-US" sz="1600" dirty="0">
                    <a:solidFill>
                      <a:schemeClr val="accent2">
                        <a:lumMod val="75000"/>
                      </a:schemeClr>
                    </a:solidFill>
                  </a:rPr>
                </a:br>
                <a:r>
                  <a:rPr lang="en-US" sz="1600" dirty="0">
                    <a:solidFill>
                      <a:schemeClr val="accent2">
                        <a:lumMod val="75000"/>
                      </a:schemeClr>
                    </a:solidFill>
                  </a:rPr>
                  <a:t>words</a:t>
                </a:r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D98B39ED-C908-8283-3FFB-45B112C9B2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53455" y="1975810"/>
                <a:ext cx="800797" cy="584775"/>
              </a:xfrm>
              <a:prstGeom prst="rect">
                <a:avLst/>
              </a:prstGeom>
              <a:blipFill>
                <a:blip r:embed="rId7"/>
                <a:stretch>
                  <a:fillRect l="-4580" t="-3125" r="-3053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TextBox 29">
            <a:extLst>
              <a:ext uri="{FF2B5EF4-FFF2-40B4-BE49-F238E27FC236}">
                <a16:creationId xmlns:a16="http://schemas.microsoft.com/office/drawing/2014/main" id="{D4679E64-CE95-80D6-C5F7-F823B8AA333F}"/>
              </a:ext>
            </a:extLst>
          </p:cNvPr>
          <p:cNvSpPr txBox="1"/>
          <p:nvPr/>
        </p:nvSpPr>
        <p:spPr>
          <a:xfrm>
            <a:off x="10708692" y="2118911"/>
            <a:ext cx="55816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accent2">
                    <a:lumMod val="75000"/>
                  </a:schemeClr>
                </a:solidFill>
              </a:rPr>
              <a:t>R/W</a:t>
            </a:r>
          </a:p>
        </p:txBody>
      </p:sp>
    </p:spTree>
    <p:extLst>
      <p:ext uri="{BB962C8B-B14F-4D97-AF65-F5344CB8AC3E}">
        <p14:creationId xmlns:p14="http://schemas.microsoft.com/office/powerpoint/2010/main" val="416659327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4CBC1-474F-05FC-B8A4-AD569CA3D0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Three Solutions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8A929D-D10A-0CFF-1997-BC97C34D57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Solution 1:  Use a true multi-port RAM</a:t>
            </a:r>
            <a:endParaRPr lang="en-US" sz="2800" dirty="0"/>
          </a:p>
          <a:p>
            <a:pPr lvl="1"/>
            <a:r>
              <a:rPr lang="en-US" sz="2000" dirty="0"/>
              <a:t>Most general.  Allows read and write from any combination of addresses</a:t>
            </a:r>
          </a:p>
          <a:p>
            <a:pPr lvl="1"/>
            <a:r>
              <a:rPr lang="en-US" sz="2000" dirty="0"/>
              <a:t>Xilinx FGPA BRAMs are two port</a:t>
            </a:r>
          </a:p>
          <a:p>
            <a:pPr lvl="1"/>
            <a:r>
              <a:rPr lang="en-US" sz="2000" dirty="0"/>
              <a:t>But most costly in hardware</a:t>
            </a:r>
          </a:p>
          <a:p>
            <a:r>
              <a:rPr lang="en-US" sz="2200" dirty="0"/>
              <a:t>Solution 2:  Use a wider </a:t>
            </a:r>
            <a:r>
              <a:rPr lang="en-US" sz="2200" dirty="0" err="1"/>
              <a:t>bitwidth</a:t>
            </a:r>
            <a:endParaRPr lang="en-US" sz="2200" dirty="0"/>
          </a:p>
          <a:p>
            <a:pPr lvl="1"/>
            <a:r>
              <a:rPr lang="en-US" sz="2000" dirty="0"/>
              <a:t>Say 64 bits to read two 32 bit numbers</a:t>
            </a:r>
          </a:p>
          <a:p>
            <a:pPr lvl="1"/>
            <a:r>
              <a:rPr lang="en-US" sz="2000" dirty="0"/>
              <a:t>Works only when the accesses are contiguous</a:t>
            </a:r>
          </a:p>
          <a:p>
            <a:r>
              <a:rPr lang="en-US" sz="2200" dirty="0"/>
              <a:t>Solution 3:  Bank or partition memory</a:t>
            </a:r>
          </a:p>
          <a:p>
            <a:pPr lvl="1"/>
            <a:r>
              <a:rPr lang="en-US" sz="2000" dirty="0"/>
              <a:t>Divide memory into partitions</a:t>
            </a:r>
          </a:p>
          <a:p>
            <a:pPr lvl="1"/>
            <a:r>
              <a:rPr lang="en-US" sz="2000" dirty="0"/>
              <a:t>Each partition has its own decoder</a:t>
            </a:r>
          </a:p>
          <a:p>
            <a:pPr lvl="1"/>
            <a:r>
              <a:rPr lang="en-US" sz="2000" dirty="0"/>
              <a:t>Works if accesses can be across different partitions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63E781-49AC-5338-84B1-0D8C7C1FBE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51576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C7FB3-61A6-B50E-9534-6AF651E22F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Mutli</a:t>
            </a:r>
            <a:r>
              <a:rPr lang="en-US" dirty="0"/>
              <a:t>-Port RAMs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E5F6AD-5636-5999-9471-9D1743F624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Allow arbitrary read / writes </a:t>
            </a:r>
          </a:p>
          <a:p>
            <a:pPr lvl="1"/>
            <a:r>
              <a:rPr lang="en-US" dirty="0"/>
              <a:t>Except for read-write collisions to same address in same cycle</a:t>
            </a:r>
          </a:p>
          <a:p>
            <a:r>
              <a:rPr lang="en-US" dirty="0"/>
              <a:t>BRAM in FPGAs generally only support true two port</a:t>
            </a:r>
          </a:p>
          <a:p>
            <a:r>
              <a:rPr lang="en-US" dirty="0" err="1"/>
              <a:t>BMutli</a:t>
            </a:r>
            <a:r>
              <a:rPr lang="en-US" dirty="0"/>
              <a:t>-port SRAMs in ASICs are expensive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4FBF13-AACC-FD4B-7430-3E65E1D7EC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44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7C3B153-DBB2-A15E-0F48-C4B23DFA5623}"/>
              </a:ext>
            </a:extLst>
          </p:cNvPr>
          <p:cNvSpPr/>
          <p:nvPr/>
        </p:nvSpPr>
        <p:spPr>
          <a:xfrm>
            <a:off x="10698521" y="2045743"/>
            <a:ext cx="914317" cy="26400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49BB559-B66A-1BB0-B08E-136C6FF2A6A9}"/>
              </a:ext>
            </a:extLst>
          </p:cNvPr>
          <p:cNvSpPr/>
          <p:nvPr/>
        </p:nvSpPr>
        <p:spPr>
          <a:xfrm>
            <a:off x="10708692" y="4329699"/>
            <a:ext cx="914317" cy="176231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AF4DD5B-8742-55B8-F623-B3AA9DA847A5}"/>
                  </a:ext>
                </a:extLst>
              </p:cNvPr>
              <p:cNvSpPr txBox="1"/>
              <p:nvPr/>
            </p:nvSpPr>
            <p:spPr>
              <a:xfrm>
                <a:off x="10986632" y="3210314"/>
                <a:ext cx="3497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2400" dirty="0">
                  <a:solidFill>
                    <a:schemeClr val="accent1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AF4DD5B-8742-55B8-F623-B3AA9DA847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86632" y="3210314"/>
                <a:ext cx="349775" cy="46166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8FC34E2A-D329-5108-0782-084CF57F5788}"/>
              </a:ext>
            </a:extLst>
          </p:cNvPr>
          <p:cNvSpPr txBox="1"/>
          <p:nvPr/>
        </p:nvSpPr>
        <p:spPr>
          <a:xfrm>
            <a:off x="10698521" y="1616776"/>
            <a:ext cx="90063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accent2">
                    <a:lumMod val="75000"/>
                  </a:schemeClr>
                </a:solidFill>
              </a:rPr>
              <a:t>Memory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0CB5F44-8FDB-45F2-93A4-94ED654DA01E}"/>
              </a:ext>
            </a:extLst>
          </p:cNvPr>
          <p:cNvSpPr/>
          <p:nvPr/>
        </p:nvSpPr>
        <p:spPr>
          <a:xfrm>
            <a:off x="10698521" y="3852806"/>
            <a:ext cx="914317" cy="176231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AFDA0E1-3F86-3C36-0D5B-5E46CFB47938}"/>
              </a:ext>
            </a:extLst>
          </p:cNvPr>
          <p:cNvSpPr/>
          <p:nvPr/>
        </p:nvSpPr>
        <p:spPr>
          <a:xfrm>
            <a:off x="9088406" y="2484171"/>
            <a:ext cx="914400" cy="9144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73B8278-F2E3-D854-1AFC-ADB23597292E}"/>
              </a:ext>
            </a:extLst>
          </p:cNvPr>
          <p:cNvSpPr/>
          <p:nvPr/>
        </p:nvSpPr>
        <p:spPr>
          <a:xfrm>
            <a:off x="9088406" y="3611034"/>
            <a:ext cx="914400" cy="914400"/>
          </a:xfrm>
          <a:prstGeom prst="rect">
            <a:avLst/>
          </a:prstGeom>
          <a:solidFill>
            <a:srgbClr val="CCFFCC"/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BA0771A-42CF-E3EA-AA84-C8D0D9FC87F3}"/>
              </a:ext>
            </a:extLst>
          </p:cNvPr>
          <p:cNvCxnSpPr>
            <a:stCxn id="12" idx="3"/>
            <a:endCxn id="10" idx="1"/>
          </p:cNvCxnSpPr>
          <p:nvPr/>
        </p:nvCxnSpPr>
        <p:spPr>
          <a:xfrm flipV="1">
            <a:off x="10002806" y="3940922"/>
            <a:ext cx="695715" cy="127312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4FB95FC-A484-8D98-E86C-A5FD4CC02E11}"/>
              </a:ext>
            </a:extLst>
          </p:cNvPr>
          <p:cNvCxnSpPr>
            <a:cxnSpLocks/>
            <a:stCxn id="11" idx="3"/>
          </p:cNvCxnSpPr>
          <p:nvPr/>
        </p:nvCxnSpPr>
        <p:spPr>
          <a:xfrm>
            <a:off x="10002806" y="2941371"/>
            <a:ext cx="685950" cy="1438062"/>
          </a:xfrm>
          <a:prstGeom prst="straightConnector1">
            <a:avLst/>
          </a:prstGeom>
          <a:ln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75B7F16-0565-4936-34C6-BF6D73908AEA}"/>
              </a:ext>
            </a:extLst>
          </p:cNvPr>
          <p:cNvCxnSpPr>
            <a:endCxn id="11" idx="1"/>
          </p:cNvCxnSpPr>
          <p:nvPr/>
        </p:nvCxnSpPr>
        <p:spPr>
          <a:xfrm>
            <a:off x="8468139" y="2941371"/>
            <a:ext cx="620267" cy="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21D045E-7543-B390-3021-7EF9C437AD30}"/>
              </a:ext>
            </a:extLst>
          </p:cNvPr>
          <p:cNvCxnSpPr/>
          <p:nvPr/>
        </p:nvCxnSpPr>
        <p:spPr>
          <a:xfrm>
            <a:off x="8468138" y="4068234"/>
            <a:ext cx="620267" cy="0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D869003A-FA05-D772-E392-D68EA34CFB55}"/>
              </a:ext>
            </a:extLst>
          </p:cNvPr>
          <p:cNvSpPr txBox="1"/>
          <p:nvPr/>
        </p:nvSpPr>
        <p:spPr>
          <a:xfrm>
            <a:off x="9053451" y="4525433"/>
            <a:ext cx="10405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00B050"/>
                </a:solidFill>
              </a:rPr>
              <a:t>Address</a:t>
            </a:r>
            <a:br>
              <a:rPr lang="en-US" sz="1600" dirty="0">
                <a:solidFill>
                  <a:srgbClr val="00B050"/>
                </a:solidFill>
              </a:rPr>
            </a:br>
            <a:r>
              <a:rPr lang="en-US" sz="1600" dirty="0">
                <a:solidFill>
                  <a:srgbClr val="00B050"/>
                </a:solidFill>
              </a:rPr>
              <a:t>Decoder 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5D76675-0937-7526-7887-C13F2AAD00B5}"/>
              </a:ext>
            </a:extLst>
          </p:cNvPr>
          <p:cNvSpPr txBox="1"/>
          <p:nvPr/>
        </p:nvSpPr>
        <p:spPr>
          <a:xfrm>
            <a:off x="7770343" y="2602817"/>
            <a:ext cx="12831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accent5">
                    <a:lumMod val="75000"/>
                  </a:schemeClr>
                </a:solidFill>
              </a:rPr>
              <a:t>Data1, Addr1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53B457B-193B-3B93-0FA0-0E98725D667E}"/>
              </a:ext>
            </a:extLst>
          </p:cNvPr>
          <p:cNvSpPr txBox="1"/>
          <p:nvPr/>
        </p:nvSpPr>
        <p:spPr>
          <a:xfrm>
            <a:off x="9025335" y="1924182"/>
            <a:ext cx="10405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accent5">
                    <a:lumMod val="75000"/>
                  </a:schemeClr>
                </a:solidFill>
              </a:rPr>
              <a:t>Address</a:t>
            </a:r>
            <a:br>
              <a:rPr lang="en-US" sz="1600" dirty="0">
                <a:solidFill>
                  <a:schemeClr val="accent5">
                    <a:lumMod val="75000"/>
                  </a:schemeClr>
                </a:solidFill>
              </a:rPr>
            </a:br>
            <a:r>
              <a:rPr lang="en-US" sz="1600" dirty="0">
                <a:solidFill>
                  <a:schemeClr val="accent5">
                    <a:lumMod val="75000"/>
                  </a:schemeClr>
                </a:solidFill>
              </a:rPr>
              <a:t>Decoder 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D424EB7-355A-26AA-432A-3824934EC3DD}"/>
              </a:ext>
            </a:extLst>
          </p:cNvPr>
          <p:cNvSpPr txBox="1"/>
          <p:nvPr/>
        </p:nvSpPr>
        <p:spPr>
          <a:xfrm>
            <a:off x="7760902" y="3729679"/>
            <a:ext cx="12831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00B050"/>
                </a:solidFill>
              </a:rPr>
              <a:t>Data2, Addr2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27A9D63-4F2E-CC39-85B4-DF5938E8AE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6396" y="3234105"/>
            <a:ext cx="5097928" cy="2903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518173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585354-99F8-E11F-7EBE-20EFCF965E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Wider Bit widths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DDE095-6D76-385C-664C-0447AAF892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45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126682D-2200-8C76-98E8-AECA24FEA9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8850" y="1676400"/>
            <a:ext cx="4207944" cy="415257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EB49397-4439-101A-EF1A-DB7697FD424E}"/>
              </a:ext>
            </a:extLst>
          </p:cNvPr>
          <p:cNvSpPr txBox="1"/>
          <p:nvPr/>
        </p:nvSpPr>
        <p:spPr>
          <a:xfrm>
            <a:off x="7712348" y="3220375"/>
            <a:ext cx="386048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Wide bit width design</a:t>
            </a:r>
          </a:p>
          <a:p>
            <a:pPr marL="285750" indent="-285750">
              <a:buFontTx/>
              <a:buChar char="-"/>
            </a:pPr>
            <a:r>
              <a:rPr lang="en-US" dirty="0"/>
              <a:t>Only one R/W to each array</a:t>
            </a:r>
          </a:p>
          <a:p>
            <a:pPr marL="285750" indent="-285750">
              <a:buFontTx/>
              <a:buChar char="-"/>
            </a:pPr>
            <a:r>
              <a:rPr lang="en-US" dirty="0"/>
              <a:t>Can pipeline with II=1</a:t>
            </a:r>
          </a:p>
          <a:p>
            <a:pPr marL="285750" indent="-285750">
              <a:buFontTx/>
              <a:buChar char="-"/>
            </a:pPr>
            <a:r>
              <a:rPr lang="en-US" dirty="0"/>
              <a:t>But need accesses to be contiguous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3047E43-C07A-789B-4A7F-92083437B1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172" y="3455630"/>
            <a:ext cx="2989537" cy="130452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5FE6721-2CFE-742C-FB54-2D9B4C89729D}"/>
              </a:ext>
            </a:extLst>
          </p:cNvPr>
          <p:cNvSpPr txBox="1"/>
          <p:nvPr/>
        </p:nvSpPr>
        <p:spPr>
          <a:xfrm>
            <a:off x="634128" y="1883411"/>
            <a:ext cx="338727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Narrow bit width design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Access only one word per cycle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Memory bottleneck </a:t>
            </a:r>
          </a:p>
        </p:txBody>
      </p:sp>
    </p:spTree>
    <p:extLst>
      <p:ext uri="{BB962C8B-B14F-4D97-AF65-F5344CB8AC3E}">
        <p14:creationId xmlns:p14="http://schemas.microsoft.com/office/powerpoint/2010/main" val="589663198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Violet II">
      <a:dk1>
        <a:sysClr val="windowText" lastClr="000000"/>
      </a:dk1>
      <a:lt1>
        <a:sysClr val="window" lastClr="FFFFFF"/>
      </a:lt1>
      <a:dk2>
        <a:srgbClr val="632E62"/>
      </a:dk2>
      <a:lt2>
        <a:srgbClr val="EAE5EB"/>
      </a:lt2>
      <a:accent1>
        <a:srgbClr val="92278F"/>
      </a:accent1>
      <a:accent2>
        <a:srgbClr val="9B57D3"/>
      </a:accent2>
      <a:accent3>
        <a:srgbClr val="755DD9"/>
      </a:accent3>
      <a:accent4>
        <a:srgbClr val="665EB8"/>
      </a:accent4>
      <a:accent5>
        <a:srgbClr val="45A5ED"/>
      </a:accent5>
      <a:accent6>
        <a:srgbClr val="5982DB"/>
      </a:accent6>
      <a:hlink>
        <a:srgbClr val="0066FF"/>
      </a:hlink>
      <a:folHlink>
        <a:srgbClr val="666699"/>
      </a:folHlink>
    </a:clrScheme>
    <a:fontScheme name="Calibri">
      <a:majorFont>
        <a:latin typeface="Calibri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02006FA4-1611-4B07-AF7F-85CF6D20EB3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23900</TotalTime>
  <Words>2046</Words>
  <Application>Microsoft Office PowerPoint</Application>
  <PresentationFormat>Widescreen</PresentationFormat>
  <Paragraphs>536</Paragraphs>
  <Slides>45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51" baseType="lpstr">
      <vt:lpstr>Arial</vt:lpstr>
      <vt:lpstr>Calibri</vt:lpstr>
      <vt:lpstr>Cambria Math</vt:lpstr>
      <vt:lpstr>Courier New</vt:lpstr>
      <vt:lpstr>Wingdings</vt:lpstr>
      <vt:lpstr>Retrospect</vt:lpstr>
      <vt:lpstr>Unit 7  Loop Optimization and Pipelining</vt:lpstr>
      <vt:lpstr>Learning Objectives</vt:lpstr>
      <vt:lpstr>Outline</vt:lpstr>
      <vt:lpstr>Quadratic Example</vt:lpstr>
      <vt:lpstr>Finding the Critical Path</vt:lpstr>
      <vt:lpstr>Timing Diagram</vt:lpstr>
      <vt:lpstr>Multiplier Utilization</vt:lpstr>
      <vt:lpstr>Plotting the Utilization</vt:lpstr>
      <vt:lpstr>Best Utilization with Single Cycle Design</vt:lpstr>
      <vt:lpstr>A Two Cycle Design</vt:lpstr>
      <vt:lpstr>Three Stages</vt:lpstr>
      <vt:lpstr>Pipelining Timing Diagram</vt:lpstr>
      <vt:lpstr>Comparison</vt:lpstr>
      <vt:lpstr>General Pipelining for a Series</vt:lpstr>
      <vt:lpstr>Cycle-by-Cycle Timing</vt:lpstr>
      <vt:lpstr>Timing Terminology</vt:lpstr>
      <vt:lpstr>Timing Terminology Visualized</vt:lpstr>
      <vt:lpstr>Pipelining with Multiple Paths</vt:lpstr>
      <vt:lpstr>Multi-Path Pipelining: Identify Stages</vt:lpstr>
      <vt:lpstr>Multi-Path Pipelining: Register Locations</vt:lpstr>
      <vt:lpstr>Final Pipelined Diagram and Code</vt:lpstr>
      <vt:lpstr>Memory Accesses</vt:lpstr>
      <vt:lpstr>Outline</vt:lpstr>
      <vt:lpstr>Why Use Vitis HLS?</vt:lpstr>
      <vt:lpstr>Polynomial Loop Example</vt:lpstr>
      <vt:lpstr>Message Passing Protocol</vt:lpstr>
      <vt:lpstr>Define Data Structures</vt:lpstr>
      <vt:lpstr>Create a Python Golden Model</vt:lpstr>
      <vt:lpstr>Running the Golden Model</vt:lpstr>
      <vt:lpstr>Auto-Generate the Header Files</vt:lpstr>
      <vt:lpstr>Vitis Kernel Implementation</vt:lpstr>
      <vt:lpstr>Running Vitis CS</vt:lpstr>
      <vt:lpstr>Parsing the Results</vt:lpstr>
      <vt:lpstr>Pipelining Results</vt:lpstr>
      <vt:lpstr>Loop Carry Dependency </vt:lpstr>
      <vt:lpstr>Merge Sort Example</vt:lpstr>
      <vt:lpstr>Pipelining Limit</vt:lpstr>
      <vt:lpstr>Outline</vt:lpstr>
      <vt:lpstr>Loop Unrolling</vt:lpstr>
      <vt:lpstr>Loop Unrolling in Vitis</vt:lpstr>
      <vt:lpstr>Memory Bottleneck</vt:lpstr>
      <vt:lpstr>Single Port Memory</vt:lpstr>
      <vt:lpstr>Three Solutions</vt:lpstr>
      <vt:lpstr>Mutli-Port RAMs</vt:lpstr>
      <vt:lpstr>Using Wider Bit widths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Sundeep Rangan</dc:creator>
  <cp:lastModifiedBy>Sundeep Rangan</cp:lastModifiedBy>
  <cp:revision>753</cp:revision>
  <cp:lastPrinted>2018-09-04T19:00:14Z</cp:lastPrinted>
  <dcterms:created xsi:type="dcterms:W3CDTF">2015-03-22T11:15:32Z</dcterms:created>
  <dcterms:modified xsi:type="dcterms:W3CDTF">2026-04-01T12:36:18Z</dcterms:modified>
</cp:coreProperties>
</file>
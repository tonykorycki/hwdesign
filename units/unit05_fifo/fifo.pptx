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8" r:id="rId2"/>
    <p:sldId id="271" r:id="rId3"/>
    <p:sldId id="367" r:id="rId4"/>
    <p:sldId id="300" r:id="rId5"/>
    <p:sldId id="292" r:id="rId6"/>
    <p:sldId id="298" r:id="rId7"/>
    <p:sldId id="299" r:id="rId8"/>
    <p:sldId id="301" r:id="rId9"/>
    <p:sldId id="302" r:id="rId10"/>
    <p:sldId id="304" r:id="rId11"/>
    <p:sldId id="303" r:id="rId12"/>
    <p:sldId id="306" r:id="rId13"/>
    <p:sldId id="307" r:id="rId14"/>
    <p:sldId id="305" r:id="rId15"/>
    <p:sldId id="308" r:id="rId16"/>
    <p:sldId id="309" r:id="rId17"/>
    <p:sldId id="310" r:id="rId18"/>
    <p:sldId id="311" r:id="rId19"/>
    <p:sldId id="313" r:id="rId20"/>
    <p:sldId id="314" r:id="rId21"/>
    <p:sldId id="312" r:id="rId22"/>
    <p:sldId id="315" r:id="rId23"/>
    <p:sldId id="316" r:id="rId24"/>
    <p:sldId id="318" r:id="rId25"/>
    <p:sldId id="319" r:id="rId26"/>
    <p:sldId id="295" r:id="rId27"/>
    <p:sldId id="320" r:id="rId28"/>
    <p:sldId id="321" r:id="rId29"/>
    <p:sldId id="333" r:id="rId30"/>
    <p:sldId id="334" r:id="rId31"/>
    <p:sldId id="335" r:id="rId32"/>
    <p:sldId id="337" r:id="rId33"/>
    <p:sldId id="336" r:id="rId34"/>
    <p:sldId id="338" r:id="rId35"/>
    <p:sldId id="339" r:id="rId36"/>
    <p:sldId id="340" r:id="rId37"/>
    <p:sldId id="341" r:id="rId38"/>
    <p:sldId id="322" r:id="rId39"/>
    <p:sldId id="323" r:id="rId40"/>
    <p:sldId id="342" r:id="rId41"/>
    <p:sldId id="326" r:id="rId42"/>
    <p:sldId id="327" r:id="rId43"/>
    <p:sldId id="343" r:id="rId44"/>
    <p:sldId id="329" r:id="rId45"/>
    <p:sldId id="348" r:id="rId46"/>
    <p:sldId id="349" r:id="rId47"/>
    <p:sldId id="350" r:id="rId48"/>
    <p:sldId id="345" r:id="rId49"/>
    <p:sldId id="346" r:id="rId50"/>
    <p:sldId id="352" r:id="rId51"/>
    <p:sldId id="356" r:id="rId52"/>
    <p:sldId id="358" r:id="rId53"/>
    <p:sldId id="357" r:id="rId54"/>
    <p:sldId id="353" r:id="rId55"/>
    <p:sldId id="354" r:id="rId56"/>
    <p:sldId id="355" r:id="rId57"/>
    <p:sldId id="360" r:id="rId58"/>
    <p:sldId id="361" r:id="rId59"/>
    <p:sldId id="359" r:id="rId60"/>
    <p:sldId id="363" r:id="rId61"/>
    <p:sldId id="362" r:id="rId62"/>
    <p:sldId id="366" r:id="rId63"/>
    <p:sldId id="364" r:id="rId64"/>
    <p:sldId id="365" r:id="rId65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0F8E0"/>
    <a:srgbClr val="92278F"/>
    <a:srgbClr val="CADEB2"/>
    <a:srgbClr val="C9D3BD"/>
    <a:srgbClr val="FBF9FB"/>
    <a:srgbClr val="EAE5EB"/>
    <a:srgbClr val="CCFF99"/>
    <a:srgbClr val="E3DFF7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52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80.png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5 </a:t>
            </a:r>
            <a:br>
              <a:rPr lang="en-US" sz="6600" dirty="0"/>
            </a:br>
            <a:r>
              <a:rPr lang="en-US" sz="6600" dirty="0"/>
              <a:t>FIFOs and Streaming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operation and work out the timing of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FIFO</a:t>
            </a:r>
            <a:r>
              <a:rPr lang="en-US" dirty="0"/>
              <a:t> reads and writes</a:t>
            </a:r>
          </a:p>
          <a:p>
            <a:r>
              <a:rPr lang="en-US" dirty="0"/>
              <a:t>Describe and simulate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AXI4-Streaming</a:t>
            </a:r>
            <a:r>
              <a:rPr lang="en-US" dirty="0"/>
              <a:t> protocol</a:t>
            </a:r>
          </a:p>
          <a:p>
            <a:pPr lvl="1"/>
            <a:r>
              <a:rPr lang="en-US" dirty="0"/>
              <a:t>Pure streaming interfaces</a:t>
            </a:r>
          </a:p>
          <a:p>
            <a:pPr lvl="1"/>
            <a:r>
              <a:rPr lang="en-US" dirty="0"/>
              <a:t>Packetized streaming interfaces</a:t>
            </a:r>
          </a:p>
          <a:p>
            <a:r>
              <a:rPr lang="en-US" dirty="0"/>
              <a:t>Design simple streaming modules in Vitis HLS</a:t>
            </a:r>
          </a:p>
          <a:p>
            <a:r>
              <a:rPr lang="en-US" dirty="0"/>
              <a:t>Design robust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command and response packets </a:t>
            </a:r>
            <a:r>
              <a:rPr lang="en-US" dirty="0"/>
              <a:t>with:</a:t>
            </a:r>
          </a:p>
          <a:p>
            <a:pPr lvl="1"/>
            <a:r>
              <a:rPr lang="en-US" dirty="0"/>
              <a:t>Transactions IDs for detecting missed packets and error codes</a:t>
            </a:r>
          </a:p>
          <a:p>
            <a:r>
              <a:rPr lang="en-US" dirty="0"/>
              <a:t>Write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serialization</a:t>
            </a:r>
            <a:r>
              <a:rPr lang="en-US" dirty="0"/>
              <a:t> and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deserialization</a:t>
            </a:r>
            <a:r>
              <a:rPr lang="en-US" dirty="0"/>
              <a:t> methods</a:t>
            </a:r>
          </a:p>
          <a:p>
            <a:pPr lvl="1"/>
            <a:r>
              <a:rPr lang="en-US" dirty="0"/>
              <a:t>Manually and using an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interface description language</a:t>
            </a:r>
          </a:p>
          <a:p>
            <a:r>
              <a:rPr lang="en-US" dirty="0"/>
              <a:t>Implement packet-based streaming  modules in Vitis HLS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6090-7855-C9DD-9DCE-79F23A24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1046-19E3-684C-BF02-3202C3AC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E55E-752B-0314-96D7-EC9755044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FIFO Interfaces</a:t>
            </a:r>
          </a:p>
          <a:p>
            <a:r>
              <a:rPr lang="en-US" sz="2400" dirty="0"/>
              <a:t>AXI4 Pure Streaming Interface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 Packetized Streaming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B35C6-D5A6-B2D1-5BD1-DCD4DD94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B6917E2-2003-804F-5C92-A006B1A8BC5F}"/>
              </a:ext>
            </a:extLst>
          </p:cNvPr>
          <p:cNvSpPr/>
          <p:nvPr/>
        </p:nvSpPr>
        <p:spPr>
          <a:xfrm>
            <a:off x="388510" y="153927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1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F3B5-E3ED-C7A0-CCE1-8CAEA7423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B8647-A6FD-D808-7066-89DA839EF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motivate FIFOs, we review two problems we have encounter</a:t>
            </a:r>
          </a:p>
          <a:p>
            <a:r>
              <a:rPr lang="en-US" dirty="0"/>
              <a:t>Problem 1:  Low throughput on transfers with handshakes</a:t>
            </a:r>
          </a:p>
          <a:p>
            <a:r>
              <a:rPr lang="en-US" dirty="0"/>
              <a:t>Problem 2:  Idle time on systems with polling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0C407-5CCE-6AB8-8A7F-6449CA6A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68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F531127-1829-ED27-52AD-99C3854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21" y="1919577"/>
            <a:ext cx="6137805" cy="2456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B13BA9-9A46-4AF4-C293-986B5B8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Handshaking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05D-9304-4AEA-7E92-4A33FD03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C5B9-EA49-E72C-5486-8BB3EC84730B}"/>
              </a:ext>
            </a:extLst>
          </p:cNvPr>
          <p:cNvCxnSpPr>
            <a:cxnSpLocks/>
          </p:cNvCxnSpPr>
          <p:nvPr/>
        </p:nvCxnSpPr>
        <p:spPr>
          <a:xfrm>
            <a:off x="1789173" y="2252755"/>
            <a:ext cx="0" cy="29639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06A970-5A1A-9EB6-66EF-04774D5681AE}"/>
              </a:ext>
            </a:extLst>
          </p:cNvPr>
          <p:cNvCxnSpPr/>
          <p:nvPr/>
        </p:nvCxnSpPr>
        <p:spPr>
          <a:xfrm>
            <a:off x="4252869" y="2421104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D5BC62-C73C-14D6-6B9F-7F7AD0CBAD22}"/>
              </a:ext>
            </a:extLst>
          </p:cNvPr>
          <p:cNvSpPr txBox="1"/>
          <p:nvPr/>
        </p:nvSpPr>
        <p:spPr>
          <a:xfrm>
            <a:off x="2181466" y="4473130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B7E3F-44D7-38F5-2410-AF173B8D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8224" y="1524121"/>
            <a:ext cx="4870802" cy="4329817"/>
          </a:xfrm>
        </p:spPr>
        <p:txBody>
          <a:bodyPr>
            <a:normAutofit/>
          </a:bodyPr>
          <a:lstStyle/>
          <a:p>
            <a:r>
              <a:rPr lang="en-US" dirty="0"/>
              <a:t>Last Unit:  Transfers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handshake</a:t>
            </a:r>
          </a:p>
          <a:p>
            <a:pPr lvl="1"/>
            <a:r>
              <a:rPr lang="en-US" dirty="0"/>
              <a:t>Slave asserts READY</a:t>
            </a:r>
          </a:p>
          <a:p>
            <a:pPr lvl="1"/>
            <a:r>
              <a:rPr lang="en-US" dirty="0"/>
              <a:t>Master assert VALID</a:t>
            </a:r>
          </a:p>
          <a:p>
            <a:r>
              <a:rPr lang="en-US" dirty="0"/>
              <a:t>AXI4-Lite</a:t>
            </a:r>
          </a:p>
          <a:p>
            <a:pPr lvl="1"/>
            <a:r>
              <a:rPr lang="en-US" dirty="0"/>
              <a:t>Each read or write takes 2 to 4 cycles</a:t>
            </a:r>
          </a:p>
          <a:p>
            <a:r>
              <a:rPr lang="en-US" dirty="0"/>
              <a:t>Provides:</a:t>
            </a:r>
          </a:p>
          <a:p>
            <a:pPr lvl="1"/>
            <a:r>
              <a:rPr lang="en-US" dirty="0"/>
              <a:t>Guaranteed delivery</a:t>
            </a:r>
          </a:p>
          <a:p>
            <a:pPr lvl="1"/>
            <a:r>
              <a:rPr lang="en-US" dirty="0"/>
              <a:t>Flow control</a:t>
            </a:r>
          </a:p>
          <a:p>
            <a:r>
              <a:rPr lang="en-US" dirty="0"/>
              <a:t>But adds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overhead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1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C01E-3EE9-741A-5A04-908387C7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2:   Polling-Based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BDD3A-51D0-13E4-A484-D8D0BC6D5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3" y="1539277"/>
            <a:ext cx="5438634" cy="4329817"/>
          </a:xfrm>
        </p:spPr>
        <p:txBody>
          <a:bodyPr/>
          <a:lstStyle/>
          <a:p>
            <a:r>
              <a:rPr lang="en-US" dirty="0"/>
              <a:t>Execution model in previous unit:</a:t>
            </a:r>
          </a:p>
          <a:p>
            <a:pPr lvl="1"/>
            <a:r>
              <a:rPr lang="en-US" dirty="0"/>
              <a:t>PS writes input data</a:t>
            </a:r>
          </a:p>
          <a:p>
            <a:pPr lvl="1"/>
            <a:r>
              <a:rPr lang="en-US" dirty="0"/>
              <a:t>PS sets </a:t>
            </a:r>
            <a:r>
              <a:rPr lang="en-US" dirty="0" err="1"/>
              <a:t>ap_start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IP processes data</a:t>
            </a:r>
          </a:p>
          <a:p>
            <a:pPr lvl="1"/>
            <a:r>
              <a:rPr lang="en-US" dirty="0"/>
              <a:t>PS poll </a:t>
            </a:r>
            <a:r>
              <a:rPr lang="en-US" dirty="0" err="1"/>
              <a:t>ap_ready</a:t>
            </a:r>
            <a:r>
              <a:rPr lang="en-US" dirty="0"/>
              <a:t> until complete</a:t>
            </a:r>
          </a:p>
          <a:p>
            <a:pPr lvl="1"/>
            <a:r>
              <a:rPr lang="en-US" dirty="0"/>
              <a:t>PS reads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3C7EA-E9A9-94E5-F8BB-AEF49C2E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27C75-4A21-2206-4DE3-8A0A1BAB4C78}"/>
              </a:ext>
            </a:extLst>
          </p:cNvPr>
          <p:cNvSpPr/>
          <p:nvPr/>
        </p:nvSpPr>
        <p:spPr>
          <a:xfrm>
            <a:off x="7585514" y="2209306"/>
            <a:ext cx="914400" cy="2409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34CFC-6376-FF89-CA55-2DE1B451BEB4}"/>
              </a:ext>
            </a:extLst>
          </p:cNvPr>
          <p:cNvSpPr/>
          <p:nvPr/>
        </p:nvSpPr>
        <p:spPr>
          <a:xfrm>
            <a:off x="9744418" y="2182892"/>
            <a:ext cx="1057997" cy="24925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E42996-5739-3E6B-0B9E-CA24FC1910ED}"/>
              </a:ext>
            </a:extLst>
          </p:cNvPr>
          <p:cNvSpPr/>
          <p:nvPr/>
        </p:nvSpPr>
        <p:spPr>
          <a:xfrm>
            <a:off x="9891843" y="3173706"/>
            <a:ext cx="221925" cy="5746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045655-ED45-953B-5217-5B673EA0EED9}"/>
              </a:ext>
            </a:extLst>
          </p:cNvPr>
          <p:cNvSpPr txBox="1"/>
          <p:nvPr/>
        </p:nvSpPr>
        <p:spPr>
          <a:xfrm>
            <a:off x="7528663" y="1587929"/>
            <a:ext cx="1028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Processing</a:t>
            </a:r>
            <a:br>
              <a:rPr lang="en-US" sz="1400" dirty="0"/>
            </a:br>
            <a:r>
              <a:rPr lang="en-US" sz="1400" dirty="0"/>
              <a:t>System (PS)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0B679-EDBF-7D3B-931A-C32E519284B7}"/>
              </a:ext>
            </a:extLst>
          </p:cNvPr>
          <p:cNvSpPr txBox="1"/>
          <p:nvPr/>
        </p:nvSpPr>
        <p:spPr>
          <a:xfrm>
            <a:off x="9768158" y="1712767"/>
            <a:ext cx="1034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VITIS HLS IP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FD3926-516F-CF1B-6EAA-5DF4B0C26955}"/>
              </a:ext>
            </a:extLst>
          </p:cNvPr>
          <p:cNvCxnSpPr>
            <a:cxnSpLocks/>
          </p:cNvCxnSpPr>
          <p:nvPr/>
        </p:nvCxnSpPr>
        <p:spPr>
          <a:xfrm>
            <a:off x="8481788" y="3347803"/>
            <a:ext cx="1435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FBFEB6-C7B8-8456-4929-7D8E7FE4186F}"/>
              </a:ext>
            </a:extLst>
          </p:cNvPr>
          <p:cNvCxnSpPr>
            <a:cxnSpLocks/>
          </p:cNvCxnSpPr>
          <p:nvPr/>
        </p:nvCxnSpPr>
        <p:spPr>
          <a:xfrm flipH="1">
            <a:off x="8481788" y="3584547"/>
            <a:ext cx="14100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158B0A3-063F-E7C5-11F6-A609ABAFD9AB}"/>
              </a:ext>
            </a:extLst>
          </p:cNvPr>
          <p:cNvSpPr txBox="1"/>
          <p:nvPr/>
        </p:nvSpPr>
        <p:spPr>
          <a:xfrm>
            <a:off x="8647338" y="3040026"/>
            <a:ext cx="792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ap_start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7D7F36-0812-53C8-9D1D-30BA5FDB03E9}"/>
              </a:ext>
            </a:extLst>
          </p:cNvPr>
          <p:cNvSpPr txBox="1"/>
          <p:nvPr/>
        </p:nvSpPr>
        <p:spPr>
          <a:xfrm>
            <a:off x="8647338" y="3550296"/>
            <a:ext cx="868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ap_ready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BADA06-B6DF-7047-EE69-F44B7E31AD66}"/>
              </a:ext>
            </a:extLst>
          </p:cNvPr>
          <p:cNvSpPr/>
          <p:nvPr/>
        </p:nvSpPr>
        <p:spPr>
          <a:xfrm>
            <a:off x="9891843" y="2390985"/>
            <a:ext cx="221925" cy="574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B13763-99F7-2E9D-DF98-F2E244695899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8497425" y="2675488"/>
            <a:ext cx="1394418" cy="2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98F1E98-C246-15D9-358A-D9C512DE2119}"/>
              </a:ext>
            </a:extLst>
          </p:cNvPr>
          <p:cNvSpPr txBox="1"/>
          <p:nvPr/>
        </p:nvSpPr>
        <p:spPr>
          <a:xfrm>
            <a:off x="8592598" y="2313645"/>
            <a:ext cx="1059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Write input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6F9B5-9976-A278-6C71-F55654B33F7D}"/>
              </a:ext>
            </a:extLst>
          </p:cNvPr>
          <p:cNvSpPr/>
          <p:nvPr/>
        </p:nvSpPr>
        <p:spPr>
          <a:xfrm>
            <a:off x="9891842" y="3969549"/>
            <a:ext cx="221925" cy="57462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E0B2DC-E21D-EC3E-B4EC-47DF4D1312B7}"/>
              </a:ext>
            </a:extLst>
          </p:cNvPr>
          <p:cNvCxnSpPr>
            <a:cxnSpLocks/>
          </p:cNvCxnSpPr>
          <p:nvPr/>
        </p:nvCxnSpPr>
        <p:spPr>
          <a:xfrm flipH="1">
            <a:off x="8497425" y="4256863"/>
            <a:ext cx="13944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CB50783-8B99-6052-5910-7FC8E8BA7347}"/>
              </a:ext>
            </a:extLst>
          </p:cNvPr>
          <p:cNvSpPr txBox="1"/>
          <p:nvPr/>
        </p:nvSpPr>
        <p:spPr>
          <a:xfrm>
            <a:off x="8610354" y="4256863"/>
            <a:ext cx="1130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Read output </a:t>
            </a:r>
          </a:p>
        </p:txBody>
      </p:sp>
    </p:spTree>
    <p:extLst>
      <p:ext uri="{BB962C8B-B14F-4D97-AF65-F5344CB8AC3E}">
        <p14:creationId xmlns:p14="http://schemas.microsoft.com/office/powerpoint/2010/main" val="288806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CD84-29C8-A756-8668-01941F2E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4D34-3714-5597-01DC-0226224B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2:  Time Wastage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B06B-33DC-A346-6C4B-A54054107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3" y="4203510"/>
            <a:ext cx="8993082" cy="1665584"/>
          </a:xfrm>
        </p:spPr>
        <p:txBody>
          <a:bodyPr/>
          <a:lstStyle/>
          <a:p>
            <a:r>
              <a:rPr lang="en-US" dirty="0"/>
              <a:t>Several overhead times on both the PS and IP</a:t>
            </a:r>
          </a:p>
          <a:p>
            <a:pPr lvl="1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Transfer</a:t>
            </a:r>
            <a:r>
              <a:rPr lang="en-US" dirty="0"/>
              <a:t>:  PS spends time transferring data in and out of IP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Polling</a:t>
            </a:r>
            <a:r>
              <a:rPr lang="en-US" dirty="0"/>
              <a:t>:  PS must poll while IP is processing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Idle</a:t>
            </a:r>
            <a:r>
              <a:rPr lang="en-US" dirty="0"/>
              <a:t>:  IP is idle during transfer and wait for control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B344-F26F-DC7E-48DA-D76817C4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50C9D33-B69A-FBAF-CE9D-42EE2313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092" y="1586122"/>
            <a:ext cx="81915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9E95-DB1A-206C-7660-D21AAB1A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FA9A6-F746-5BED-9AA2-07E8543D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3682A-0019-5253-EEE1-E28A2C0777E0}"/>
              </a:ext>
            </a:extLst>
          </p:cNvPr>
          <p:cNvSpPr/>
          <p:nvPr/>
        </p:nvSpPr>
        <p:spPr>
          <a:xfrm>
            <a:off x="9346794" y="2585820"/>
            <a:ext cx="996991" cy="15676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0BA8D-AF4A-950F-FB8C-754F5E8E9187}"/>
              </a:ext>
            </a:extLst>
          </p:cNvPr>
          <p:cNvSpPr/>
          <p:nvPr/>
        </p:nvSpPr>
        <p:spPr>
          <a:xfrm>
            <a:off x="9346796" y="3928969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0F7964-D19E-7733-931C-D535D8D781BD}"/>
              </a:ext>
            </a:extLst>
          </p:cNvPr>
          <p:cNvSpPr/>
          <p:nvPr/>
        </p:nvSpPr>
        <p:spPr>
          <a:xfrm>
            <a:off x="9346796" y="3703375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382078-74B5-1D51-7C47-C8E6E0E1CB80}"/>
              </a:ext>
            </a:extLst>
          </p:cNvPr>
          <p:cNvSpPr/>
          <p:nvPr/>
        </p:nvSpPr>
        <p:spPr>
          <a:xfrm>
            <a:off x="9346796" y="3477781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B3D02F-E7D4-4553-5EAA-49662FA8542C}"/>
              </a:ext>
            </a:extLst>
          </p:cNvPr>
          <p:cNvSpPr/>
          <p:nvPr/>
        </p:nvSpPr>
        <p:spPr>
          <a:xfrm>
            <a:off x="9346796" y="3036726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6E56E2-D237-4090-4F5C-2ADD84554308}"/>
              </a:ext>
            </a:extLst>
          </p:cNvPr>
          <p:cNvSpPr/>
          <p:nvPr/>
        </p:nvSpPr>
        <p:spPr>
          <a:xfrm>
            <a:off x="9346796" y="3260652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26EB8C-8430-DA89-F9E9-487930F57856}"/>
              </a:ext>
            </a:extLst>
          </p:cNvPr>
          <p:cNvSpPr/>
          <p:nvPr/>
        </p:nvSpPr>
        <p:spPr>
          <a:xfrm>
            <a:off x="9346795" y="2811273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3F4C0-32F9-0986-9174-B7CC1D1544F3}"/>
              </a:ext>
            </a:extLst>
          </p:cNvPr>
          <p:cNvSpPr/>
          <p:nvPr/>
        </p:nvSpPr>
        <p:spPr>
          <a:xfrm>
            <a:off x="9346794" y="2585820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7B507-9857-622F-AB9F-F6AC6F14D4D2}"/>
              </a:ext>
            </a:extLst>
          </p:cNvPr>
          <p:cNvSpPr txBox="1"/>
          <p:nvPr/>
        </p:nvSpPr>
        <p:spPr>
          <a:xfrm>
            <a:off x="9305231" y="1440010"/>
            <a:ext cx="10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Producer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7424DAD-F1A8-7F15-3974-4673DBC5428B}"/>
              </a:ext>
            </a:extLst>
          </p:cNvPr>
          <p:cNvSpPr/>
          <p:nvPr/>
        </p:nvSpPr>
        <p:spPr>
          <a:xfrm>
            <a:off x="9678341" y="1873618"/>
            <a:ext cx="324465" cy="60674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CFD7DEF-3B74-3740-4D36-5B59A3DF3C53}"/>
              </a:ext>
            </a:extLst>
          </p:cNvPr>
          <p:cNvSpPr/>
          <p:nvPr/>
        </p:nvSpPr>
        <p:spPr>
          <a:xfrm>
            <a:off x="9678341" y="4377247"/>
            <a:ext cx="324465" cy="60674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6A8546-48A0-4A73-F3CA-76F0D7674C6C}"/>
              </a:ext>
            </a:extLst>
          </p:cNvPr>
          <p:cNvSpPr txBox="1"/>
          <p:nvPr/>
        </p:nvSpPr>
        <p:spPr>
          <a:xfrm>
            <a:off x="9200523" y="5074575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513E9B7-A77D-8FD3-D4E7-FA7A40A1D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539875"/>
            <a:ext cx="5079662" cy="432911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FIFO</a:t>
            </a:r>
            <a:r>
              <a:rPr lang="en-US" dirty="0"/>
              <a:t> (First-In First-Out) hardware queue</a:t>
            </a:r>
          </a:p>
          <a:p>
            <a:pPr lvl="1"/>
            <a:r>
              <a:rPr lang="en-US" dirty="0"/>
              <a:t>Stores data from a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producer</a:t>
            </a:r>
            <a:r>
              <a:rPr lang="en-US" dirty="0"/>
              <a:t> in order of arrival</a:t>
            </a:r>
          </a:p>
          <a:p>
            <a:pPr lvl="1"/>
            <a:r>
              <a:rPr lang="en-US" dirty="0"/>
              <a:t>Returns data to 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consumer</a:t>
            </a:r>
            <a:r>
              <a:rPr lang="en-US" dirty="0"/>
              <a:t> in same order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Decouples</a:t>
            </a:r>
            <a:r>
              <a:rPr lang="en-US" dirty="0"/>
              <a:t> producer and consumer timing</a:t>
            </a:r>
          </a:p>
          <a:p>
            <a:pPr lvl="1"/>
            <a:r>
              <a:rPr lang="en-US" dirty="0"/>
              <a:t>Each side can run at their own pace</a:t>
            </a:r>
          </a:p>
          <a:p>
            <a:r>
              <a:rPr lang="en-US" dirty="0"/>
              <a:t>Built-in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flow control</a:t>
            </a:r>
          </a:p>
          <a:p>
            <a:pPr lvl="1"/>
            <a:r>
              <a:rPr lang="en-US" dirty="0"/>
              <a:t>Producer checks if FIFO is full</a:t>
            </a:r>
          </a:p>
          <a:p>
            <a:pPr lvl="1"/>
            <a:r>
              <a:rPr lang="en-US" dirty="0"/>
              <a:t>Consumer checks if FIFO is not empty</a:t>
            </a:r>
          </a:p>
          <a:p>
            <a:r>
              <a:rPr lang="en-US" dirty="0"/>
              <a:t>Absorbs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bursts</a:t>
            </a:r>
            <a:r>
              <a:rPr lang="en-US" dirty="0"/>
              <a:t> of data</a:t>
            </a:r>
          </a:p>
          <a:p>
            <a:r>
              <a:rPr lang="en-US" dirty="0"/>
              <a:t>Enables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streaming</a:t>
            </a:r>
            <a:r>
              <a:rPr lang="en-US" dirty="0"/>
              <a:t> behavior</a:t>
            </a:r>
          </a:p>
        </p:txBody>
      </p:sp>
    </p:spTree>
    <p:extLst>
      <p:ext uri="{BB962C8B-B14F-4D97-AF65-F5344CB8AC3E}">
        <p14:creationId xmlns:p14="http://schemas.microsoft.com/office/powerpoint/2010/main" val="92958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248B-A19B-0029-B27B-C1CBEF83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9D71D-D987-6A7B-19C3-CB1C416DD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946550" cy="432981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Producer</a:t>
            </a:r>
            <a:r>
              <a:rPr lang="en-US" dirty="0"/>
              <a:t>:  Module that writes to FIFO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write</a:t>
            </a:r>
            <a:r>
              <a:rPr lang="en-US" dirty="0"/>
              <a:t> adds an element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Consumer</a:t>
            </a:r>
            <a:r>
              <a:rPr lang="en-US" dirty="0"/>
              <a:t>:  Modules that reads from FIFO 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read</a:t>
            </a:r>
            <a:r>
              <a:rPr lang="en-US" dirty="0"/>
              <a:t> removes an element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</a:t>
            </a:r>
            <a:r>
              <a:rPr lang="en-US" dirty="0"/>
              <a:t>:  Logical item stored in the FIFO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 width</a:t>
            </a:r>
            <a:r>
              <a:rPr lang="en-US" dirty="0"/>
              <a:t>:  Size of each element</a:t>
            </a:r>
          </a:p>
          <a:p>
            <a:pPr lvl="1"/>
            <a:r>
              <a:rPr lang="en-US" dirty="0"/>
              <a:t>Typically, in bytes or bits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Depth</a:t>
            </a:r>
            <a:r>
              <a:rPr lang="en-US" dirty="0"/>
              <a:t>:  Maximum number of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8E41-64A8-853E-E3CA-71F796E6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53F15-F20E-0DC4-13DE-E695DC514283}"/>
              </a:ext>
            </a:extLst>
          </p:cNvPr>
          <p:cNvSpPr/>
          <p:nvPr/>
        </p:nvSpPr>
        <p:spPr>
          <a:xfrm>
            <a:off x="9428681" y="3152202"/>
            <a:ext cx="996991" cy="15676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D3E5D8-BAB3-5546-9C18-C149A0472660}"/>
              </a:ext>
            </a:extLst>
          </p:cNvPr>
          <p:cNvSpPr/>
          <p:nvPr/>
        </p:nvSpPr>
        <p:spPr>
          <a:xfrm>
            <a:off x="9428683" y="4495351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0BF63-87A8-C98B-B5E3-E5DA1AE27985}"/>
              </a:ext>
            </a:extLst>
          </p:cNvPr>
          <p:cNvSpPr/>
          <p:nvPr/>
        </p:nvSpPr>
        <p:spPr>
          <a:xfrm>
            <a:off x="9428683" y="4269757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D5795C-4C9B-1226-96B2-6E13D66AD779}"/>
              </a:ext>
            </a:extLst>
          </p:cNvPr>
          <p:cNvSpPr/>
          <p:nvPr/>
        </p:nvSpPr>
        <p:spPr>
          <a:xfrm>
            <a:off x="9428683" y="4044163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4A87C2-E582-6954-53CE-240E69B97E70}"/>
              </a:ext>
            </a:extLst>
          </p:cNvPr>
          <p:cNvSpPr/>
          <p:nvPr/>
        </p:nvSpPr>
        <p:spPr>
          <a:xfrm>
            <a:off x="9428683" y="3603108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6690DF-79A3-6D1B-236E-2E346BE928BC}"/>
              </a:ext>
            </a:extLst>
          </p:cNvPr>
          <p:cNvSpPr/>
          <p:nvPr/>
        </p:nvSpPr>
        <p:spPr>
          <a:xfrm>
            <a:off x="9428683" y="3827034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AA0912-65E3-6412-127B-6F23E0933335}"/>
              </a:ext>
            </a:extLst>
          </p:cNvPr>
          <p:cNvSpPr/>
          <p:nvPr/>
        </p:nvSpPr>
        <p:spPr>
          <a:xfrm>
            <a:off x="9428682" y="3377655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D028C5-0FE8-ECE8-B430-6C2A15652D36}"/>
              </a:ext>
            </a:extLst>
          </p:cNvPr>
          <p:cNvSpPr/>
          <p:nvPr/>
        </p:nvSpPr>
        <p:spPr>
          <a:xfrm>
            <a:off x="9428681" y="3152202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564028-547E-5F34-A3F6-C531F719157D}"/>
              </a:ext>
            </a:extLst>
          </p:cNvPr>
          <p:cNvSpPr txBox="1"/>
          <p:nvPr/>
        </p:nvSpPr>
        <p:spPr>
          <a:xfrm>
            <a:off x="9387386" y="1566274"/>
            <a:ext cx="10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Producer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A2FCD446-E13F-A548-3C19-3DED60FE24A6}"/>
              </a:ext>
            </a:extLst>
          </p:cNvPr>
          <p:cNvSpPr/>
          <p:nvPr/>
        </p:nvSpPr>
        <p:spPr>
          <a:xfrm>
            <a:off x="9772153" y="2015513"/>
            <a:ext cx="324465" cy="60674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99ECF50-45B1-8ECA-37BA-4CB7FC2B606A}"/>
              </a:ext>
            </a:extLst>
          </p:cNvPr>
          <p:cNvSpPr/>
          <p:nvPr/>
        </p:nvSpPr>
        <p:spPr>
          <a:xfrm>
            <a:off x="9760228" y="4943629"/>
            <a:ext cx="324465" cy="60674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145875-9BE6-4042-5DB5-4188D0D63C12}"/>
              </a:ext>
            </a:extLst>
          </p:cNvPr>
          <p:cNvSpPr txBox="1"/>
          <p:nvPr/>
        </p:nvSpPr>
        <p:spPr>
          <a:xfrm>
            <a:off x="9428681" y="5637779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7B98D-F001-E00B-3307-0775C2006C67}"/>
              </a:ext>
            </a:extLst>
          </p:cNvPr>
          <p:cNvSpPr txBox="1"/>
          <p:nvPr/>
        </p:nvSpPr>
        <p:spPr>
          <a:xfrm>
            <a:off x="6904989" y="3978028"/>
            <a:ext cx="1437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FIFO element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740187-7464-1034-4EAF-9B74791495BC}"/>
              </a:ext>
            </a:extLst>
          </p:cNvPr>
          <p:cNvCxnSpPr>
            <a:cxnSpLocks/>
          </p:cNvCxnSpPr>
          <p:nvPr/>
        </p:nvCxnSpPr>
        <p:spPr>
          <a:xfrm>
            <a:off x="8342243" y="4156959"/>
            <a:ext cx="936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5AD8938-A581-2E2E-6CA1-19EA46E1A5C3}"/>
              </a:ext>
            </a:extLst>
          </p:cNvPr>
          <p:cNvSpPr txBox="1"/>
          <p:nvPr/>
        </p:nvSpPr>
        <p:spPr>
          <a:xfrm>
            <a:off x="7434416" y="2754634"/>
            <a:ext cx="155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 width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CBFF60-F899-A929-F902-F0E35DB07A25}"/>
              </a:ext>
            </a:extLst>
          </p:cNvPr>
          <p:cNvCxnSpPr/>
          <p:nvPr/>
        </p:nvCxnSpPr>
        <p:spPr>
          <a:xfrm>
            <a:off x="9428681" y="2777319"/>
            <a:ext cx="0" cy="259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C1BBAF-3FD3-E2B0-57F6-EFE44056BC5A}"/>
              </a:ext>
            </a:extLst>
          </p:cNvPr>
          <p:cNvCxnSpPr/>
          <p:nvPr/>
        </p:nvCxnSpPr>
        <p:spPr>
          <a:xfrm>
            <a:off x="10425672" y="2777319"/>
            <a:ext cx="0" cy="259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7640F8-36E5-8B5F-46BA-18597E89C611}"/>
              </a:ext>
            </a:extLst>
          </p:cNvPr>
          <p:cNvCxnSpPr>
            <a:cxnSpLocks/>
          </p:cNvCxnSpPr>
          <p:nvPr/>
        </p:nvCxnSpPr>
        <p:spPr>
          <a:xfrm>
            <a:off x="8949321" y="2939300"/>
            <a:ext cx="479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6B51BE-7323-EF31-2910-AB9DB39769C1}"/>
              </a:ext>
            </a:extLst>
          </p:cNvPr>
          <p:cNvCxnSpPr>
            <a:cxnSpLocks/>
          </p:cNvCxnSpPr>
          <p:nvPr/>
        </p:nvCxnSpPr>
        <p:spPr>
          <a:xfrm>
            <a:off x="9443100" y="2939300"/>
            <a:ext cx="9825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2FF852-5C3A-C922-5000-33C125097BD2}"/>
              </a:ext>
            </a:extLst>
          </p:cNvPr>
          <p:cNvCxnSpPr>
            <a:cxnSpLocks/>
          </p:cNvCxnSpPr>
          <p:nvPr/>
        </p:nvCxnSpPr>
        <p:spPr>
          <a:xfrm flipH="1">
            <a:off x="10525063" y="3152202"/>
            <a:ext cx="4676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2E7743-78B7-6543-10DC-8FAEAC14A934}"/>
              </a:ext>
            </a:extLst>
          </p:cNvPr>
          <p:cNvCxnSpPr>
            <a:cxnSpLocks/>
          </p:cNvCxnSpPr>
          <p:nvPr/>
        </p:nvCxnSpPr>
        <p:spPr>
          <a:xfrm flipH="1">
            <a:off x="10525063" y="4715096"/>
            <a:ext cx="460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DDEC9A-FA1E-108C-9753-EC05204430E9}"/>
              </a:ext>
            </a:extLst>
          </p:cNvPr>
          <p:cNvCxnSpPr>
            <a:cxnSpLocks/>
          </p:cNvCxnSpPr>
          <p:nvPr/>
        </p:nvCxnSpPr>
        <p:spPr>
          <a:xfrm flipV="1">
            <a:off x="10658819" y="3152202"/>
            <a:ext cx="0" cy="15763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20185AD-5099-8E0F-C1A4-77D4A9DC12E7}"/>
              </a:ext>
            </a:extLst>
          </p:cNvPr>
          <p:cNvSpPr txBox="1"/>
          <p:nvPr/>
        </p:nvSpPr>
        <p:spPr>
          <a:xfrm>
            <a:off x="10658819" y="3722570"/>
            <a:ext cx="762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3445235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0238-F5D9-F747-6B42-19159BBD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26FD-99FB-8C1D-3F4E-7FE010AD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E5730-EBB3-FDCB-7D4D-2B7DDF666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946550" cy="432981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Suppose FIFO writes A, B, C</a:t>
            </a:r>
          </a:p>
          <a:p>
            <a:r>
              <a:rPr lang="en-US" dirty="0">
                <a:solidFill>
                  <a:schemeClr val="tx1"/>
                </a:solidFill>
              </a:rPr>
              <a:t>Then: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 is at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head</a:t>
            </a:r>
            <a:r>
              <a:rPr lang="en-US" dirty="0">
                <a:solidFill>
                  <a:schemeClr val="tx1"/>
                </a:solidFill>
              </a:rPr>
              <a:t> of the queue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 is at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tail</a:t>
            </a:r>
          </a:p>
          <a:p>
            <a:r>
              <a:rPr lang="en-US" dirty="0">
                <a:solidFill>
                  <a:schemeClr val="tx1"/>
                </a:solidFill>
              </a:rPr>
              <a:t>Consumer reads from the head</a:t>
            </a:r>
          </a:p>
          <a:p>
            <a:r>
              <a:rPr lang="en-US" dirty="0">
                <a:solidFill>
                  <a:schemeClr val="tx1"/>
                </a:solidFill>
              </a:rPr>
              <a:t>Will read in order A, B, C</a:t>
            </a:r>
          </a:p>
          <a:p>
            <a:r>
              <a:rPr lang="en-US" dirty="0">
                <a:solidFill>
                  <a:schemeClr val="tx1"/>
                </a:solidFill>
              </a:rPr>
              <a:t>Same order as the write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E789F-09F8-8E6B-DD67-0C1D91F4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B7B96-F4C7-539B-6FFE-08D10BE7CAB3}"/>
              </a:ext>
            </a:extLst>
          </p:cNvPr>
          <p:cNvSpPr/>
          <p:nvPr/>
        </p:nvSpPr>
        <p:spPr>
          <a:xfrm>
            <a:off x="9428681" y="3152202"/>
            <a:ext cx="996991" cy="15676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1B6C-D257-BFBF-0397-D199C9FAA273}"/>
              </a:ext>
            </a:extLst>
          </p:cNvPr>
          <p:cNvSpPr/>
          <p:nvPr/>
        </p:nvSpPr>
        <p:spPr>
          <a:xfrm>
            <a:off x="9428683" y="4495351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5C331-E9A3-D975-FC22-782D559ACE6A}"/>
              </a:ext>
            </a:extLst>
          </p:cNvPr>
          <p:cNvSpPr/>
          <p:nvPr/>
        </p:nvSpPr>
        <p:spPr>
          <a:xfrm>
            <a:off x="9428683" y="4269757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A7D2A4-46B6-736C-5196-097A99D039AC}"/>
              </a:ext>
            </a:extLst>
          </p:cNvPr>
          <p:cNvSpPr/>
          <p:nvPr/>
        </p:nvSpPr>
        <p:spPr>
          <a:xfrm>
            <a:off x="9428683" y="4044163"/>
            <a:ext cx="996991" cy="225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F13156-C1AB-D19F-8699-7D83807F767B}"/>
              </a:ext>
            </a:extLst>
          </p:cNvPr>
          <p:cNvSpPr/>
          <p:nvPr/>
        </p:nvSpPr>
        <p:spPr>
          <a:xfrm>
            <a:off x="9428683" y="3603108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063BB2-8321-B11B-86F0-5F2623E63BEC}"/>
              </a:ext>
            </a:extLst>
          </p:cNvPr>
          <p:cNvSpPr/>
          <p:nvPr/>
        </p:nvSpPr>
        <p:spPr>
          <a:xfrm>
            <a:off x="9428683" y="3827034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0AD5B8-CEA1-E8ED-911B-ED22B85FE3F6}"/>
              </a:ext>
            </a:extLst>
          </p:cNvPr>
          <p:cNvSpPr/>
          <p:nvPr/>
        </p:nvSpPr>
        <p:spPr>
          <a:xfrm>
            <a:off x="9428682" y="3377655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D9144A-DEEB-9391-608F-30AB2D572DB0}"/>
              </a:ext>
            </a:extLst>
          </p:cNvPr>
          <p:cNvSpPr/>
          <p:nvPr/>
        </p:nvSpPr>
        <p:spPr>
          <a:xfrm>
            <a:off x="9428681" y="3152202"/>
            <a:ext cx="996991" cy="22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E02B72-A130-3E4D-5A74-D1683AF128E2}"/>
              </a:ext>
            </a:extLst>
          </p:cNvPr>
          <p:cNvSpPr txBox="1"/>
          <p:nvPr/>
        </p:nvSpPr>
        <p:spPr>
          <a:xfrm>
            <a:off x="8697263" y="1580874"/>
            <a:ext cx="2606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Producer writes A, B, C, …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A56CE58B-1CCF-9D45-EC6B-A903D223C66D}"/>
              </a:ext>
            </a:extLst>
          </p:cNvPr>
          <p:cNvSpPr/>
          <p:nvPr/>
        </p:nvSpPr>
        <p:spPr>
          <a:xfrm>
            <a:off x="9772153" y="2015513"/>
            <a:ext cx="324465" cy="60674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53BB831-C907-E81D-48AD-0115F5FE8E5C}"/>
              </a:ext>
            </a:extLst>
          </p:cNvPr>
          <p:cNvSpPr/>
          <p:nvPr/>
        </p:nvSpPr>
        <p:spPr>
          <a:xfrm>
            <a:off x="9760228" y="4943629"/>
            <a:ext cx="324465" cy="60674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2DDEE7-108C-0C8C-1C7E-7F049403C158}"/>
              </a:ext>
            </a:extLst>
          </p:cNvPr>
          <p:cNvSpPr txBox="1"/>
          <p:nvPr/>
        </p:nvSpPr>
        <p:spPr>
          <a:xfrm>
            <a:off x="8408264" y="5639436"/>
            <a:ext cx="236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Consumer reads A, B, 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CF3B92-AA25-385A-08EE-51AAB083731C}"/>
              </a:ext>
            </a:extLst>
          </p:cNvPr>
          <p:cNvSpPr txBox="1"/>
          <p:nvPr/>
        </p:nvSpPr>
        <p:spPr>
          <a:xfrm>
            <a:off x="7805139" y="3972293"/>
            <a:ext cx="4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Tail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0ABF3F-3F43-A79E-5F6A-0B36DF4F569C}"/>
              </a:ext>
            </a:extLst>
          </p:cNvPr>
          <p:cNvCxnSpPr>
            <a:cxnSpLocks/>
          </p:cNvCxnSpPr>
          <p:nvPr/>
        </p:nvCxnSpPr>
        <p:spPr>
          <a:xfrm>
            <a:off x="8342243" y="4156959"/>
            <a:ext cx="936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910BD4D-5931-6D88-C4B5-AE1A38F27CA2}"/>
              </a:ext>
            </a:extLst>
          </p:cNvPr>
          <p:cNvSpPr txBox="1"/>
          <p:nvPr/>
        </p:nvSpPr>
        <p:spPr>
          <a:xfrm>
            <a:off x="7623615" y="449535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82BED0-769B-3C0F-6534-50FF8E7B8E31}"/>
              </a:ext>
            </a:extLst>
          </p:cNvPr>
          <p:cNvCxnSpPr>
            <a:cxnSpLocks/>
          </p:cNvCxnSpPr>
          <p:nvPr/>
        </p:nvCxnSpPr>
        <p:spPr>
          <a:xfrm>
            <a:off x="8342243" y="4674281"/>
            <a:ext cx="936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6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E21C-F4E5-44B6-4B2D-F2CC11AA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81DA7-BF27-7DA7-F319-05592010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299F1D-9FE6-A478-B3FE-FD7ECF5A0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52" y="1522314"/>
            <a:ext cx="7236412" cy="449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16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57B5-9610-0FE0-B860-0DAD7723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D64CC-C549-DBA3-261A-7DBEA084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5FE440-CDF1-0D29-A4AB-2FB7491D6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539151"/>
            <a:ext cx="9658953" cy="272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09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E5B7-13BA-923D-4588-EAA3AB01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4D479-79D1-E725-975B-9A04F71A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6EAF8-75C2-007D-8D93-DA4EC2966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12" y="1688164"/>
            <a:ext cx="5172341" cy="2790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A592D-1E00-7249-541F-1088E99C6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531" y="2302557"/>
            <a:ext cx="4385307" cy="190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69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5989-CB62-DE70-E2ED-253AA098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FA5A-8E25-4096-9A7D-A97348D5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producer tries to write an element when FIFO is full</a:t>
            </a:r>
          </a:p>
          <a:p>
            <a:r>
              <a:rPr lang="en-US" dirty="0"/>
              <a:t>Two possible behaviors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Blocking write</a:t>
            </a:r>
          </a:p>
          <a:p>
            <a:pPr lvl="1"/>
            <a:r>
              <a:rPr lang="en-US" dirty="0"/>
              <a:t>FIFO signal not READY</a:t>
            </a:r>
          </a:p>
          <a:p>
            <a:pPr lvl="1"/>
            <a:r>
              <a:rPr lang="en-US" dirty="0"/>
              <a:t>Producer waits </a:t>
            </a:r>
          </a:p>
          <a:p>
            <a:pPr lvl="1"/>
            <a:r>
              <a:rPr lang="en-US" dirty="0"/>
              <a:t>Default behavior in most hardware interfaces (including AXI-Stream)</a:t>
            </a:r>
          </a:p>
          <a:p>
            <a:pPr lvl="1"/>
            <a:r>
              <a:rPr lang="en-US" dirty="0"/>
              <a:t>Also called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stall</a:t>
            </a:r>
            <a:r>
              <a:rPr lang="en-US" dirty="0"/>
              <a:t>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backpressure</a:t>
            </a:r>
            <a:r>
              <a:rPr lang="en-US" dirty="0"/>
              <a:t> or flow control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Drop</a:t>
            </a:r>
          </a:p>
          <a:p>
            <a:pPr lvl="1"/>
            <a:r>
              <a:rPr lang="en-US" dirty="0"/>
              <a:t>Drops some packet in queues</a:t>
            </a:r>
          </a:p>
          <a:p>
            <a:pPr lvl="1"/>
            <a:r>
              <a:rPr lang="en-US" dirty="0"/>
              <a:t>Head, tail, or random</a:t>
            </a:r>
          </a:p>
          <a:p>
            <a:pPr lvl="1"/>
            <a:r>
              <a:rPr lang="en-US" dirty="0"/>
              <a:t>Common in network routers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58881-DDFC-D8EB-4783-E949E60C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9E7AB-754F-E2F3-C664-DD46E41A686E}"/>
              </a:ext>
            </a:extLst>
          </p:cNvPr>
          <p:cNvSpPr txBox="1"/>
          <p:nvPr/>
        </p:nvSpPr>
        <p:spPr>
          <a:xfrm>
            <a:off x="9305231" y="1440010"/>
            <a:ext cx="10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Producer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54E94A3-F705-5E98-2211-CDF2796D5784}"/>
              </a:ext>
            </a:extLst>
          </p:cNvPr>
          <p:cNvSpPr/>
          <p:nvPr/>
        </p:nvSpPr>
        <p:spPr>
          <a:xfrm>
            <a:off x="9678341" y="1873618"/>
            <a:ext cx="324465" cy="60674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596A11A-20B7-EC7C-0F89-A1EB09FCF63F}"/>
              </a:ext>
            </a:extLst>
          </p:cNvPr>
          <p:cNvSpPr/>
          <p:nvPr/>
        </p:nvSpPr>
        <p:spPr>
          <a:xfrm>
            <a:off x="9678341" y="4377247"/>
            <a:ext cx="324465" cy="60674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A57124-F88C-76ED-A9C8-4AA0DA94B26A}"/>
              </a:ext>
            </a:extLst>
          </p:cNvPr>
          <p:cNvSpPr txBox="1"/>
          <p:nvPr/>
        </p:nvSpPr>
        <p:spPr>
          <a:xfrm>
            <a:off x="9200523" y="5074575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9E549-E8A3-0242-023B-151D70F434E5}"/>
              </a:ext>
            </a:extLst>
          </p:cNvPr>
          <p:cNvSpPr/>
          <p:nvPr/>
        </p:nvSpPr>
        <p:spPr>
          <a:xfrm>
            <a:off x="9305233" y="3958380"/>
            <a:ext cx="996991" cy="22559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E34E9A-5F86-DED6-B283-B850C6B15CFC}"/>
              </a:ext>
            </a:extLst>
          </p:cNvPr>
          <p:cNvSpPr/>
          <p:nvPr/>
        </p:nvSpPr>
        <p:spPr>
          <a:xfrm>
            <a:off x="9305233" y="3732786"/>
            <a:ext cx="996991" cy="22559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2E4C95-EF46-88AC-31E0-37EC96E675FE}"/>
              </a:ext>
            </a:extLst>
          </p:cNvPr>
          <p:cNvSpPr/>
          <p:nvPr/>
        </p:nvSpPr>
        <p:spPr>
          <a:xfrm>
            <a:off x="9305233" y="3507192"/>
            <a:ext cx="996991" cy="22559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FC1B6-02A9-F34F-72D0-BBD8DFB334A5}"/>
              </a:ext>
            </a:extLst>
          </p:cNvPr>
          <p:cNvSpPr/>
          <p:nvPr/>
        </p:nvSpPr>
        <p:spPr>
          <a:xfrm>
            <a:off x="9305233" y="3066137"/>
            <a:ext cx="996991" cy="22559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601F0D-8546-0ECA-9CF8-353F25858A03}"/>
              </a:ext>
            </a:extLst>
          </p:cNvPr>
          <p:cNvSpPr/>
          <p:nvPr/>
        </p:nvSpPr>
        <p:spPr>
          <a:xfrm>
            <a:off x="9305233" y="3290063"/>
            <a:ext cx="996991" cy="22559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3F7D8F-AB2B-DF15-C0B1-89E44B5395DB}"/>
              </a:ext>
            </a:extLst>
          </p:cNvPr>
          <p:cNvSpPr/>
          <p:nvPr/>
        </p:nvSpPr>
        <p:spPr>
          <a:xfrm>
            <a:off x="9305232" y="2840684"/>
            <a:ext cx="996991" cy="22559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ABC602-3960-C9B6-6418-36875CAC55DB}"/>
              </a:ext>
            </a:extLst>
          </p:cNvPr>
          <p:cNvSpPr/>
          <p:nvPr/>
        </p:nvSpPr>
        <p:spPr>
          <a:xfrm>
            <a:off x="10160323" y="1945336"/>
            <a:ext cx="996991" cy="2255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91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B5B2-2B7B-58CD-29A5-33D0E18F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FC15B-39EA-7F7B-F545-F86A6238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B8EC1-05CC-6189-A9EB-05A93255E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632" y="1462579"/>
            <a:ext cx="9406139" cy="443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8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E2F4-43E5-B3BC-71DB-7BAEE6EC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57779-FEB4-FFC7-EE47-C50AD24B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5F737-F78D-146A-D744-E83F70692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06" y="1592472"/>
            <a:ext cx="7855307" cy="422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87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51D5-7EC0-64EB-48F3-F2B29306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 and Consumer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14F6C-7B3D-4062-6971-72ADD6E64F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Producer rate </a:t>
                </a:r>
                <a:r>
                  <a:rPr lang="en-US" dirty="0"/>
                  <a:t>= average number of elements to write per unit time </a:t>
                </a:r>
              </a:p>
              <a:p>
                <a:pPr lvl="1"/>
                <a:r>
                  <a:rPr lang="en-US" dirty="0"/>
                  <a:t>Time unit can be clock cycle, seconds, </a:t>
                </a:r>
                <a:r>
                  <a:rPr lang="en-US" dirty="0" err="1"/>
                  <a:t>etc</a:t>
                </a:r>
                <a:endParaRPr lang="en-US" dirty="0"/>
              </a:p>
              <a:p>
                <a:pPr lvl="1"/>
                <a:r>
                  <a:rPr lang="en-US" dirty="0"/>
                  <a:t>If producer is sending jobs, producer rate = workload rate requirement</a:t>
                </a:r>
              </a:p>
              <a:p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Consumer rate </a:t>
                </a:r>
                <a:r>
                  <a:rPr lang="en-US" dirty="0"/>
                  <a:t>= maximum number of reads per unit time</a:t>
                </a:r>
              </a:p>
              <a:p>
                <a:pPr lvl="1"/>
                <a:r>
                  <a:rPr lang="en-US" dirty="0"/>
                  <a:t>If consumer processes element, consumer rate = maximum work throughput</a:t>
                </a:r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Load factor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Producer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rate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Consumer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rate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14F6C-7B3D-4062-6971-72ADD6E64F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705D0-E506-52EC-CC19-F18BE2B5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4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033B-4CCB-9E00-8A21-B27FF6E2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and Stability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716F9CDC-A7B5-F6D8-E186-69673851C9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59815154"/>
                  </p:ext>
                </p:extLst>
              </p:nvPr>
            </p:nvGraphicFramePr>
            <p:xfrm>
              <a:off x="1096963" y="1539875"/>
              <a:ext cx="1005840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6910">
                      <a:extLst>
                        <a:ext uri="{9D8B030D-6E8A-4147-A177-3AD203B41FA5}">
                          <a16:colId xmlns:a16="http://schemas.microsoft.com/office/drawing/2014/main" val="1623846123"/>
                        </a:ext>
                      </a:extLst>
                    </a:gridCol>
                    <a:gridCol w="2017174">
                      <a:extLst>
                        <a:ext uri="{9D8B030D-6E8A-4147-A177-3AD203B41FA5}">
                          <a16:colId xmlns:a16="http://schemas.microsoft.com/office/drawing/2014/main" val="3324163733"/>
                        </a:ext>
                      </a:extLst>
                    </a:gridCol>
                    <a:gridCol w="2527355">
                      <a:extLst>
                        <a:ext uri="{9D8B030D-6E8A-4147-A177-3AD203B41FA5}">
                          <a16:colId xmlns:a16="http://schemas.microsoft.com/office/drawing/2014/main" val="2435879510"/>
                        </a:ext>
                      </a:extLst>
                    </a:gridCol>
                    <a:gridCol w="3486961">
                      <a:extLst>
                        <a:ext uri="{9D8B030D-6E8A-4147-A177-3AD203B41FA5}">
                          <a16:colId xmlns:a16="http://schemas.microsoft.com/office/drawing/2014/main" val="9852758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Condition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Queueing theory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Implication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7279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Under-utilized; headroom available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FIFO will always eventually drain.  No necessary drops / stalls.  But short-terms drops / stalls may be possible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03347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Fully utilized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Stalls / drops may or may not occur.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5882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Overloaded, over-subscribed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With backpressure, producer will have infinite backlog.  Without backpressure, some elements will be dropped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7210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716F9CDC-A7B5-F6D8-E186-69673851C9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59815154"/>
                  </p:ext>
                </p:extLst>
              </p:nvPr>
            </p:nvGraphicFramePr>
            <p:xfrm>
              <a:off x="1096963" y="1539875"/>
              <a:ext cx="1005840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6910">
                      <a:extLst>
                        <a:ext uri="{9D8B030D-6E8A-4147-A177-3AD203B41FA5}">
                          <a16:colId xmlns:a16="http://schemas.microsoft.com/office/drawing/2014/main" val="1623846123"/>
                        </a:ext>
                      </a:extLst>
                    </a:gridCol>
                    <a:gridCol w="2017174">
                      <a:extLst>
                        <a:ext uri="{9D8B030D-6E8A-4147-A177-3AD203B41FA5}">
                          <a16:colId xmlns:a16="http://schemas.microsoft.com/office/drawing/2014/main" val="3324163733"/>
                        </a:ext>
                      </a:extLst>
                    </a:gridCol>
                    <a:gridCol w="2527355">
                      <a:extLst>
                        <a:ext uri="{9D8B030D-6E8A-4147-A177-3AD203B41FA5}">
                          <a16:colId xmlns:a16="http://schemas.microsoft.com/office/drawing/2014/main" val="2435879510"/>
                        </a:ext>
                      </a:extLst>
                    </a:gridCol>
                    <a:gridCol w="3486961">
                      <a:extLst>
                        <a:ext uri="{9D8B030D-6E8A-4147-A177-3AD203B41FA5}">
                          <a16:colId xmlns:a16="http://schemas.microsoft.com/office/drawing/2014/main" val="98527583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Condition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Queueing theory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Implication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727991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" t="-56122" r="-397297" b="-161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Under-utilized; headroom available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FIFO will always eventually drain.  No necessary drops / stalls.  But short-terms drops / stalls may be possible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033475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" t="-291429" r="-397297" b="-2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Fully utilized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Stalls / drops may or may not occur.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5882334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" t="-210769" r="-397297" b="-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Overloaded, over-subscribed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With backpressure, producer will have infinite backlog.  Without backpressure, some elements will be dropped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7210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57DA3-DE4C-C2A4-323A-079093F3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457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F8FD-923B-DA51-D29A-1C64B70E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B9166-CD35-956C-9201-DB6BFD1D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6EFFD-ED77-C25B-F74A-0E986F51A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29" y="1509843"/>
            <a:ext cx="9335867" cy="434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5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69B9-BB68-4CA7-AC0F-9D9ECFB2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34713-90A7-D63D-66BC-F2EE2BFF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370CCC-3E26-8CF2-6D40-8B5DF871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761" y="1610047"/>
            <a:ext cx="7553713" cy="412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8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BA35-C332-8E9F-5FCC-3B3A41B8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E2B6-408F-6E7A-28FF-F41013D5A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arrivals and departures probabilistically</a:t>
            </a:r>
          </a:p>
          <a:p>
            <a:r>
              <a:rPr lang="en-US" dirty="0"/>
              <a:t>Used widely in networking research</a:t>
            </a:r>
          </a:p>
          <a:p>
            <a:pPr lvl="1"/>
            <a:r>
              <a:rPr lang="en-US" dirty="0"/>
              <a:t>Determine probabilities of buffer overflow</a:t>
            </a:r>
          </a:p>
          <a:p>
            <a:pPr lvl="1"/>
            <a:r>
              <a:rPr lang="en-US" dirty="0"/>
              <a:t>Optimal routing and drop policies</a:t>
            </a:r>
          </a:p>
          <a:p>
            <a:pPr lvl="1"/>
            <a:r>
              <a:rPr lang="en-US" dirty="0"/>
              <a:t>Also used in network on chip</a:t>
            </a:r>
          </a:p>
          <a:p>
            <a:r>
              <a:rPr lang="en-US" dirty="0"/>
              <a:t>But requires mathematics</a:t>
            </a:r>
          </a:p>
          <a:p>
            <a:pPr lvl="1"/>
            <a:r>
              <a:rPr lang="en-US" dirty="0"/>
              <a:t>Markov chains, probability</a:t>
            </a:r>
          </a:p>
          <a:p>
            <a:r>
              <a:rPr lang="en-US" dirty="0"/>
              <a:t>Take NYU’s networking theory class if interested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B146D-2C48-3D54-AC4B-ECFF8EB7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0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B3870-5002-81CC-6D20-261A5097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B2BD-2AA3-23BA-757E-D2E1B38F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6C3E-7D0E-9EB6-BDAF-705BE6004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FIFO Interfaces</a:t>
            </a:r>
          </a:p>
          <a:p>
            <a:r>
              <a:rPr lang="en-US" sz="2400" dirty="0"/>
              <a:t>AXI4 Pure Streaming Interface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 Packetized Streaming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DF439-F3B6-7497-BB7A-B34894BE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AD596BE-4218-D8B3-75F5-2875E0870DFF}"/>
              </a:ext>
            </a:extLst>
          </p:cNvPr>
          <p:cNvSpPr/>
          <p:nvPr/>
        </p:nvSpPr>
        <p:spPr>
          <a:xfrm>
            <a:off x="368303" y="1962372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12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074D-4852-FC06-3754-83DF7A0F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4D1F4D-01CD-B928-AD90-76297E1E8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21" y="1919577"/>
            <a:ext cx="6137805" cy="2456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3964DF-47EA-7D9D-9D2F-029F4B43C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Handshaking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B1C23-2E4C-8AA8-D164-BE01DEDF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FF9279-9144-1993-8702-FD03C30683D1}"/>
              </a:ext>
            </a:extLst>
          </p:cNvPr>
          <p:cNvCxnSpPr>
            <a:cxnSpLocks/>
          </p:cNvCxnSpPr>
          <p:nvPr/>
        </p:nvCxnSpPr>
        <p:spPr>
          <a:xfrm>
            <a:off x="1789173" y="2252755"/>
            <a:ext cx="0" cy="29639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75CA3-56B0-A680-2379-13842F8395D0}"/>
              </a:ext>
            </a:extLst>
          </p:cNvPr>
          <p:cNvCxnSpPr/>
          <p:nvPr/>
        </p:nvCxnSpPr>
        <p:spPr>
          <a:xfrm>
            <a:off x="4252869" y="2421104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41F75DB-0E20-370B-0817-B53F4BE3749B}"/>
              </a:ext>
            </a:extLst>
          </p:cNvPr>
          <p:cNvSpPr txBox="1"/>
          <p:nvPr/>
        </p:nvSpPr>
        <p:spPr>
          <a:xfrm>
            <a:off x="2181466" y="4473130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81F3321-E018-4A44-51AF-1B933E07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8224" y="1524121"/>
            <a:ext cx="4870802" cy="4329817"/>
          </a:xfrm>
        </p:spPr>
        <p:txBody>
          <a:bodyPr>
            <a:normAutofit/>
          </a:bodyPr>
          <a:lstStyle/>
          <a:p>
            <a:r>
              <a:rPr lang="en-US" dirty="0"/>
              <a:t>Last Unit:  Transfers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handshake</a:t>
            </a:r>
          </a:p>
          <a:p>
            <a:pPr lvl="1"/>
            <a:r>
              <a:rPr lang="en-US" dirty="0"/>
              <a:t>Slave asserts READY</a:t>
            </a:r>
          </a:p>
          <a:p>
            <a:pPr lvl="1"/>
            <a:r>
              <a:rPr lang="en-US" dirty="0"/>
              <a:t>Master assert VALID</a:t>
            </a:r>
          </a:p>
          <a:p>
            <a:r>
              <a:rPr lang="en-US" dirty="0"/>
              <a:t>AXI4-Lite</a:t>
            </a:r>
          </a:p>
          <a:p>
            <a:pPr lvl="1"/>
            <a:r>
              <a:rPr lang="en-US" dirty="0"/>
              <a:t>Each read or write takes 2 to 4 cycles</a:t>
            </a:r>
          </a:p>
          <a:p>
            <a:r>
              <a:rPr lang="en-US" dirty="0"/>
              <a:t>Provides:</a:t>
            </a:r>
          </a:p>
          <a:p>
            <a:pPr lvl="1"/>
            <a:r>
              <a:rPr lang="en-US" dirty="0"/>
              <a:t>Guaranteed delivery</a:t>
            </a:r>
          </a:p>
          <a:p>
            <a:pPr lvl="1"/>
            <a:r>
              <a:rPr lang="en-US" dirty="0"/>
              <a:t>Flow control</a:t>
            </a:r>
          </a:p>
          <a:p>
            <a:r>
              <a:rPr lang="en-US" dirty="0"/>
              <a:t>But adds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overhead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60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C78DB-E84F-C669-1EBD-55F84AF8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3AC9A02-D1E0-FB38-9E5E-EC004CB20ECA}"/>
              </a:ext>
            </a:extLst>
          </p:cNvPr>
          <p:cNvSpPr/>
          <p:nvPr/>
        </p:nvSpPr>
        <p:spPr>
          <a:xfrm>
            <a:off x="6162041" y="2788639"/>
            <a:ext cx="1633162" cy="30034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9B131A-5B41-E2BA-B3F2-4EDF19972997}"/>
              </a:ext>
            </a:extLst>
          </p:cNvPr>
          <p:cNvSpPr/>
          <p:nvPr/>
        </p:nvSpPr>
        <p:spPr>
          <a:xfrm>
            <a:off x="8180459" y="2788638"/>
            <a:ext cx="2983861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D16FF-D251-E131-AA0C-7EBB4731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Streaming FIFO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B2E2-5995-6D8D-2956-68FC01ECC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45" y="1539277"/>
            <a:ext cx="4681886" cy="4329817"/>
          </a:xfrm>
        </p:spPr>
        <p:txBody>
          <a:bodyPr/>
          <a:lstStyle/>
          <a:p>
            <a:r>
              <a:rPr lang="en-US" dirty="0"/>
              <a:t>Consider a PS sending jobs to accelerator</a:t>
            </a:r>
          </a:p>
          <a:p>
            <a:r>
              <a:rPr lang="en-US" dirty="0"/>
              <a:t>Use FIFOs for jobs and responses</a:t>
            </a:r>
          </a:p>
          <a:p>
            <a:r>
              <a:rPr lang="en-US" dirty="0"/>
              <a:t>Decouples for timing</a:t>
            </a:r>
          </a:p>
          <a:p>
            <a:pPr lvl="1"/>
            <a:r>
              <a:rPr lang="en-US" dirty="0"/>
              <a:t>Transfer of data of the PS</a:t>
            </a:r>
          </a:p>
          <a:p>
            <a:pPr lvl="1"/>
            <a:r>
              <a:rPr lang="en-US" dirty="0"/>
              <a:t>Processing of data in the HW</a:t>
            </a:r>
          </a:p>
          <a:p>
            <a:r>
              <a:rPr lang="en-US" dirty="0"/>
              <a:t>Enables efficient burst transfers</a:t>
            </a:r>
          </a:p>
          <a:p>
            <a:pPr lvl="1"/>
            <a:r>
              <a:rPr lang="en-US" dirty="0"/>
              <a:t>Many elements can be transferred at once</a:t>
            </a:r>
          </a:p>
          <a:p>
            <a:pPr lvl="1"/>
            <a:r>
              <a:rPr lang="en-US" dirty="0"/>
              <a:t>Reduces handshaking overhead</a:t>
            </a:r>
          </a:p>
          <a:p>
            <a:r>
              <a:rPr lang="en-US" dirty="0"/>
              <a:t>Both PS and HW run at their own pace</a:t>
            </a:r>
          </a:p>
          <a:p>
            <a:r>
              <a:rPr lang="en-US" dirty="0"/>
              <a:t>If some jobs need a lot of time</a:t>
            </a:r>
          </a:p>
          <a:p>
            <a:pPr lvl="1"/>
            <a:r>
              <a:rPr lang="en-US" dirty="0"/>
              <a:t>Job FIFO buffers the jobs to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9E31-D437-933E-D225-DA6EA07D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D78363-FB72-FB95-BDF0-52A95A5778E3}"/>
              </a:ext>
            </a:extLst>
          </p:cNvPr>
          <p:cNvSpPr txBox="1"/>
          <p:nvPr/>
        </p:nvSpPr>
        <p:spPr>
          <a:xfrm>
            <a:off x="6501537" y="2032471"/>
            <a:ext cx="1178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Processing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System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B0AF31-901B-574C-CCDF-F46DB0F984DD}"/>
              </a:ext>
            </a:extLst>
          </p:cNvPr>
          <p:cNvGrpSpPr/>
          <p:nvPr/>
        </p:nvGrpSpPr>
        <p:grpSpPr>
          <a:xfrm>
            <a:off x="8705577" y="3239646"/>
            <a:ext cx="641095" cy="606822"/>
            <a:chOff x="7020134" y="1975969"/>
            <a:chExt cx="641095" cy="60682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1555FD-2874-75C0-AA22-3C7569243195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A8684-F09E-B920-9C73-D6E8796855EF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3C433C-8BC6-D13B-0B6D-D72A59FD03AB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86DCE7-B2B5-4A23-78FD-1708022B12E0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E3ECF7-5361-8045-FBAA-3339A815D4AF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00C96E-E735-4057-15BC-7836CAC01DB7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26A2B4-6370-A0BC-67AC-C46D98ACF9AA}"/>
              </a:ext>
            </a:extLst>
          </p:cNvPr>
          <p:cNvGrpSpPr/>
          <p:nvPr/>
        </p:nvGrpSpPr>
        <p:grpSpPr>
          <a:xfrm rot="10800000">
            <a:off x="6948302" y="4615146"/>
            <a:ext cx="641095" cy="606822"/>
            <a:chOff x="7020134" y="1975969"/>
            <a:chExt cx="641095" cy="60682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A3C151-54AC-DF82-DBB8-F72DFC361F03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7393976-E7FA-C219-3910-7EFBC204AF83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A11375A-E6FA-9C3A-0712-81753DEDB63B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99C5C68-6B59-1412-D846-9147FA7853D7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1914E26-4546-05BD-1855-4DCA87D3460D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31A4B8-59F8-137F-EE56-5EEDA8B24D94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793E9D6-B297-4499-DCE1-8554CC14ED65}"/>
              </a:ext>
            </a:extLst>
          </p:cNvPr>
          <p:cNvSpPr/>
          <p:nvPr/>
        </p:nvSpPr>
        <p:spPr>
          <a:xfrm>
            <a:off x="9699158" y="3155268"/>
            <a:ext cx="1067793" cy="22290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925A39-6A23-A4A8-A033-B6003C4FA8CA}"/>
              </a:ext>
            </a:extLst>
          </p:cNvPr>
          <p:cNvSpPr txBox="1"/>
          <p:nvPr/>
        </p:nvSpPr>
        <p:spPr>
          <a:xfrm>
            <a:off x="8575400" y="2882541"/>
            <a:ext cx="888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Job FIFO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DBE03C-D765-0EEE-4E1F-38ED1B2842B7}"/>
              </a:ext>
            </a:extLst>
          </p:cNvPr>
          <p:cNvSpPr txBox="1"/>
          <p:nvPr/>
        </p:nvSpPr>
        <p:spPr>
          <a:xfrm>
            <a:off x="6413155" y="5272326"/>
            <a:ext cx="1403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 FIFO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01613-0952-5751-3B2D-194E9C436B6D}"/>
              </a:ext>
            </a:extLst>
          </p:cNvPr>
          <p:cNvSpPr txBox="1"/>
          <p:nvPr/>
        </p:nvSpPr>
        <p:spPr>
          <a:xfrm>
            <a:off x="9714767" y="3930148"/>
            <a:ext cx="1067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Processing</a:t>
            </a:r>
            <a:br>
              <a:rPr lang="en-US" sz="1600" dirty="0"/>
            </a:br>
            <a:r>
              <a:rPr lang="en-US" sz="1600" dirty="0"/>
              <a:t>Engine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57D225-D69C-B6AA-7904-6A77C5FFCF5C}"/>
              </a:ext>
            </a:extLst>
          </p:cNvPr>
          <p:cNvSpPr txBox="1"/>
          <p:nvPr/>
        </p:nvSpPr>
        <p:spPr>
          <a:xfrm>
            <a:off x="9081584" y="2032472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Hardware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accelerator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A69F4C-EED6-0773-5D98-B41A7CF7803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836415" y="3543057"/>
            <a:ext cx="186916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220846A-4F36-BCF4-0BAA-9C1D8A86DB81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589397" y="4918557"/>
            <a:ext cx="206478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D3E05A-9BB8-0B4E-E824-AEFFCB5B9686}"/>
              </a:ext>
            </a:extLst>
          </p:cNvPr>
          <p:cNvCxnSpPr>
            <a:cxnSpLocks/>
          </p:cNvCxnSpPr>
          <p:nvPr/>
        </p:nvCxnSpPr>
        <p:spPr>
          <a:xfrm>
            <a:off x="9376027" y="3541097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E37F4C-5CC7-7CC8-2AAB-10B42A210FA6}"/>
              </a:ext>
            </a:extLst>
          </p:cNvPr>
          <p:cNvCxnSpPr>
            <a:cxnSpLocks/>
          </p:cNvCxnSpPr>
          <p:nvPr/>
        </p:nvCxnSpPr>
        <p:spPr>
          <a:xfrm flipH="1">
            <a:off x="6341933" y="4918557"/>
            <a:ext cx="5605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931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3B12-83AC-2896-FA1E-592D71D3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AXI4-Streaming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9AD7B-4D55-8EE2-C903-F930FF44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88265" cy="4329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Industry standard streaming protocol</a:t>
            </a:r>
          </a:p>
          <a:p>
            <a:pPr lvl="1"/>
            <a:r>
              <a:rPr lang="en-US" dirty="0"/>
              <a:t>Available as the interface to many Xilinx IP blocks</a:t>
            </a:r>
          </a:p>
          <a:p>
            <a:r>
              <a:rPr lang="en-US" dirty="0"/>
              <a:t>Pre-built in Vitis HLS</a:t>
            </a:r>
          </a:p>
          <a:p>
            <a:pPr lvl="1"/>
            <a:r>
              <a:rPr lang="en-US" dirty="0"/>
              <a:t>All FIFO management is done for you</a:t>
            </a:r>
          </a:p>
          <a:p>
            <a:r>
              <a:rPr lang="en-US" dirty="0"/>
              <a:t>Part of the AXI4 family:</a:t>
            </a:r>
          </a:p>
          <a:p>
            <a:pPr lvl="1"/>
            <a:r>
              <a:rPr lang="en-US" dirty="0"/>
              <a:t>AXI4-Lite:  Covered last unit</a:t>
            </a:r>
          </a:p>
          <a:p>
            <a:pPr lvl="1"/>
            <a:r>
              <a:rPr lang="en-US" dirty="0"/>
              <a:t>AXI4-Stream:  This unit</a:t>
            </a:r>
          </a:p>
          <a:p>
            <a:pPr lvl="1"/>
            <a:r>
              <a:rPr lang="en-US" dirty="0"/>
              <a:t>AXI4-Memory mapped:  Later</a:t>
            </a:r>
          </a:p>
          <a:p>
            <a:r>
              <a:rPr lang="en-US" dirty="0"/>
              <a:t>Provides a simple interface with DATA, READY, VALID</a:t>
            </a:r>
          </a:p>
          <a:p>
            <a:r>
              <a:rPr lang="en-US" dirty="0"/>
              <a:t>Additional capabilities (covered later in this unit):</a:t>
            </a:r>
          </a:p>
          <a:p>
            <a:pPr lvl="1"/>
            <a:r>
              <a:rPr lang="en-US" dirty="0"/>
              <a:t>Packetization</a:t>
            </a:r>
          </a:p>
          <a:p>
            <a:pPr lvl="1"/>
            <a:r>
              <a:rPr lang="en-US" dirty="0"/>
              <a:t>Addressing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CED33-C447-B1C5-1294-561832FE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257E85-5882-F89E-9C35-A30367D867F0}"/>
              </a:ext>
            </a:extLst>
          </p:cNvPr>
          <p:cNvSpPr/>
          <p:nvPr/>
        </p:nvSpPr>
        <p:spPr>
          <a:xfrm>
            <a:off x="6969170" y="2185608"/>
            <a:ext cx="1178016" cy="30034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DA42526-18DD-503F-6CB3-AAE9372AB9D4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B6A41F-2A78-ABEA-FC04-6672D7EE09AB}"/>
              </a:ext>
            </a:extLst>
          </p:cNvPr>
          <p:cNvSpPr txBox="1"/>
          <p:nvPr/>
        </p:nvSpPr>
        <p:spPr>
          <a:xfrm>
            <a:off x="6972472" y="1443801"/>
            <a:ext cx="1178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Processing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System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9EAE544-2E4B-B0E0-96FE-3BCF92C7A925}"/>
              </a:ext>
            </a:extLst>
          </p:cNvPr>
          <p:cNvGrpSpPr/>
          <p:nvPr/>
        </p:nvGrpSpPr>
        <p:grpSpPr>
          <a:xfrm>
            <a:off x="9486545" y="2650975"/>
            <a:ext cx="641095" cy="606822"/>
            <a:chOff x="7020134" y="1975969"/>
            <a:chExt cx="641095" cy="60682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6DE0B71-77A5-B31D-6431-7DBF4B8DC4A9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9F94B85-D43C-DD28-5EEF-00A8A62DC0A9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113BB36-49DD-AAD0-1FCB-391245F47812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13DF42-4B87-7C36-E287-6133E23C9D2F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102845A-DAAE-10B4-27BF-99AB5096B979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3F9CBA-D6C0-19F2-4DB3-ACC82AB85629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A17F25-0B45-7864-B9A5-F2F233024996}"/>
              </a:ext>
            </a:extLst>
          </p:cNvPr>
          <p:cNvGrpSpPr/>
          <p:nvPr/>
        </p:nvGrpSpPr>
        <p:grpSpPr>
          <a:xfrm rot="10800000">
            <a:off x="7277259" y="4039537"/>
            <a:ext cx="641095" cy="606822"/>
            <a:chOff x="7020134" y="1975969"/>
            <a:chExt cx="641095" cy="60682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6DC5226-D709-E33C-0F13-F83E23FFD8AC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72AB4E1-F8B4-CB29-96AD-3CB4365BFBD5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C8E1F49-1512-2851-7C65-FF3B49EDFB10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D4A250-C9F4-F282-E46E-F3224FC0B68B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CD1DBC2-95AA-E0E0-BF5A-2521BF88122A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F9A20C4-90E3-EA1E-415E-ED4FE952C81B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86ADB61-E84C-2225-2F43-96A1C2E496D3}"/>
              </a:ext>
            </a:extLst>
          </p:cNvPr>
          <p:cNvSpPr/>
          <p:nvPr/>
        </p:nvSpPr>
        <p:spPr>
          <a:xfrm>
            <a:off x="10480126" y="2566597"/>
            <a:ext cx="1067793" cy="22290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388DB4-0C64-24CD-C1C6-FB52B5712C0E}"/>
              </a:ext>
            </a:extLst>
          </p:cNvPr>
          <p:cNvSpPr txBox="1"/>
          <p:nvPr/>
        </p:nvSpPr>
        <p:spPr>
          <a:xfrm>
            <a:off x="8164149" y="4380829"/>
            <a:ext cx="108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Response</a:t>
            </a:r>
            <a:br>
              <a:rPr lang="en-US" sz="1400" dirty="0"/>
            </a:br>
            <a:r>
              <a:rPr lang="en-US" sz="1400" dirty="0"/>
              <a:t>AXI4-stream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B220F1-3BCB-874A-0B1C-266D3BEB8447}"/>
              </a:ext>
            </a:extLst>
          </p:cNvPr>
          <p:cNvSpPr txBox="1"/>
          <p:nvPr/>
        </p:nvSpPr>
        <p:spPr>
          <a:xfrm>
            <a:off x="10495735" y="3341477"/>
            <a:ext cx="1067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Processing</a:t>
            </a:r>
            <a:br>
              <a:rPr lang="en-US" sz="1600" dirty="0"/>
            </a:br>
            <a:r>
              <a:rPr lang="en-US" sz="1600" dirty="0"/>
              <a:t>Engine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80FA5-2CCB-4067-FB01-FE8B24C466B3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Hardware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accelerator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490F8C-3EFF-C9BE-EE98-428E478108AF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7617383" y="2954386"/>
            <a:ext cx="186916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3885E95-8047-4F12-97AC-05F3FD186D1A}"/>
              </a:ext>
            </a:extLst>
          </p:cNvPr>
          <p:cNvCxnSpPr>
            <a:cxnSpLocks/>
            <a:endCxn id="42" idx="0"/>
          </p:cNvCxnSpPr>
          <p:nvPr/>
        </p:nvCxnSpPr>
        <p:spPr>
          <a:xfrm flipH="1">
            <a:off x="7918354" y="4342948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6663D5A-1282-7BE9-40D4-6A5E359C3C87}"/>
              </a:ext>
            </a:extLst>
          </p:cNvPr>
          <p:cNvCxnSpPr>
            <a:cxnSpLocks/>
          </p:cNvCxnSpPr>
          <p:nvPr/>
        </p:nvCxnSpPr>
        <p:spPr>
          <a:xfrm>
            <a:off x="10156995" y="2952426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AE27CCC-6313-14AA-55DB-E6D443D7EFBD}"/>
              </a:ext>
            </a:extLst>
          </p:cNvPr>
          <p:cNvSpPr txBox="1"/>
          <p:nvPr/>
        </p:nvSpPr>
        <p:spPr>
          <a:xfrm>
            <a:off x="8147186" y="3013583"/>
            <a:ext cx="108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Command</a:t>
            </a:r>
            <a:br>
              <a:rPr lang="en-US" sz="1400" dirty="0"/>
            </a:br>
            <a:r>
              <a:rPr lang="en-US" sz="1400" dirty="0"/>
              <a:t>AXI4-stream</a:t>
            </a:r>
          </a:p>
        </p:txBody>
      </p:sp>
    </p:spTree>
    <p:extLst>
      <p:ext uri="{BB962C8B-B14F-4D97-AF65-F5344CB8AC3E}">
        <p14:creationId xmlns:p14="http://schemas.microsoft.com/office/powerpoint/2010/main" val="2129904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AXI4-Stream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3218061"/>
            <a:ext cx="9442384" cy="2586752"/>
          </a:xfrm>
        </p:spPr>
        <p:txBody>
          <a:bodyPr>
            <a:normAutofit/>
          </a:bodyPr>
          <a:lstStyle/>
          <a:p>
            <a:r>
              <a:rPr lang="en-US" dirty="0"/>
              <a:t>Each AXI4-Stream is </a:t>
            </a:r>
            <a:r>
              <a:rPr lang="en-US" dirty="0" err="1"/>
              <a:t>uni</a:t>
            </a:r>
            <a:r>
              <a:rPr lang="en-US" dirty="0"/>
              <a:t>-directional</a:t>
            </a:r>
          </a:p>
          <a:p>
            <a:r>
              <a:rPr lang="en-US" dirty="0"/>
              <a:t>Master is the producer / sender</a:t>
            </a:r>
          </a:p>
          <a:p>
            <a:pPr lvl="1"/>
            <a:r>
              <a:rPr lang="en-US" dirty="0"/>
              <a:t>Could be PS sending jobs  or HW accelerator returning responses</a:t>
            </a:r>
          </a:p>
          <a:p>
            <a:r>
              <a:rPr lang="en-US" dirty="0"/>
              <a:t>Slave is the consumer / receiver</a:t>
            </a:r>
          </a:p>
          <a:p>
            <a:pPr lvl="1"/>
            <a:r>
              <a:rPr lang="en-US" dirty="0"/>
              <a:t>Could be PS receiving response or HW accelerator receiving jobs</a:t>
            </a:r>
          </a:p>
          <a:p>
            <a:r>
              <a:rPr lang="en-US" dirty="0"/>
              <a:t>FIFO is typically realized on the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3324692" y="1435529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311051" y="146074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BB4000-2C69-03A2-5412-38BF51AFDD04}"/>
              </a:ext>
            </a:extLst>
          </p:cNvPr>
          <p:cNvSpPr/>
          <p:nvPr/>
        </p:nvSpPr>
        <p:spPr>
          <a:xfrm>
            <a:off x="3057593" y="1860857"/>
            <a:ext cx="1633162" cy="11757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D6882B-E257-1390-28A3-6B94E7D066CF}"/>
              </a:ext>
            </a:extLst>
          </p:cNvPr>
          <p:cNvSpPr/>
          <p:nvPr/>
        </p:nvSpPr>
        <p:spPr>
          <a:xfrm>
            <a:off x="6581767" y="1860857"/>
            <a:ext cx="2062391" cy="1175773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ADFD99-14AB-F597-B418-4B1050CA7ABE}"/>
              </a:ext>
            </a:extLst>
          </p:cNvPr>
          <p:cNvGrpSpPr/>
          <p:nvPr/>
        </p:nvGrpSpPr>
        <p:grpSpPr>
          <a:xfrm>
            <a:off x="7236486" y="2198760"/>
            <a:ext cx="641095" cy="606822"/>
            <a:chOff x="7020134" y="1975969"/>
            <a:chExt cx="641095" cy="6068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78D13DC-1B65-84C6-B94C-E3739999AEBC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AA6D2E-7364-DCE3-7662-77B1826759B9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8C13C66-4CCC-1F63-F39B-4CE32243F75D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554818D-3BA4-6983-BE64-C2E4033043C4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79B0B48-6034-59DD-A732-839CD60BC9AB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9D0687-31A3-1B4D-AE36-E400BE2FCD03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565C347-B5B5-53F6-F0E0-6C2277E325C2}"/>
              </a:ext>
            </a:extLst>
          </p:cNvPr>
          <p:cNvSpPr txBox="1"/>
          <p:nvPr/>
        </p:nvSpPr>
        <p:spPr>
          <a:xfrm>
            <a:off x="7314480" y="1860857"/>
            <a:ext cx="559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FIFO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768640-E7A3-E795-42BA-E91641AB7540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705432" y="2502171"/>
            <a:ext cx="253105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E31F59E-1E7F-9EA8-A25D-F40BAE4C32A9}"/>
              </a:ext>
            </a:extLst>
          </p:cNvPr>
          <p:cNvCxnSpPr>
            <a:cxnSpLocks/>
          </p:cNvCxnSpPr>
          <p:nvPr/>
        </p:nvCxnSpPr>
        <p:spPr>
          <a:xfrm>
            <a:off x="7906936" y="2500211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CCA2E0F-84DB-0D64-F538-AFB6E557B827}"/>
              </a:ext>
            </a:extLst>
          </p:cNvPr>
          <p:cNvSpPr txBox="1"/>
          <p:nvPr/>
        </p:nvSpPr>
        <p:spPr>
          <a:xfrm>
            <a:off x="5112236" y="2138961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AXI4-Stream</a:t>
            </a:r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45613-702A-2993-EBB1-565D9AD3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F23A-DA10-57DD-95C7-2E2ED063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AXI4-Stream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A3944-7820-B702-0350-2E9279FD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EC82CA7-B3E7-DA28-4A84-119F09390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803" y="1769792"/>
            <a:ext cx="6008502" cy="4152223"/>
          </a:xfrm>
        </p:spPr>
        <p:txBody>
          <a:bodyPr>
            <a:normAutofit/>
          </a:bodyPr>
          <a:lstStyle/>
          <a:p>
            <a:r>
              <a:rPr lang="en-US" dirty="0"/>
              <a:t>Slave asserts TREADY on any cycle it can accept data</a:t>
            </a:r>
          </a:p>
          <a:p>
            <a:pPr lvl="1"/>
            <a:r>
              <a:rPr lang="en-US" dirty="0"/>
              <a:t>Typically, when FIFO has space</a:t>
            </a:r>
          </a:p>
          <a:p>
            <a:r>
              <a:rPr lang="en-US" dirty="0"/>
              <a:t>On any cycle has data to transfer, master:</a:t>
            </a:r>
          </a:p>
          <a:p>
            <a:pPr lvl="1"/>
            <a:r>
              <a:rPr lang="en-US" dirty="0"/>
              <a:t>Places data on TDATA</a:t>
            </a:r>
          </a:p>
          <a:p>
            <a:pPr lvl="1"/>
            <a:r>
              <a:rPr lang="en-US" dirty="0"/>
              <a:t>Asserts TVALID</a:t>
            </a:r>
          </a:p>
          <a:p>
            <a:r>
              <a:rPr lang="en-US" dirty="0"/>
              <a:t>If TREADY=TVALID=1, there is a transfer</a:t>
            </a:r>
          </a:p>
          <a:p>
            <a:pPr lvl="1"/>
            <a:r>
              <a:rPr lang="en-US" dirty="0"/>
              <a:t>Otherwise, master can re-assert TVALID on next cycle</a:t>
            </a:r>
          </a:p>
          <a:p>
            <a:r>
              <a:rPr lang="en-US" dirty="0"/>
              <a:t>Slave processes FIFO at its own pace</a:t>
            </a:r>
          </a:p>
          <a:p>
            <a:pPr lvl="1"/>
            <a:r>
              <a:rPr lang="en-US" dirty="0"/>
              <a:t>Backpressure to master via TREADY</a:t>
            </a:r>
          </a:p>
          <a:p>
            <a:r>
              <a:rPr lang="en-US" dirty="0"/>
              <a:t>Can transfer up to data element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B5D90-7A5A-1782-040B-60D12B1943FD}"/>
              </a:ext>
            </a:extLst>
          </p:cNvPr>
          <p:cNvSpPr txBox="1"/>
          <p:nvPr/>
        </p:nvSpPr>
        <p:spPr>
          <a:xfrm>
            <a:off x="7041159" y="153464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1FCE0-7EE2-4242-6E31-7C8A54957CAD}"/>
              </a:ext>
            </a:extLst>
          </p:cNvPr>
          <p:cNvSpPr txBox="1"/>
          <p:nvPr/>
        </p:nvSpPr>
        <p:spPr>
          <a:xfrm>
            <a:off x="10379981" y="1516425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53DCAF-99E0-61A8-56BC-B20A7333000F}"/>
              </a:ext>
            </a:extLst>
          </p:cNvPr>
          <p:cNvSpPr/>
          <p:nvPr/>
        </p:nvSpPr>
        <p:spPr>
          <a:xfrm>
            <a:off x="6969846" y="1959025"/>
            <a:ext cx="1163703" cy="14735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841E3F-ECD3-50F3-81FA-12CCDD6F3E1C}"/>
              </a:ext>
            </a:extLst>
          </p:cNvPr>
          <p:cNvSpPr/>
          <p:nvPr/>
        </p:nvSpPr>
        <p:spPr>
          <a:xfrm>
            <a:off x="10012558" y="1959025"/>
            <a:ext cx="1645562" cy="1473502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4815F3-5325-7C5E-0065-3284B658154C}"/>
              </a:ext>
            </a:extLst>
          </p:cNvPr>
          <p:cNvGrpSpPr/>
          <p:nvPr/>
        </p:nvGrpSpPr>
        <p:grpSpPr>
          <a:xfrm>
            <a:off x="10426252" y="2348278"/>
            <a:ext cx="641095" cy="606822"/>
            <a:chOff x="7020134" y="1975969"/>
            <a:chExt cx="641095" cy="6068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4203FB6-B7F6-F2A5-2D87-1240E461F962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89446A-01A7-2FC9-01E4-446E1415DE3B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30B714-7329-44C3-A403-8EF0B4A93867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0EABAD-1F59-ED2B-0F8A-661732034055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FB4F1BC-4CCC-4006-0743-8BDB72C0EBDB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A1D077-C2DC-E096-A170-9FB2AF0B60E5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27809C4-787B-8BE9-BFAA-0D9B934D2F14}"/>
              </a:ext>
            </a:extLst>
          </p:cNvPr>
          <p:cNvSpPr txBox="1"/>
          <p:nvPr/>
        </p:nvSpPr>
        <p:spPr>
          <a:xfrm>
            <a:off x="10504246" y="2010375"/>
            <a:ext cx="559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FIFO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7C7581-E70C-BF88-8661-D89B44E7DE03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8133549" y="2695776"/>
            <a:ext cx="1879009" cy="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958A812-64E7-7F9E-7B32-C023C6E37034}"/>
              </a:ext>
            </a:extLst>
          </p:cNvPr>
          <p:cNvCxnSpPr>
            <a:cxnSpLocks/>
          </p:cNvCxnSpPr>
          <p:nvPr/>
        </p:nvCxnSpPr>
        <p:spPr>
          <a:xfrm>
            <a:off x="11096702" y="2649729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74303C-79DE-1F27-B6BB-D9146E13F544}"/>
              </a:ext>
            </a:extLst>
          </p:cNvPr>
          <p:cNvCxnSpPr>
            <a:cxnSpLocks/>
          </p:cNvCxnSpPr>
          <p:nvPr/>
        </p:nvCxnSpPr>
        <p:spPr>
          <a:xfrm flipH="1">
            <a:off x="8133549" y="2236560"/>
            <a:ext cx="187900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3BDD81-35F4-018F-1BF6-8E860A6BA8F1}"/>
              </a:ext>
            </a:extLst>
          </p:cNvPr>
          <p:cNvCxnSpPr>
            <a:cxnSpLocks/>
          </p:cNvCxnSpPr>
          <p:nvPr/>
        </p:nvCxnSpPr>
        <p:spPr>
          <a:xfrm>
            <a:off x="8133549" y="3134913"/>
            <a:ext cx="1899169" cy="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17A202C-50CD-477A-E09A-04C9B278A92F}"/>
              </a:ext>
            </a:extLst>
          </p:cNvPr>
          <p:cNvSpPr txBox="1"/>
          <p:nvPr/>
        </p:nvSpPr>
        <p:spPr>
          <a:xfrm>
            <a:off x="8610876" y="2325220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TDATA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D6353E-8B96-FA41-376D-557F5B172481}"/>
              </a:ext>
            </a:extLst>
          </p:cNvPr>
          <p:cNvSpPr txBox="1"/>
          <p:nvPr/>
        </p:nvSpPr>
        <p:spPr>
          <a:xfrm>
            <a:off x="8592849" y="2754882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TVALID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989C1E-A76C-844A-B0BF-EAFD014DE2B6}"/>
              </a:ext>
            </a:extLst>
          </p:cNvPr>
          <p:cNvSpPr txBox="1"/>
          <p:nvPr/>
        </p:nvSpPr>
        <p:spPr>
          <a:xfrm>
            <a:off x="8566557" y="1802932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TREADY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254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77F1-F9BB-8D66-1E8F-86E1B535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Timing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C5449D-ED89-3136-880B-FA02684981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02538"/>
              </p:ext>
            </p:extLst>
          </p:nvPr>
        </p:nvGraphicFramePr>
        <p:xfrm>
          <a:off x="442103" y="1714850"/>
          <a:ext cx="7403424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291">
                  <a:extLst>
                    <a:ext uri="{9D8B030D-6E8A-4147-A177-3AD203B41FA5}">
                      <a16:colId xmlns:a16="http://schemas.microsoft.com/office/drawing/2014/main" val="4085429065"/>
                    </a:ext>
                  </a:extLst>
                </a:gridCol>
                <a:gridCol w="1406973">
                  <a:extLst>
                    <a:ext uri="{9D8B030D-6E8A-4147-A177-3AD203B41FA5}">
                      <a16:colId xmlns:a16="http://schemas.microsoft.com/office/drawing/2014/main" val="2736254956"/>
                    </a:ext>
                  </a:extLst>
                </a:gridCol>
                <a:gridCol w="932865">
                  <a:extLst>
                    <a:ext uri="{9D8B030D-6E8A-4147-A177-3AD203B41FA5}">
                      <a16:colId xmlns:a16="http://schemas.microsoft.com/office/drawing/2014/main" val="2510714130"/>
                    </a:ext>
                  </a:extLst>
                </a:gridCol>
                <a:gridCol w="1073604">
                  <a:extLst>
                    <a:ext uri="{9D8B030D-6E8A-4147-A177-3AD203B41FA5}">
                      <a16:colId xmlns:a16="http://schemas.microsoft.com/office/drawing/2014/main" val="2081512042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165368644"/>
                    </a:ext>
                  </a:extLst>
                </a:gridCol>
                <a:gridCol w="1477027">
                  <a:extLst>
                    <a:ext uri="{9D8B030D-6E8A-4147-A177-3AD203B41FA5}">
                      <a16:colId xmlns:a16="http://schemas.microsoft.com/office/drawing/2014/main" val="4054708975"/>
                    </a:ext>
                  </a:extLst>
                </a:gridCol>
                <a:gridCol w="1057632">
                  <a:extLst>
                    <a:ext uri="{9D8B030D-6E8A-4147-A177-3AD203B41FA5}">
                      <a16:colId xmlns:a16="http://schemas.microsoft.com/office/drawing/2014/main" val="2098496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Master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Slave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TREADY for next 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91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91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096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[C,B]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32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 stalls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123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[D,C]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973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 stalls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4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[E,D]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09263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B211-7ACB-84B5-844E-E4CBC281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A55963-811A-DA52-EF91-15CCAC2343EC}"/>
              </a:ext>
            </a:extLst>
          </p:cNvPr>
          <p:cNvSpPr txBox="1">
            <a:spLocks/>
          </p:cNvSpPr>
          <p:nvPr/>
        </p:nvSpPr>
        <p:spPr>
          <a:xfrm>
            <a:off x="8254093" y="1714850"/>
            <a:ext cx="2955471" cy="415222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Master always has data</a:t>
            </a:r>
          </a:p>
          <a:p>
            <a:pPr lvl="1"/>
            <a:r>
              <a:rPr lang="en-US" dirty="0"/>
              <a:t>TVALID=1 always</a:t>
            </a:r>
          </a:p>
          <a:p>
            <a:r>
              <a:rPr lang="en-US" dirty="0"/>
              <a:t>Slave takes 2 cycles to:</a:t>
            </a:r>
          </a:p>
          <a:p>
            <a:pPr lvl="1"/>
            <a:r>
              <a:rPr lang="en-US" dirty="0"/>
              <a:t>Read data</a:t>
            </a:r>
          </a:p>
          <a:p>
            <a:pPr lvl="1"/>
            <a:r>
              <a:rPr lang="en-US" dirty="0"/>
              <a:t>Process data</a:t>
            </a:r>
          </a:p>
          <a:p>
            <a:r>
              <a:rPr lang="en-US" dirty="0"/>
              <a:t>FIFO depth = 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059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834E-FA8B-C135-9DF5-92181CC4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5C5-FB7E-7E68-F51F-4851331E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Streaming Squared Average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DB995-C144-FE16-8E51-8D6CA5884A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</p:spPr>
            <p:txBody>
              <a:bodyPr/>
              <a:lstStyle/>
              <a:p>
                <a:r>
                  <a:rPr lang="en-US" dirty="0"/>
                  <a:t>Given:</a:t>
                </a:r>
              </a:p>
              <a:p>
                <a:pPr lvl="1"/>
                <a:r>
                  <a:rPr lang="en-US" dirty="0"/>
                  <a:t>Input stream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Compute output stream: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is a fixed window size</a:t>
                </a:r>
              </a:p>
              <a:p>
                <a:r>
                  <a:rPr lang="en-US" dirty="0"/>
                  <a:t>Models an average power</a:t>
                </a:r>
                <a:endParaRPr lang="en-US" b="0" dirty="0"/>
              </a:p>
              <a:p>
                <a:r>
                  <a:rPr lang="en-US" dirty="0"/>
                  <a:t>Use </a:t>
                </a:r>
                <a:r>
                  <a:rPr lang="en-US" dirty="0">
                    <a:solidFill>
                      <a:srgbClr val="0070C0"/>
                    </a:solidFill>
                  </a:rPr>
                  <a:t>AXI4-Stream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DB995-C144-FE16-8E51-8D6CA5884A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  <a:blipFill>
                <a:blip r:embed="rId2"/>
                <a:stretch>
                  <a:fillRect l="-269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FA59F-42EC-3865-AF42-3317DFD1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8415C0-9680-0501-6AD2-3B54A27B0D95}"/>
              </a:ext>
            </a:extLst>
          </p:cNvPr>
          <p:cNvSpPr/>
          <p:nvPr/>
        </p:nvSpPr>
        <p:spPr>
          <a:xfrm>
            <a:off x="9308827" y="2793691"/>
            <a:ext cx="2429244" cy="2466953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CF1576-860C-4EFA-F443-00329772F204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9CA6F4-2EF2-539C-67B9-EE1EB5C751BF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14B93D-9BE6-BA65-9E43-928CF08F55D8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6B3FB6-7073-3BB6-3486-9E4EBB71371B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1C4367-5111-4039-992F-73431F3C5889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32DB9E-90B0-E146-1E4E-41CABFE29FB8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FB5E49-6CBF-3FCA-8DF2-1CD49DDD8759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F626B9-27C5-EB15-E3B6-E395F7E7628B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95A05C-17CF-C50F-304D-804CC74ABEDF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A5F387-093C-4A75-9EBD-125350F0EFF8}"/>
              </a:ext>
            </a:extLst>
          </p:cNvPr>
          <p:cNvSpPr txBox="1"/>
          <p:nvPr/>
        </p:nvSpPr>
        <p:spPr>
          <a:xfrm>
            <a:off x="9942367" y="1898093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Hardware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accelerator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700C3F-FF82-01FB-9D2A-D067A91638BE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D486A6-4C16-99B2-3A05-DF845B8C65B3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815A0F-1D45-D817-BCCD-DF48C80FAC24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D6B157-C058-FFA9-05FE-5FB66590DB2E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blipFill>
                <a:blip r:embed="rId3"/>
                <a:stretch>
                  <a:fillRect l="-1630" r="-54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91B494-544A-81E0-4D62-A817769CB58C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486EE26F-BD33-57CA-88BA-335A5F5DB072}"/>
              </a:ext>
            </a:extLst>
          </p:cNvPr>
          <p:cNvSpPr txBox="1"/>
          <p:nvPr/>
        </p:nvSpPr>
        <p:spPr>
          <a:xfrm>
            <a:off x="6389179" y="3916168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AXI4-Stream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3D7AEA35-CC01-0BA2-B6CA-36DDB6B6D911}"/>
              </a:ext>
            </a:extLst>
          </p:cNvPr>
          <p:cNvSpPr/>
          <p:nvPr/>
        </p:nvSpPr>
        <p:spPr>
          <a:xfrm>
            <a:off x="7608519" y="3300578"/>
            <a:ext cx="486633" cy="1593332"/>
          </a:xfrm>
          <a:prstGeom prst="lef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55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3273-99B9-2C94-61A5-8EF18A17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0B8C8E-6A00-E324-D651-6993F047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57" y="1737062"/>
            <a:ext cx="5672139" cy="24156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AF0FF-AB0A-1637-3521-3638170E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Module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7C9DE-6819-6192-E6E6-87988FED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1641B8-9CB7-0019-D3B0-781F16FFF473}"/>
              </a:ext>
            </a:extLst>
          </p:cNvPr>
          <p:cNvSpPr txBox="1"/>
          <p:nvPr/>
        </p:nvSpPr>
        <p:spPr>
          <a:xfrm>
            <a:off x="7979601" y="2102492"/>
            <a:ext cx="2580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and output streams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07EF7E-820F-0631-965C-303D96AEDF49}"/>
              </a:ext>
            </a:extLst>
          </p:cNvPr>
          <p:cNvCxnSpPr>
            <a:cxnSpLocks/>
          </p:cNvCxnSpPr>
          <p:nvPr/>
        </p:nvCxnSpPr>
        <p:spPr>
          <a:xfrm flipH="1">
            <a:off x="4920583" y="2288405"/>
            <a:ext cx="3021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9F3152-2071-C6A5-7DF8-3FCEC1830209}"/>
              </a:ext>
            </a:extLst>
          </p:cNvPr>
          <p:cNvCxnSpPr>
            <a:cxnSpLocks/>
          </p:cNvCxnSpPr>
          <p:nvPr/>
        </p:nvCxnSpPr>
        <p:spPr>
          <a:xfrm flipH="1">
            <a:off x="5991593" y="3512459"/>
            <a:ext cx="1232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BA879E-D289-18F7-B760-0FD158003092}"/>
              </a:ext>
            </a:extLst>
          </p:cNvPr>
          <p:cNvSpPr txBox="1"/>
          <p:nvPr/>
        </p:nvSpPr>
        <p:spPr>
          <a:xfrm>
            <a:off x="7303484" y="3084791"/>
            <a:ext cx="3889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variables are AXI4-Stream</a:t>
            </a:r>
            <a:br>
              <a:rPr lang="en-US" dirty="0"/>
            </a:br>
            <a:r>
              <a:rPr lang="en-US" dirty="0"/>
              <a:t>Does not state if master or slave.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B0972F-EEFE-4F4F-B13C-8B74154D3FE7}"/>
              </a:ext>
            </a:extLst>
          </p:cNvPr>
          <p:cNvCxnSpPr>
            <a:cxnSpLocks/>
          </p:cNvCxnSpPr>
          <p:nvPr/>
        </p:nvCxnSpPr>
        <p:spPr>
          <a:xfrm flipH="1" flipV="1">
            <a:off x="5375257" y="4071859"/>
            <a:ext cx="2122654" cy="3608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9508AB9-973B-8FD6-D24F-6C25F8A2350F}"/>
              </a:ext>
            </a:extLst>
          </p:cNvPr>
          <p:cNvSpPr txBox="1"/>
          <p:nvPr/>
        </p:nvSpPr>
        <p:spPr>
          <a:xfrm>
            <a:off x="7528982" y="4248087"/>
            <a:ext cx="452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module has no explicit start stop</a:t>
            </a:r>
          </a:p>
        </p:txBody>
      </p:sp>
    </p:spTree>
    <p:extLst>
      <p:ext uri="{BB962C8B-B14F-4D97-AF65-F5344CB8AC3E}">
        <p14:creationId xmlns:p14="http://schemas.microsoft.com/office/powerpoint/2010/main" val="3766693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B342-91F4-71BD-6DD3-C0D8C968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263908-9263-C64B-78DC-9100CB05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16" y="1589289"/>
            <a:ext cx="5819973" cy="4134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377B93-B2B2-2FB3-B963-EF065DEB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Module Body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F4A4F-04B2-92E6-4927-69105F37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F009BE-3E59-AEF5-623E-EED27510EDE7}"/>
              </a:ext>
            </a:extLst>
          </p:cNvPr>
          <p:cNvSpPr txBox="1"/>
          <p:nvPr/>
        </p:nvSpPr>
        <p:spPr>
          <a:xfrm>
            <a:off x="7979601" y="2102492"/>
            <a:ext cx="1759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Reads input 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61E0EE-9877-F883-96B5-5BB6B02A27EE}"/>
              </a:ext>
            </a:extLst>
          </p:cNvPr>
          <p:cNvCxnSpPr>
            <a:cxnSpLocks/>
          </p:cNvCxnSpPr>
          <p:nvPr/>
        </p:nvCxnSpPr>
        <p:spPr>
          <a:xfrm flipH="1">
            <a:off x="4546740" y="2288405"/>
            <a:ext cx="3394900" cy="4446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731AA2-EDFD-42BA-F6FF-792F85B7C451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5991593" y="3244334"/>
            <a:ext cx="1281580" cy="2681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037508F-E41B-A743-F83C-CA5167970F38}"/>
              </a:ext>
            </a:extLst>
          </p:cNvPr>
          <p:cNvSpPr txBox="1"/>
          <p:nvPr/>
        </p:nvSpPr>
        <p:spPr>
          <a:xfrm>
            <a:off x="7273173" y="3059668"/>
            <a:ext cx="4399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Computes average of current + past 2 values.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EF2C2E-5CDD-3E07-66C9-BD113EDCD698}"/>
              </a:ext>
            </a:extLst>
          </p:cNvPr>
          <p:cNvCxnSpPr>
            <a:cxnSpLocks/>
          </p:cNvCxnSpPr>
          <p:nvPr/>
        </p:nvCxnSpPr>
        <p:spPr>
          <a:xfrm flipH="1" flipV="1">
            <a:off x="3076628" y="4961000"/>
            <a:ext cx="3667703" cy="707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7C6757-1F13-8FB6-8F3D-32DB59422822}"/>
              </a:ext>
            </a:extLst>
          </p:cNvPr>
          <p:cNvSpPr txBox="1"/>
          <p:nvPr/>
        </p:nvSpPr>
        <p:spPr>
          <a:xfrm>
            <a:off x="6847619" y="4839383"/>
            <a:ext cx="2039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Outputs past values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D988D5-4402-47E5-BEC2-8BD9001C1C39}"/>
              </a:ext>
            </a:extLst>
          </p:cNvPr>
          <p:cNvCxnSpPr>
            <a:cxnSpLocks/>
          </p:cNvCxnSpPr>
          <p:nvPr/>
        </p:nvCxnSpPr>
        <p:spPr>
          <a:xfrm flipH="1" flipV="1">
            <a:off x="6216331" y="3780584"/>
            <a:ext cx="947311" cy="1596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69B810-4C69-1A66-5002-1AF53DEFF8FF}"/>
              </a:ext>
            </a:extLst>
          </p:cNvPr>
          <p:cNvSpPr txBox="1"/>
          <p:nvPr/>
        </p:nvSpPr>
        <p:spPr>
          <a:xfrm>
            <a:off x="7330356" y="3733831"/>
            <a:ext cx="429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Writes output</a:t>
            </a:r>
          </a:p>
        </p:txBody>
      </p:sp>
    </p:spTree>
    <p:extLst>
      <p:ext uri="{BB962C8B-B14F-4D97-AF65-F5344CB8AC3E}">
        <p14:creationId xmlns:p14="http://schemas.microsoft.com/office/powerpoint/2010/main" val="3380162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48DF-F380-CACC-E868-16377EB3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F0AF-B650-22F4-A0D6-00280F55F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perform</a:t>
            </a:r>
          </a:p>
          <a:p>
            <a:r>
              <a:rPr lang="en-US" dirty="0"/>
              <a:t>C simulation</a:t>
            </a:r>
          </a:p>
          <a:p>
            <a:r>
              <a:rPr lang="en-US" dirty="0"/>
              <a:t>C synthesis</a:t>
            </a:r>
          </a:p>
          <a:p>
            <a:r>
              <a:rPr lang="en-US" dirty="0"/>
              <a:t>RTL co-simulation</a:t>
            </a:r>
          </a:p>
          <a:p>
            <a:r>
              <a:rPr lang="en-US" dirty="0"/>
              <a:t>VCD extraction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FEAB-0355-D2CC-D8F9-D7237927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2F0DB3-FCD2-FA75-F10F-EA7645D65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367" y="450903"/>
            <a:ext cx="5515055" cy="523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54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6B4DA-1530-254A-B8DF-BC09C369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5A6C0-EE7D-A05F-A6E7-9A2550E4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C4B9E-23F5-DA90-F21D-AA067864E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7850"/>
            <a:ext cx="89154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37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BD8C-983A-11E6-76CA-4A032915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5910-65BD-7761-88DA-CF3FE3A5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9106-F195-7360-430E-C3E4D67D1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FIFO Interfaces</a:t>
            </a:r>
          </a:p>
          <a:p>
            <a:r>
              <a:rPr lang="en-US" sz="2400" dirty="0"/>
              <a:t>AXI4 Pure Streaming Interface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 Packetized Streaming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E6615-7924-6397-D46B-393BB345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6377EE0-061A-C483-9A5C-D197F179DC48}"/>
              </a:ext>
            </a:extLst>
          </p:cNvPr>
          <p:cNvSpPr/>
          <p:nvPr/>
        </p:nvSpPr>
        <p:spPr>
          <a:xfrm>
            <a:off x="384535" y="2530490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72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3662-4814-66CD-8A0F-689EA01A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Pure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4DD5-EA7D-74FD-D20A-1FF655B3A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Problem 1:  Many operations fundamentally operate in blocks</a:t>
            </a:r>
          </a:p>
          <a:p>
            <a:pPr lvl="1"/>
            <a:r>
              <a:rPr lang="en-US" sz="2200" dirty="0"/>
              <a:t>Pure streaming interface does not natively have a block boundary</a:t>
            </a:r>
          </a:p>
          <a:p>
            <a:endParaRPr lang="en-US" sz="2400" dirty="0"/>
          </a:p>
          <a:p>
            <a:r>
              <a:rPr lang="en-US" sz="2400" dirty="0"/>
              <a:t>Problem 2: Hard to synchronize control and data</a:t>
            </a:r>
          </a:p>
          <a:p>
            <a:endParaRPr lang="en-US" sz="2400" dirty="0"/>
          </a:p>
          <a:p>
            <a:r>
              <a:rPr lang="en-US" sz="2400" dirty="0"/>
              <a:t>Problem 3:  Vitis is not well-equipped to simulate continuous kernels</a:t>
            </a:r>
          </a:p>
          <a:p>
            <a:pPr lvl="1"/>
            <a:r>
              <a:rPr lang="en-US" sz="2200" dirty="0"/>
              <a:t>Vitis has a fundamentally flawed execution model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0469-2CA7-2554-BD71-B81B55CF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87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BAE9-A99A-B1D5-056A-C6D9731CA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 Block-Based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B80C-7281-957C-B816-B9607E43A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Many problems naturally work on blocks</a:t>
            </a:r>
          </a:p>
          <a:p>
            <a:r>
              <a:rPr lang="en-US" sz="2400" dirty="0"/>
              <a:t>Need to know boundaries</a:t>
            </a:r>
          </a:p>
          <a:p>
            <a:r>
              <a:rPr lang="en-US" sz="2400" dirty="0"/>
              <a:t>Ex:  Image processing</a:t>
            </a:r>
          </a:p>
          <a:p>
            <a:pPr lvl="1"/>
            <a:r>
              <a:rPr lang="en-US" sz="2200" dirty="0"/>
              <a:t>Each input is a image</a:t>
            </a:r>
          </a:p>
          <a:p>
            <a:pPr lvl="1"/>
            <a:r>
              <a:rPr lang="en-US" sz="2200" dirty="0"/>
              <a:t>Images have a first and last element</a:t>
            </a:r>
          </a:p>
          <a:p>
            <a:pPr lvl="1"/>
            <a:r>
              <a:rPr lang="en-US" sz="2200" dirty="0"/>
              <a:t>Scanned in some particular order (e.g. row-wise)</a:t>
            </a:r>
          </a:p>
          <a:p>
            <a:r>
              <a:rPr lang="en-US" sz="2400" dirty="0"/>
              <a:t>Ex 2:  Matrix multiply</a:t>
            </a:r>
          </a:p>
          <a:p>
            <a:pPr lvl="1"/>
            <a:r>
              <a:rPr lang="en-US" sz="2200" dirty="0"/>
              <a:t>Module needs two matrices</a:t>
            </a:r>
          </a:p>
          <a:p>
            <a:pPr lvl="1"/>
            <a:r>
              <a:rPr lang="en-US" sz="2200" dirty="0"/>
              <a:t>Each has to be read in some order</a:t>
            </a:r>
          </a:p>
          <a:p>
            <a:r>
              <a:rPr lang="en-US" sz="2400" dirty="0"/>
              <a:t>Pure streaming is not natively good for these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09420-EA90-62A6-D9E7-71E67A6C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773A57-F8E1-D7DC-31E1-3B3FE85DFD5F}"/>
              </a:ext>
            </a:extLst>
          </p:cNvPr>
          <p:cNvGrpSpPr/>
          <p:nvPr/>
        </p:nvGrpSpPr>
        <p:grpSpPr>
          <a:xfrm>
            <a:off x="9959521" y="2117134"/>
            <a:ext cx="852527" cy="602910"/>
            <a:chOff x="7684440" y="2394551"/>
            <a:chExt cx="852527" cy="6029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FA232-7B04-88C0-5AEB-1A3CDC6D57B3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46943B-EA2C-8A30-1369-A855BA364DC0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79EA44-F5E7-94CB-76DE-2FDF54759EE4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25182F-E434-C388-37B4-66312EE53AD6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B80257-4B12-E845-0A03-C0B71196AA81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4AFD88-9C7B-70AA-EE90-C579EA486E06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48B6-8565-010D-9E99-331EB5C7E301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748D0F-3FF5-FD90-ED86-1608EBA9D57D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160C-FBB6-9DED-6530-D7AB4DD29D74}"/>
              </a:ext>
            </a:extLst>
          </p:cNvPr>
          <p:cNvSpPr/>
          <p:nvPr/>
        </p:nvSpPr>
        <p:spPr>
          <a:xfrm>
            <a:off x="9941233" y="3840506"/>
            <a:ext cx="875144" cy="594901"/>
          </a:xfrm>
          <a:prstGeom prst="rect">
            <a:avLst/>
          </a:prstGeom>
          <a:solidFill>
            <a:srgbClr val="CAD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F8E03-B4AF-57B7-8632-028F96CEBB96}"/>
              </a:ext>
            </a:extLst>
          </p:cNvPr>
          <p:cNvSpPr txBox="1"/>
          <p:nvPr/>
        </p:nvSpPr>
        <p:spPr>
          <a:xfrm>
            <a:off x="9319941" y="1568982"/>
            <a:ext cx="2230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Individual elements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99824-1CCC-4B96-ED04-8B3F10EAE52A}"/>
              </a:ext>
            </a:extLst>
          </p:cNvPr>
          <p:cNvSpPr txBox="1"/>
          <p:nvPr/>
        </p:nvSpPr>
        <p:spPr>
          <a:xfrm>
            <a:off x="9483198" y="4552085"/>
            <a:ext cx="2140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Blocks of elements</a:t>
            </a:r>
          </a:p>
        </p:txBody>
      </p:sp>
    </p:spTree>
    <p:extLst>
      <p:ext uri="{BB962C8B-B14F-4D97-AF65-F5344CB8AC3E}">
        <p14:creationId xmlns:p14="http://schemas.microsoft.com/office/powerpoint/2010/main" val="1504686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E840-DF5E-B3B0-CF12-5B0F26E8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2:  Control-Data Synchronization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62485-FB20-BE40-988E-A46EA09DC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2027" cy="4329817"/>
              </a:xfrm>
            </p:spPr>
            <p:txBody>
              <a:bodyPr/>
              <a:lstStyle/>
              <a:p>
                <a:r>
                  <a:rPr lang="en-US" sz="2400" dirty="0"/>
                  <a:t>This problem is more subtle</a:t>
                </a:r>
              </a:p>
              <a:p>
                <a:r>
                  <a:rPr lang="en-US" sz="2400" dirty="0"/>
                  <a:t>Consider a parametrized streaming function: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: some parameter that changes slowly</a:t>
                </a:r>
              </a:p>
              <a:p>
                <a:r>
                  <a:rPr lang="en-US" sz="2200" dirty="0"/>
                  <a:t>For example, streaming polynomial: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62485-FB20-BE40-988E-A46EA09DC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2027" cy="4329817"/>
              </a:xfrm>
              <a:blipFill>
                <a:blip r:embed="rId2"/>
                <a:stretch>
                  <a:fillRect l="-2679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04275-84AB-DD14-ABAA-85088244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A6D5B5-6727-5E19-C396-8166D8C89543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1B830F-E587-85BE-37AA-DAE3C44E0618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682924-7703-E627-2315-499A8DDF609E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C4739E-C9B4-F791-A335-C902379FBEC5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0328FC-BB24-1B76-FB55-A13071EB82C7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F37AE4-800A-D228-0F47-17CD70C034E4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5BC797-6DC4-75C7-0D75-3AC33CDDD486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DA11EF-39E2-93CE-3561-E1EB891D501F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792FC3-3705-2C42-3515-7D2703835B0F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5FE37C-E69E-0D3A-39B1-4983F8A74432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D15F19-C6ED-B62E-5593-6F8ACB805BF0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Hardware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accelerator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189944-1D27-6435-AF27-1AD68CDD011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753ED5-FC2E-42BF-5645-76505FBB81C7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01920C-9349-4BA6-F4E6-C7937FAC783C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9F446E-55EC-A60D-D150-C1A1EEBA53CA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943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</a:t>
                </a:r>
                <a:r>
                  <a:rPr lang="en-US" sz="1600" dirty="0"/>
                  <a:t>stream</a:t>
                </a:r>
                <a:endParaRPr lang="en-US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9F446E-55EC-A60D-D150-C1A1EEBA5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94366" cy="553998"/>
              </a:xfrm>
              <a:prstGeom prst="rect">
                <a:avLst/>
              </a:prstGeom>
              <a:blipFill>
                <a:blip r:embed="rId3"/>
                <a:stretch>
                  <a:fillRect l="-1531" r="-1531" b="-13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6FA922-D21B-212A-5F9F-EA85AC7141B1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6FA922-D21B-212A-5F9F-EA85AC714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D1E1F048-3534-3047-E15E-A80487127116}"/>
              </a:ext>
            </a:extLst>
          </p:cNvPr>
          <p:cNvSpPr/>
          <p:nvPr/>
        </p:nvSpPr>
        <p:spPr>
          <a:xfrm>
            <a:off x="9511946" y="2384258"/>
            <a:ext cx="483663" cy="67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AE41CA-05E5-5A36-550C-9B89EC02BE9B}"/>
              </a:ext>
            </a:extLst>
          </p:cNvPr>
          <p:cNvCxnSpPr>
            <a:cxnSpLocks/>
          </p:cNvCxnSpPr>
          <p:nvPr/>
        </p:nvCxnSpPr>
        <p:spPr>
          <a:xfrm>
            <a:off x="8003203" y="2711804"/>
            <a:ext cx="15266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45B32F7-713E-6E80-3012-DD05856E63A3}"/>
              </a:ext>
            </a:extLst>
          </p:cNvPr>
          <p:cNvCxnSpPr>
            <a:endCxn id="13" idx="0"/>
          </p:cNvCxnSpPr>
          <p:nvPr/>
        </p:nvCxnSpPr>
        <p:spPr>
          <a:xfrm>
            <a:off x="10027004" y="2711804"/>
            <a:ext cx="1030342" cy="44414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9FD316-50C8-C169-DE64-D1F0A1069722}"/>
                  </a:ext>
                </a:extLst>
              </p:cNvPr>
              <p:cNvSpPr txBox="1"/>
              <p:nvPr/>
            </p:nvSpPr>
            <p:spPr>
              <a:xfrm>
                <a:off x="8228265" y="2266630"/>
                <a:ext cx="96930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sz="1600" dirty="0"/>
                  <a:t>Control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9FD316-50C8-C169-DE64-D1F0A1069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65" y="2266630"/>
                <a:ext cx="969304" cy="338554"/>
              </a:xfrm>
              <a:prstGeom prst="rect">
                <a:avLst/>
              </a:prstGeom>
              <a:blipFill>
                <a:blip r:embed="rId5"/>
                <a:stretch>
                  <a:fillRect l="-3774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350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0F28-2AB9-7E76-DA4B-1FE8E5E0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Solution:  Mix AXI4-Lite and AXI4-Stream?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B61BD-F756-F3AB-83A5-D87590EB0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</p:spPr>
            <p:txBody>
              <a:bodyPr/>
              <a:lstStyle/>
              <a:p>
                <a:r>
                  <a:rPr lang="en-US" dirty="0"/>
                  <a:t>Given:</a:t>
                </a:r>
              </a:p>
              <a:p>
                <a:pPr lvl="1"/>
                <a:r>
                  <a:rPr lang="en-US" dirty="0"/>
                  <a:t>Input stream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 (change slowly)</a:t>
                </a:r>
              </a:p>
              <a:p>
                <a:r>
                  <a:rPr lang="en-US" dirty="0"/>
                  <a:t>Compute output stream: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Set coefficients via </a:t>
                </a:r>
                <a:r>
                  <a:rPr lang="en-US" dirty="0">
                    <a:solidFill>
                      <a:srgbClr val="00B050"/>
                    </a:solidFill>
                  </a:rPr>
                  <a:t>AXI4-Lite</a:t>
                </a:r>
              </a:p>
              <a:p>
                <a:pPr lvl="1"/>
                <a:r>
                  <a:rPr lang="en-US" dirty="0"/>
                  <a:t>Assume they change slowly</a:t>
                </a:r>
              </a:p>
              <a:p>
                <a:pPr lvl="1"/>
                <a:r>
                  <a:rPr lang="en-US" dirty="0"/>
                  <a:t>Do not need fast read / write</a:t>
                </a:r>
              </a:p>
              <a:p>
                <a:pPr lvl="1"/>
                <a:r>
                  <a:rPr lang="en-US" dirty="0"/>
                  <a:t>But benefit from continuous access</a:t>
                </a:r>
              </a:p>
              <a:p>
                <a:r>
                  <a:rPr lang="en-US" dirty="0"/>
                  <a:t> Use </a:t>
                </a:r>
                <a:r>
                  <a:rPr lang="en-US" dirty="0">
                    <a:solidFill>
                      <a:srgbClr val="0070C0"/>
                    </a:solidFill>
                  </a:rPr>
                  <a:t>AXI4-Stream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B61BD-F756-F3AB-83A5-D87590EB0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  <a:blipFill>
                <a:blip r:embed="rId2"/>
                <a:stretch>
                  <a:fillRect l="-269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0E17F-009E-FEF1-A284-B18904D9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33FEDE-EDFB-2BE4-A2DD-DEE8A4A9F803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5E7704-C593-E863-AFCF-7CD3582E115A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7237CF-611A-6530-B714-48971C688C60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BAE03D-1AF1-A187-AE46-3BBFEA4EB6C2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F699862-2418-5A23-1271-A292C26FC8DA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08A57E-06D1-9306-756A-AC5570587B34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7CF8AB-8296-4E91-500A-6B5BB9C2296D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CFA737-899B-F3C4-64C6-D4A1E4244155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14320-A7ED-5E9C-4DA6-110C4B1CCEA1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99B8F1-1C75-0B65-B91A-0377E8854222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DEB889-C36D-02DA-9EAB-1FCE58BDB2FD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Hardware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accelerator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F14970-E186-B5FE-3C56-74C87EC227A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0E7D3F-50C5-1CE4-0ED3-2DB1A43E535C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13C9957-9F5A-27DC-7889-1BF7E298E3FE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blipFill>
                <a:blip r:embed="rId3"/>
                <a:stretch>
                  <a:fillRect l="-1630" r="-54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DC90BAE-CD71-694B-02E0-4F4C3B0F800F}"/>
              </a:ext>
            </a:extLst>
          </p:cNvPr>
          <p:cNvSpPr/>
          <p:nvPr/>
        </p:nvSpPr>
        <p:spPr>
          <a:xfrm>
            <a:off x="9511946" y="2384258"/>
            <a:ext cx="483663" cy="67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E32BEC-6D48-67D0-A25D-75DE00424484}"/>
              </a:ext>
            </a:extLst>
          </p:cNvPr>
          <p:cNvCxnSpPr>
            <a:cxnSpLocks/>
          </p:cNvCxnSpPr>
          <p:nvPr/>
        </p:nvCxnSpPr>
        <p:spPr>
          <a:xfrm>
            <a:off x="8003203" y="2711804"/>
            <a:ext cx="15266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E6B23AD-2A9F-1405-6F48-63580721CFDE}"/>
              </a:ext>
            </a:extLst>
          </p:cNvPr>
          <p:cNvSpPr txBox="1"/>
          <p:nvPr/>
        </p:nvSpPr>
        <p:spPr>
          <a:xfrm>
            <a:off x="6793816" y="2517778"/>
            <a:ext cx="929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AXI4-Lite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286D636-6F72-7429-BCE0-F364D0E29B61}"/>
              </a:ext>
            </a:extLst>
          </p:cNvPr>
          <p:cNvCxnSpPr>
            <a:endCxn id="22" idx="0"/>
          </p:cNvCxnSpPr>
          <p:nvPr/>
        </p:nvCxnSpPr>
        <p:spPr>
          <a:xfrm>
            <a:off x="10027004" y="2711804"/>
            <a:ext cx="1030342" cy="44414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5CBA31-FA73-08DB-5299-7139C1E2E521}"/>
                  </a:ext>
                </a:extLst>
              </p:cNvPr>
              <p:cNvSpPr txBox="1"/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Coefficients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5CBA31-FA73-08DB-5299-7139C1E2E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blipFill>
                <a:blip r:embed="rId5"/>
                <a:stretch>
                  <a:fillRect l="-1754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CB7D4E75-9FB7-DCF2-5EC1-2D4AFC236D22}"/>
              </a:ext>
            </a:extLst>
          </p:cNvPr>
          <p:cNvSpPr txBox="1"/>
          <p:nvPr/>
        </p:nvSpPr>
        <p:spPr>
          <a:xfrm>
            <a:off x="6389179" y="3916168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AXI4-Stream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A1F7CBD7-FF91-5EDB-F0F7-7FD71E35D23E}"/>
              </a:ext>
            </a:extLst>
          </p:cNvPr>
          <p:cNvSpPr/>
          <p:nvPr/>
        </p:nvSpPr>
        <p:spPr>
          <a:xfrm>
            <a:off x="7608519" y="3300578"/>
            <a:ext cx="486633" cy="1593332"/>
          </a:xfrm>
          <a:prstGeom prst="lef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98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8DD9-D689-C136-686B-250F756F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Potential HLS Module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00AAD-678E-5849-3980-7B73A0083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528F30-13F6-C17F-7168-24AE62B2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245" y="1539277"/>
            <a:ext cx="5546960" cy="4356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5E90A-53B0-E890-43F2-3BFA447AA349}"/>
              </a:ext>
            </a:extLst>
          </p:cNvPr>
          <p:cNvSpPr txBox="1"/>
          <p:nvPr/>
        </p:nvSpPr>
        <p:spPr>
          <a:xfrm>
            <a:off x="7459252" y="248957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Coefficients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E190AB-F68C-5137-12AD-563827B4616A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490536" y="2672996"/>
            <a:ext cx="4968716" cy="12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24F565-9BDC-3154-3371-1A194ECEE6F0}"/>
              </a:ext>
            </a:extLst>
          </p:cNvPr>
          <p:cNvSpPr txBox="1"/>
          <p:nvPr/>
        </p:nvSpPr>
        <p:spPr>
          <a:xfrm>
            <a:off x="7459252" y="1906948"/>
            <a:ext cx="2580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and output streams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981F50-1504-3831-2F21-671FB5535D75}"/>
              </a:ext>
            </a:extLst>
          </p:cNvPr>
          <p:cNvCxnSpPr>
            <a:cxnSpLocks/>
          </p:cNvCxnSpPr>
          <p:nvPr/>
        </p:nvCxnSpPr>
        <p:spPr>
          <a:xfrm flipH="1">
            <a:off x="4400234" y="2092861"/>
            <a:ext cx="3021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E03B4B-8F9B-B4A2-A610-292ED5DE2E2F}"/>
              </a:ext>
            </a:extLst>
          </p:cNvPr>
          <p:cNvCxnSpPr>
            <a:cxnSpLocks/>
          </p:cNvCxnSpPr>
          <p:nvPr/>
        </p:nvCxnSpPr>
        <p:spPr>
          <a:xfrm flipH="1">
            <a:off x="5128487" y="3512459"/>
            <a:ext cx="20957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81A497C-4466-7C15-48C2-3653885E0A90}"/>
              </a:ext>
            </a:extLst>
          </p:cNvPr>
          <p:cNvSpPr txBox="1"/>
          <p:nvPr/>
        </p:nvSpPr>
        <p:spPr>
          <a:xfrm>
            <a:off x="7303484" y="3084791"/>
            <a:ext cx="38890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variables are AXI4-Stream</a:t>
            </a:r>
            <a:br>
              <a:rPr lang="en-US" dirty="0"/>
            </a:br>
            <a:r>
              <a:rPr lang="en-US" dirty="0"/>
              <a:t>Does not state if master or slave.</a:t>
            </a:r>
          </a:p>
          <a:p>
            <a:r>
              <a:rPr lang="en-US" dirty="0"/>
              <a:t>Direction will be inferred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870DE9-667B-2004-AD5B-31CC5FFD26C9}"/>
              </a:ext>
            </a:extLst>
          </p:cNvPr>
          <p:cNvCxnSpPr>
            <a:cxnSpLocks/>
          </p:cNvCxnSpPr>
          <p:nvPr/>
        </p:nvCxnSpPr>
        <p:spPr>
          <a:xfrm flipH="1">
            <a:off x="5402133" y="4432753"/>
            <a:ext cx="20957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6A138C-16A1-B4C1-22E8-2C68F357D6C1}"/>
              </a:ext>
            </a:extLst>
          </p:cNvPr>
          <p:cNvSpPr txBox="1"/>
          <p:nvPr/>
        </p:nvSpPr>
        <p:spPr>
          <a:xfrm>
            <a:off x="7528982" y="4248087"/>
            <a:ext cx="243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AXI4-Stream FIFO depth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D31DBD-6E6C-4E73-8DD5-CD730D71419F}"/>
              </a:ext>
            </a:extLst>
          </p:cNvPr>
          <p:cNvCxnSpPr>
            <a:cxnSpLocks/>
          </p:cNvCxnSpPr>
          <p:nvPr/>
        </p:nvCxnSpPr>
        <p:spPr>
          <a:xfrm flipH="1">
            <a:off x="6126480" y="5418722"/>
            <a:ext cx="13714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1C01BC5-B1F6-4502-186E-C3E55096B925}"/>
              </a:ext>
            </a:extLst>
          </p:cNvPr>
          <p:cNvSpPr txBox="1"/>
          <p:nvPr/>
        </p:nvSpPr>
        <p:spPr>
          <a:xfrm>
            <a:off x="7604035" y="5234056"/>
            <a:ext cx="379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coefficients are AXI4-Lite</a:t>
            </a:r>
          </a:p>
        </p:txBody>
      </p:sp>
    </p:spTree>
    <p:extLst>
      <p:ext uri="{BB962C8B-B14F-4D97-AF65-F5344CB8AC3E}">
        <p14:creationId xmlns:p14="http://schemas.microsoft.com/office/powerpoint/2010/main" val="2994449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0E7D-5B85-2DF5-A5F3-47C9B2BC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3C80-EBEF-55BC-734A-F4937706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Mixing AXI4-Lite and AXI4-Stream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5ED36-AE50-F133-92AF-669600BBE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200435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/>
                  <a:t>:  How do we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synchronize</a:t>
                </a:r>
                <a:r>
                  <a:rPr lang="en-US" dirty="0"/>
                  <a:t> control and data?</a:t>
                </a:r>
              </a:p>
              <a:p>
                <a:r>
                  <a:rPr lang="en-US" dirty="0"/>
                  <a:t>Control and data are typically fed by different sources</a:t>
                </a:r>
              </a:p>
              <a:p>
                <a:r>
                  <a:rPr lang="en-US" dirty="0"/>
                  <a:t>Exact timing of control is indeterminate.</a:t>
                </a:r>
              </a:p>
              <a:p>
                <a:r>
                  <a:rPr lang="en-US" dirty="0"/>
                  <a:t>Bad:  </a:t>
                </a:r>
                <a:r>
                  <a:rPr lang="en-US" i="1" dirty="0"/>
                  <a:t>“Change control around now”</a:t>
                </a:r>
              </a:p>
              <a:p>
                <a:r>
                  <a:rPr lang="en-US" dirty="0"/>
                  <a:t>Good:  </a:t>
                </a:r>
              </a:p>
              <a:p>
                <a:pPr lvl="1"/>
                <a:r>
                  <a:rPr lang="en-US" dirty="0"/>
                  <a:t>Index samples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i="1" dirty="0"/>
                  <a:t>Apply this control precisely on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i="1" dirty="0"/>
                  <a:t>”</a:t>
                </a:r>
              </a:p>
              <a:p>
                <a:r>
                  <a:rPr lang="en-US" dirty="0"/>
                  <a:t>This synchronization needs additional logic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5ED36-AE50-F133-92AF-669600BBE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200435" cy="4329817"/>
              </a:xfrm>
              <a:blipFill>
                <a:blip r:embed="rId2"/>
                <a:stretch>
                  <a:fillRect l="-236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DFC31-6765-C014-D02C-59835B0A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1D3C24-91E1-965D-2741-11B2C9D1568D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3E3F4-3798-D68A-74F2-A99473D089DB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AD7A2F-B0BE-D020-24A3-DDD52ACD67FF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EDA8D7-4616-0885-D454-E424B743C72C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3F7C54-371C-1FBE-F2E5-1C77E98F89F3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8F9DE6-9416-EFEE-B8E5-323F95147CC0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8EE19C-75F7-F0FC-D3D4-F82D57FC2A57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66287A-AB17-B813-8B2E-216C1A06B6D6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033F903-0490-FCED-C733-5015E1F83BDE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D12FB2-A56E-8F0E-C6F9-ED620D9A3808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5C70AE-56AD-0323-A205-3418A87B523C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Hardware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accelerator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1485A0-6443-2777-D2CE-F6CD746BB1B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24C696-F016-58B9-6581-4457C8687D27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FB18755-3D31-C537-1427-CD28FFCD3F0E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2ADA7A-A35B-EA41-62CE-71EB0F7EB362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blipFill>
                <a:blip r:embed="rId3"/>
                <a:stretch>
                  <a:fillRect l="-1630" r="-54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A8C674-BC65-A030-3EF3-7250F486C4F2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2CB74CD2-004E-BDD8-4418-4B6802B1DD8D}"/>
              </a:ext>
            </a:extLst>
          </p:cNvPr>
          <p:cNvSpPr/>
          <p:nvPr/>
        </p:nvSpPr>
        <p:spPr>
          <a:xfrm>
            <a:off x="9511946" y="2384258"/>
            <a:ext cx="483663" cy="67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189D5C-AD26-AF1D-7EB3-FE8FC2282F5D}"/>
              </a:ext>
            </a:extLst>
          </p:cNvPr>
          <p:cNvCxnSpPr>
            <a:cxnSpLocks/>
          </p:cNvCxnSpPr>
          <p:nvPr/>
        </p:nvCxnSpPr>
        <p:spPr>
          <a:xfrm>
            <a:off x="8003203" y="2711804"/>
            <a:ext cx="15266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3269603-DD17-5248-AECB-269FF125E1D4}"/>
              </a:ext>
            </a:extLst>
          </p:cNvPr>
          <p:cNvSpPr txBox="1"/>
          <p:nvPr/>
        </p:nvSpPr>
        <p:spPr>
          <a:xfrm>
            <a:off x="6793816" y="2517778"/>
            <a:ext cx="929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AXI4-Lite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E255F11-FC77-04B7-7834-9283E7C7A440}"/>
              </a:ext>
            </a:extLst>
          </p:cNvPr>
          <p:cNvCxnSpPr>
            <a:endCxn id="22" idx="0"/>
          </p:cNvCxnSpPr>
          <p:nvPr/>
        </p:nvCxnSpPr>
        <p:spPr>
          <a:xfrm>
            <a:off x="10027004" y="2711804"/>
            <a:ext cx="1030342" cy="44414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9865A4-9C5D-95AF-08C7-606B1E65AAD8}"/>
                  </a:ext>
                </a:extLst>
              </p:cNvPr>
              <p:cNvSpPr txBox="1"/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Coefficients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5CBA31-FA73-08DB-5299-7139C1E2E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blipFill>
                <a:blip r:embed="rId5"/>
                <a:stretch>
                  <a:fillRect l="-1754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091DC8FB-AF1B-81F2-043C-7B3FBCC8D6AC}"/>
              </a:ext>
            </a:extLst>
          </p:cNvPr>
          <p:cNvSpPr txBox="1"/>
          <p:nvPr/>
        </p:nvSpPr>
        <p:spPr>
          <a:xfrm>
            <a:off x="6389179" y="3916168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AXI4-Stream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ADA2C7D3-D2ED-377D-08F6-7BA7679E4093}"/>
              </a:ext>
            </a:extLst>
          </p:cNvPr>
          <p:cNvSpPr/>
          <p:nvPr/>
        </p:nvSpPr>
        <p:spPr>
          <a:xfrm>
            <a:off x="7608519" y="3300578"/>
            <a:ext cx="486633" cy="1593332"/>
          </a:xfrm>
          <a:prstGeom prst="lef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Green checkmark icon - Free green check mark icons">
            <a:extLst>
              <a:ext uri="{FF2B5EF4-FFF2-40B4-BE49-F238E27FC236}">
                <a16:creationId xmlns:a16="http://schemas.microsoft.com/office/drawing/2014/main" id="{E0C31F0D-8B36-6177-5951-2E7B7E30E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50" y="3651609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2557DCEE-64DE-EE93-A1BD-EF3AE9179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4" y="2752097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217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D8A3-8CAC-3489-F17A-FC0A6950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3:  Vitis’ Flawed Execution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A00C6-EA1A-E68E-F96B-F66F04FB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D56979-8544-F878-BF94-1997D1755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61" y="2535989"/>
            <a:ext cx="3440199" cy="2895986"/>
          </a:xfrm>
          <a:prstGeom prst="rect">
            <a:avLst/>
          </a:prstGeom>
        </p:spPr>
      </p:pic>
      <p:pic>
        <p:nvPicPr>
          <p:cNvPr id="9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63F03467-C3D9-B770-07FE-2CD3076C68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377452" y="3211742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A3F805-6192-6429-5B78-60BCD7332208}"/>
              </a:ext>
            </a:extLst>
          </p:cNvPr>
          <p:cNvSpPr txBox="1"/>
          <p:nvPr/>
        </p:nvSpPr>
        <p:spPr>
          <a:xfrm>
            <a:off x="377452" y="4374095"/>
            <a:ext cx="11738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Software</a:t>
            </a:r>
            <a:r>
              <a:rPr lang="en-US" dirty="0"/>
              <a:t> </a:t>
            </a:r>
          </a:p>
          <a:p>
            <a:r>
              <a:rPr lang="en-US" dirty="0"/>
              <a:t>developer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57396A-AC7C-9434-B8EE-53863DBCB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187" y="3569944"/>
            <a:ext cx="3870493" cy="115882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4929B8-119F-1755-FE43-DC78713BFBB5}"/>
              </a:ext>
            </a:extLst>
          </p:cNvPr>
          <p:cNvSpPr/>
          <p:nvPr/>
        </p:nvSpPr>
        <p:spPr>
          <a:xfrm>
            <a:off x="5293872" y="3909506"/>
            <a:ext cx="1665215" cy="381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3AC3F76C-6150-BC2C-1F68-1199B6E0AC8B}"/>
              </a:ext>
            </a:extLst>
          </p:cNvPr>
          <p:cNvSpPr/>
          <p:nvPr/>
        </p:nvSpPr>
        <p:spPr>
          <a:xfrm>
            <a:off x="640482" y="1589714"/>
            <a:ext cx="1930744" cy="1303060"/>
          </a:xfrm>
          <a:prstGeom prst="wedgeEllipseCallou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4EF294-0BE1-6A29-E0B4-14CE885BFE42}"/>
              </a:ext>
            </a:extLst>
          </p:cNvPr>
          <p:cNvSpPr txBox="1"/>
          <p:nvPr/>
        </p:nvSpPr>
        <p:spPr>
          <a:xfrm>
            <a:off x="1010343" y="1799040"/>
            <a:ext cx="1318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 need to </a:t>
            </a:r>
          </a:p>
          <a:p>
            <a:r>
              <a:rPr lang="en-US" i="1" dirty="0"/>
              <a:t>accelerate this step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8678BD-AE9C-CFD3-229B-0F90C1D62B68}"/>
              </a:ext>
            </a:extLst>
          </p:cNvPr>
          <p:cNvSpPr/>
          <p:nvPr/>
        </p:nvSpPr>
        <p:spPr>
          <a:xfrm>
            <a:off x="1396822" y="3871519"/>
            <a:ext cx="3548488" cy="50257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5A85F2-E5E1-4505-351B-EA1C26909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164" y="2178938"/>
            <a:ext cx="3870493" cy="125006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Vitis generated RTL equivalent code</a:t>
            </a:r>
          </a:p>
          <a:p>
            <a:pPr lvl="1"/>
            <a:r>
              <a:rPr lang="en-US" dirty="0"/>
              <a:t>Drop-in replacement for SW call</a:t>
            </a:r>
          </a:p>
          <a:p>
            <a:pPr lvl="1"/>
            <a:r>
              <a:rPr lang="en-US" dirty="0"/>
              <a:t>Called with sequential manner</a:t>
            </a:r>
          </a:p>
        </p:txBody>
      </p:sp>
      <p:pic>
        <p:nvPicPr>
          <p:cNvPr id="1026" name="Picture 2" descr="Xilinx Vitis HLS introduction - imperix">
            <a:extLst>
              <a:ext uri="{FF2B5EF4-FFF2-40B4-BE49-F238E27FC236}">
                <a16:creationId xmlns:a16="http://schemas.microsoft.com/office/drawing/2014/main" id="{B755EA6D-7FEC-F9C7-AA6B-68A2623D6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99" y="3112434"/>
            <a:ext cx="1328399" cy="75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592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3804-C62C-29CE-9D97-2FCB0D37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Execution Model Flaws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50C821-4BCD-67D0-0E93-669FB7540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28082"/>
              </p:ext>
            </p:extLst>
          </p:nvPr>
        </p:nvGraphicFramePr>
        <p:xfrm>
          <a:off x="1096963" y="1539874"/>
          <a:ext cx="10058397" cy="2332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444">
                  <a:extLst>
                    <a:ext uri="{9D8B030D-6E8A-4147-A177-3AD203B41FA5}">
                      <a16:colId xmlns:a16="http://schemas.microsoft.com/office/drawing/2014/main" val="1733473567"/>
                    </a:ext>
                  </a:extLst>
                </a:gridCol>
                <a:gridCol w="3338819">
                  <a:extLst>
                    <a:ext uri="{9D8B030D-6E8A-4147-A177-3AD203B41FA5}">
                      <a16:colId xmlns:a16="http://schemas.microsoft.com/office/drawing/2014/main" val="3475919425"/>
                    </a:ext>
                  </a:extLst>
                </a:gridCol>
                <a:gridCol w="4012134">
                  <a:extLst>
                    <a:ext uri="{9D8B030D-6E8A-4147-A177-3AD203B41FA5}">
                      <a16:colId xmlns:a16="http://schemas.microsoft.com/office/drawing/2014/main" val="1529927841"/>
                    </a:ext>
                  </a:extLst>
                </a:gridCol>
              </a:tblGrid>
              <a:tr h="526174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Vitis 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 hardware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65373"/>
                  </a:ext>
                </a:extLst>
              </a:tr>
              <a:tr h="558683">
                <a:tc>
                  <a:txBody>
                    <a:bodyPr/>
                    <a:lstStyle/>
                    <a:p>
                      <a:r>
                        <a:rPr lang="en-US" dirty="0"/>
                        <a:t>Execution paradigm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 is “called” like a C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Modules operate continuously and</a:t>
                      </a:r>
                    </a:p>
                    <a:p>
                      <a:r>
                        <a:rPr lang="en-US" dirty="0"/>
                        <a:t>respond to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56429"/>
                  </a:ext>
                </a:extLst>
              </a:tr>
              <a:tr h="558683"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C-like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channels e.g., FIFOs and memory-mapped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549"/>
                  </a:ext>
                </a:extLst>
              </a:tr>
              <a:tr h="526174">
                <a:tc>
                  <a:txBody>
                    <a:bodyPr/>
                    <a:lstStyle/>
                    <a:p>
                      <a:r>
                        <a:rPr lang="en-US" dirty="0"/>
                        <a:t>Concurrent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Obscured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Made explicit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9116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456E9-E376-BF30-2016-ACD456E6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E48C1E-3D31-79A1-8C4B-9118AA8A8985}"/>
              </a:ext>
            </a:extLst>
          </p:cNvPr>
          <p:cNvSpPr/>
          <p:nvPr/>
        </p:nvSpPr>
        <p:spPr>
          <a:xfrm>
            <a:off x="2592196" y="4688952"/>
            <a:ext cx="6048463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Hardware is not software</a:t>
            </a:r>
          </a:p>
        </p:txBody>
      </p:sp>
      <p:pic>
        <p:nvPicPr>
          <p:cNvPr id="7" name="Picture 2" descr="Green checkmark icon - Free green check mark icons">
            <a:extLst>
              <a:ext uri="{FF2B5EF4-FFF2-40B4-BE49-F238E27FC236}">
                <a16:creationId xmlns:a16="http://schemas.microsoft.com/office/drawing/2014/main" id="{F0C8E41E-D704-1BCC-6209-2690A3E38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934" y="3725872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F211B40B-71D0-8A28-BEE0-41933CDA7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809" y="3767170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26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1C57-3EB2-E520-3514-96F45A75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8EE6-3A00-1929-A4E2-F8C5EB59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F4F66-AFF9-131D-D8D9-51EDD9E6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FIFO Interfaces</a:t>
            </a:r>
          </a:p>
          <a:p>
            <a:r>
              <a:rPr lang="en-US" sz="2400" dirty="0"/>
              <a:t>AXI4 Pure Streaming Interface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 Packetized Streaming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089C7-64A4-F7F7-8D7D-6B9FA02B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AF7767E-346E-8A29-770D-91E1C9B11D02}"/>
              </a:ext>
            </a:extLst>
          </p:cNvPr>
          <p:cNvSpPr/>
          <p:nvPr/>
        </p:nvSpPr>
        <p:spPr>
          <a:xfrm>
            <a:off x="349172" y="3005372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38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F70C8-5A01-AF1E-0680-FE73C5B4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4340-A292-4750-DABC-C181D725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vs. Packetized Streaming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F082E-5A4F-E08C-546F-E956403BA9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368059" cy="4329817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Pure streaming</a:t>
                </a:r>
              </a:p>
              <a:p>
                <a:pPr lvl="1"/>
                <a:r>
                  <a:rPr lang="en-US" sz="2000" dirty="0"/>
                  <a:t>Module processes one </a:t>
                </a:r>
                <a:r>
                  <a:rPr lang="en-US" sz="2000" dirty="0">
                    <a:solidFill>
                      <a:srgbClr val="00B050"/>
                    </a:solidFill>
                  </a:rPr>
                  <a:t>data element </a:t>
                </a:r>
                <a:r>
                  <a:rPr lang="en-US" sz="2000" dirty="0"/>
                  <a:t>at a time</a:t>
                </a:r>
              </a:p>
              <a:p>
                <a:pPr lvl="1"/>
                <a:r>
                  <a:rPr lang="en-US" sz="2000" dirty="0"/>
                  <a:t>Ex: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solidFill>
                      <a:srgbClr val="0070C0"/>
                    </a:solidFill>
                  </a:rPr>
                  <a:t>Control</a:t>
                </a:r>
                <a:r>
                  <a:rPr lang="en-US" sz="2000" dirty="0"/>
                  <a:t> (e.g.,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) set in a separate path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Packet streaming</a:t>
                </a:r>
              </a:p>
              <a:p>
                <a:pPr lvl="1"/>
                <a:r>
                  <a:rPr lang="en-US" sz="2000" dirty="0"/>
                  <a:t>Module processes data in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blocks</a:t>
                </a:r>
                <a:r>
                  <a:rPr lang="en-US" sz="2000" dirty="0"/>
                  <a:t> or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packets</a:t>
                </a:r>
              </a:p>
              <a:p>
                <a:pPr lvl="1"/>
                <a:r>
                  <a:rPr lang="en-US" sz="2000" dirty="0"/>
                  <a:t>Control may be sent with packet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F082E-5A4F-E08C-546F-E956403BA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368059" cy="4329817"/>
              </a:xfrm>
              <a:blipFill>
                <a:blip r:embed="rId2"/>
                <a:stretch>
                  <a:fillRect l="-317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7E6F8-218E-5D07-D287-333953A7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91202F-68B2-84C1-C614-43542C9C8361}"/>
              </a:ext>
            </a:extLst>
          </p:cNvPr>
          <p:cNvSpPr/>
          <p:nvPr/>
        </p:nvSpPr>
        <p:spPr>
          <a:xfrm>
            <a:off x="9025291" y="2261257"/>
            <a:ext cx="1067793" cy="8405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32D5E5-988E-9E2E-8F77-36936A012DD2}"/>
              </a:ext>
            </a:extLst>
          </p:cNvPr>
          <p:cNvSpPr txBox="1"/>
          <p:nvPr/>
        </p:nvSpPr>
        <p:spPr>
          <a:xfrm>
            <a:off x="8906604" y="3110648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HW module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196C10-DE0A-03D4-491E-CA386772EF90}"/>
              </a:ext>
            </a:extLst>
          </p:cNvPr>
          <p:cNvCxnSpPr>
            <a:cxnSpLocks/>
          </p:cNvCxnSpPr>
          <p:nvPr/>
        </p:nvCxnSpPr>
        <p:spPr>
          <a:xfrm>
            <a:off x="8612365" y="2733856"/>
            <a:ext cx="359622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CDC7AE-D497-A49A-115D-3852963E2A9F}"/>
              </a:ext>
            </a:extLst>
          </p:cNvPr>
          <p:cNvGrpSpPr/>
          <p:nvPr/>
        </p:nvGrpSpPr>
        <p:grpSpPr>
          <a:xfrm>
            <a:off x="7684440" y="2394551"/>
            <a:ext cx="852527" cy="602910"/>
            <a:chOff x="7684440" y="2394551"/>
            <a:chExt cx="852527" cy="6029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62A5C8-3523-5074-7980-5F42F3BBBC33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740196-42E4-F405-0FB1-BB62CB6873E8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4F7601-9099-5A75-BDDD-B597CD854ABA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2D6ACD-3F57-CEFE-C841-6550695CED89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0A58D6-19AB-1FBE-024A-532101551F24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3632D8-4FDF-4B83-3E29-42E5C29CBB67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4502DF-DABD-8D39-37BA-63ECD638D454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C1505C4-C807-A40C-9888-71857CB5D910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4865E1-E4D6-26A9-1CA9-40F282B1A5C2}"/>
              </a:ext>
            </a:extLst>
          </p:cNvPr>
          <p:cNvCxnSpPr>
            <a:cxnSpLocks/>
          </p:cNvCxnSpPr>
          <p:nvPr/>
        </p:nvCxnSpPr>
        <p:spPr>
          <a:xfrm>
            <a:off x="7204253" y="2717981"/>
            <a:ext cx="359622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BA8799-1C32-B2BE-156F-012F92BC4BEF}"/>
              </a:ext>
            </a:extLst>
          </p:cNvPr>
          <p:cNvCxnSpPr>
            <a:cxnSpLocks/>
          </p:cNvCxnSpPr>
          <p:nvPr/>
        </p:nvCxnSpPr>
        <p:spPr>
          <a:xfrm>
            <a:off x="10167432" y="2702103"/>
            <a:ext cx="359622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74DCF47-833D-7AB6-AE85-DF3010432AB5}"/>
              </a:ext>
            </a:extLst>
          </p:cNvPr>
          <p:cNvSpPr/>
          <p:nvPr/>
        </p:nvSpPr>
        <p:spPr>
          <a:xfrm>
            <a:off x="8243564" y="1653065"/>
            <a:ext cx="266730" cy="505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784176-E37C-2DF4-EC33-B73405912C9A}"/>
              </a:ext>
            </a:extLst>
          </p:cNvPr>
          <p:cNvSpPr txBox="1"/>
          <p:nvPr/>
        </p:nvSpPr>
        <p:spPr>
          <a:xfrm>
            <a:off x="7204253" y="1721334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Control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E8DED9-986D-CF57-E609-6A15386DFD97}"/>
              </a:ext>
            </a:extLst>
          </p:cNvPr>
          <p:cNvSpPr txBox="1"/>
          <p:nvPr/>
        </p:nvSpPr>
        <p:spPr>
          <a:xfrm>
            <a:off x="6431918" y="2348649"/>
            <a:ext cx="11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Input data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EF11C7E7-25FA-56BB-0701-B4F5EDF9324F}"/>
              </a:ext>
            </a:extLst>
          </p:cNvPr>
          <p:cNvCxnSpPr>
            <a:endCxn id="22" idx="0"/>
          </p:cNvCxnSpPr>
          <p:nvPr/>
        </p:nvCxnSpPr>
        <p:spPr>
          <a:xfrm>
            <a:off x="8612365" y="1906000"/>
            <a:ext cx="946823" cy="355257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39B194B-6EA8-EBE2-827C-C702DF545BDC}"/>
              </a:ext>
            </a:extLst>
          </p:cNvPr>
          <p:cNvSpPr txBox="1"/>
          <p:nvPr/>
        </p:nvSpPr>
        <p:spPr>
          <a:xfrm>
            <a:off x="10367588" y="2025219"/>
            <a:ext cx="132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Output data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6056BC7-9E8D-E642-E70B-32BF32BFCC25}"/>
              </a:ext>
            </a:extLst>
          </p:cNvPr>
          <p:cNvGrpSpPr/>
          <p:nvPr/>
        </p:nvGrpSpPr>
        <p:grpSpPr>
          <a:xfrm>
            <a:off x="10625259" y="2432401"/>
            <a:ext cx="852527" cy="602910"/>
            <a:chOff x="7684440" y="2394551"/>
            <a:chExt cx="852527" cy="60291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DBB8727-DABE-B65A-FF02-14CFA0BD3927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A4E5EF9-2D03-7181-DA49-34FD772280DD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0EC30DD-6612-2C75-66A8-B8985ADBFE45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779C16E-82BE-1260-C968-1C92A45A0F5E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E4C9B4-E4D4-935F-65DE-60BC61B4433A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C3884B5-FC98-CB0F-E04D-CB0ADC9C416E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9210E3B-8A07-3366-A3A3-1BF24B280DD7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DD26E71-30A8-85D1-779C-0912575C0CA5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03180AC-3036-ADE4-FECA-5472189B28CC}"/>
              </a:ext>
            </a:extLst>
          </p:cNvPr>
          <p:cNvSpPr/>
          <p:nvPr/>
        </p:nvSpPr>
        <p:spPr>
          <a:xfrm>
            <a:off x="8612365" y="4426946"/>
            <a:ext cx="1067793" cy="8405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452CAB-BD34-6CFD-184F-F88D7723D001}"/>
              </a:ext>
            </a:extLst>
          </p:cNvPr>
          <p:cNvSpPr txBox="1"/>
          <p:nvPr/>
        </p:nvSpPr>
        <p:spPr>
          <a:xfrm>
            <a:off x="8493678" y="5276337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HW module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6F1298-7F28-30DD-9883-B80C5FF858B1}"/>
              </a:ext>
            </a:extLst>
          </p:cNvPr>
          <p:cNvCxnSpPr>
            <a:cxnSpLocks/>
          </p:cNvCxnSpPr>
          <p:nvPr/>
        </p:nvCxnSpPr>
        <p:spPr>
          <a:xfrm>
            <a:off x="8199439" y="4899545"/>
            <a:ext cx="359622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AC9D529-DC05-C081-0A0D-68CB863D0529}"/>
              </a:ext>
            </a:extLst>
          </p:cNvPr>
          <p:cNvCxnSpPr>
            <a:cxnSpLocks/>
          </p:cNvCxnSpPr>
          <p:nvPr/>
        </p:nvCxnSpPr>
        <p:spPr>
          <a:xfrm>
            <a:off x="6264300" y="4919087"/>
            <a:ext cx="359622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46273A4B-9B6E-4892-F14C-8400C376B2B9}"/>
              </a:ext>
            </a:extLst>
          </p:cNvPr>
          <p:cNvSpPr/>
          <p:nvPr/>
        </p:nvSpPr>
        <p:spPr>
          <a:xfrm>
            <a:off x="6872098" y="4626389"/>
            <a:ext cx="264648" cy="5949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089955-0A75-FCC9-9FED-D4BF3CC6C6D8}"/>
              </a:ext>
            </a:extLst>
          </p:cNvPr>
          <p:cNvSpPr txBox="1"/>
          <p:nvPr/>
        </p:nvSpPr>
        <p:spPr>
          <a:xfrm>
            <a:off x="6364211" y="5333498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Control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CF1BDF-353C-101D-0A7E-563CE5B71E20}"/>
              </a:ext>
            </a:extLst>
          </p:cNvPr>
          <p:cNvSpPr txBox="1"/>
          <p:nvPr/>
        </p:nvSpPr>
        <p:spPr>
          <a:xfrm>
            <a:off x="7321656" y="5333498"/>
            <a:ext cx="620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Data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DBF58C8-A670-1F32-14BF-6B438B1A1F2B}"/>
              </a:ext>
            </a:extLst>
          </p:cNvPr>
          <p:cNvSpPr/>
          <p:nvPr/>
        </p:nvSpPr>
        <p:spPr>
          <a:xfrm>
            <a:off x="7155795" y="4626388"/>
            <a:ext cx="875144" cy="594901"/>
          </a:xfrm>
          <a:prstGeom prst="rect">
            <a:avLst/>
          </a:prstGeom>
          <a:solidFill>
            <a:srgbClr val="CAD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6F9B54E-6B89-9E62-E398-9A606C9AC23F}"/>
              </a:ext>
            </a:extLst>
          </p:cNvPr>
          <p:cNvCxnSpPr>
            <a:cxnSpLocks/>
          </p:cNvCxnSpPr>
          <p:nvPr/>
        </p:nvCxnSpPr>
        <p:spPr>
          <a:xfrm>
            <a:off x="9852147" y="4899545"/>
            <a:ext cx="359622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51722E52-1B37-F5D1-8598-DC2A30350B60}"/>
              </a:ext>
            </a:extLst>
          </p:cNvPr>
          <p:cNvSpPr/>
          <p:nvPr/>
        </p:nvSpPr>
        <p:spPr>
          <a:xfrm>
            <a:off x="10311086" y="4626388"/>
            <a:ext cx="264648" cy="5949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CAB993-87D8-1388-D9BC-E1A3EACC56D5}"/>
              </a:ext>
            </a:extLst>
          </p:cNvPr>
          <p:cNvSpPr/>
          <p:nvPr/>
        </p:nvSpPr>
        <p:spPr>
          <a:xfrm>
            <a:off x="10594783" y="4626387"/>
            <a:ext cx="875144" cy="594901"/>
          </a:xfrm>
          <a:prstGeom prst="rect">
            <a:avLst/>
          </a:prstGeom>
          <a:solidFill>
            <a:srgbClr val="CAD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EAFDB05-9EFE-0C32-BCC0-5892130F696B}"/>
              </a:ext>
            </a:extLst>
          </p:cNvPr>
          <p:cNvSpPr txBox="1"/>
          <p:nvPr/>
        </p:nvSpPr>
        <p:spPr>
          <a:xfrm>
            <a:off x="9987890" y="5351726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Control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088015-95D2-F8FB-1425-EFBF469FA312}"/>
              </a:ext>
            </a:extLst>
          </p:cNvPr>
          <p:cNvSpPr txBox="1"/>
          <p:nvPr/>
        </p:nvSpPr>
        <p:spPr>
          <a:xfrm>
            <a:off x="10838643" y="5351726"/>
            <a:ext cx="620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269494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A96D-0C86-0E4B-1B67-9212B8AD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50BE-7D2C-45AC-24E3-12B7D524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AXI4-Stream Protocol with Packetization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9692-B3EB-70AE-2261-6CC46457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4C2A5BA-0AA3-EAE9-951F-E143C581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803" y="1769792"/>
            <a:ext cx="6008502" cy="4152223"/>
          </a:xfrm>
        </p:spPr>
        <p:txBody>
          <a:bodyPr>
            <a:normAutofit/>
          </a:bodyPr>
          <a:lstStyle/>
          <a:p>
            <a:r>
              <a:rPr lang="en-US" dirty="0"/>
              <a:t>Add a </a:t>
            </a:r>
            <a:r>
              <a:rPr lang="en-US" dirty="0">
                <a:solidFill>
                  <a:srgbClr val="00B050"/>
                </a:solidFill>
              </a:rPr>
              <a:t>TLAST</a:t>
            </a:r>
            <a:r>
              <a:rPr lang="en-US" dirty="0"/>
              <a:t> line</a:t>
            </a:r>
          </a:p>
          <a:p>
            <a:r>
              <a:rPr lang="en-US" dirty="0"/>
              <a:t>TLAST = 1 on the last transfer</a:t>
            </a:r>
          </a:p>
          <a:p>
            <a:r>
              <a:rPr lang="en-US" dirty="0"/>
              <a:t>Indicates the end of packet</a:t>
            </a:r>
          </a:p>
          <a:p>
            <a:r>
              <a:rPr lang="en-US" dirty="0"/>
              <a:t>Packets are transferred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bursts</a:t>
            </a:r>
          </a:p>
          <a:p>
            <a:pPr lvl="1"/>
            <a:r>
              <a:rPr lang="en-US" dirty="0"/>
              <a:t>Begins with first TVALID = 1</a:t>
            </a:r>
          </a:p>
          <a:p>
            <a:pPr lvl="1"/>
            <a:r>
              <a:rPr lang="en-US" dirty="0"/>
              <a:t>Ends TLAST=1 and successful transfer</a:t>
            </a:r>
          </a:p>
          <a:p>
            <a:r>
              <a:rPr lang="en-US" dirty="0"/>
              <a:t>Cycles in a burst are called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beats</a:t>
            </a:r>
          </a:p>
          <a:p>
            <a:pPr lvl="1"/>
            <a:r>
              <a:rPr lang="en-US" dirty="0"/>
              <a:t>Transfer beat (TVALID=TREADY=1)</a:t>
            </a:r>
          </a:p>
          <a:p>
            <a:pPr lvl="1"/>
            <a:r>
              <a:rPr lang="en-US" dirty="0"/>
              <a:t>Idle beat (TVALID=0)</a:t>
            </a:r>
          </a:p>
          <a:p>
            <a:pPr lvl="1"/>
            <a:r>
              <a:rPr lang="en-US" dirty="0"/>
              <a:t>Stall beat (TVALID=1, TREADY=0)</a:t>
            </a:r>
          </a:p>
          <a:p>
            <a:pPr lvl="1"/>
            <a:r>
              <a:rPr lang="en-US" dirty="0"/>
              <a:t>Last beat (TVALID=TREADY=TLAST=1)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31B39-62BE-736C-096D-FEB4CABBE5D4}"/>
              </a:ext>
            </a:extLst>
          </p:cNvPr>
          <p:cNvSpPr txBox="1"/>
          <p:nvPr/>
        </p:nvSpPr>
        <p:spPr>
          <a:xfrm>
            <a:off x="7041159" y="153464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5A1C6-67D4-A516-9D04-2C7D44AB9F35}"/>
              </a:ext>
            </a:extLst>
          </p:cNvPr>
          <p:cNvSpPr txBox="1"/>
          <p:nvPr/>
        </p:nvSpPr>
        <p:spPr>
          <a:xfrm>
            <a:off x="10379981" y="1516425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C707DB-E9F0-130B-A5EE-887F0925854F}"/>
              </a:ext>
            </a:extLst>
          </p:cNvPr>
          <p:cNvSpPr/>
          <p:nvPr/>
        </p:nvSpPr>
        <p:spPr>
          <a:xfrm>
            <a:off x="6969846" y="1959024"/>
            <a:ext cx="1163703" cy="22666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D27180-E740-6484-322D-A8119B666414}"/>
              </a:ext>
            </a:extLst>
          </p:cNvPr>
          <p:cNvSpPr/>
          <p:nvPr/>
        </p:nvSpPr>
        <p:spPr>
          <a:xfrm>
            <a:off x="10012558" y="1959024"/>
            <a:ext cx="1645562" cy="2266693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4F757C-E098-9712-53D0-B75A4FFFFD30}"/>
              </a:ext>
            </a:extLst>
          </p:cNvPr>
          <p:cNvGrpSpPr/>
          <p:nvPr/>
        </p:nvGrpSpPr>
        <p:grpSpPr>
          <a:xfrm>
            <a:off x="10426252" y="2348278"/>
            <a:ext cx="641095" cy="606822"/>
            <a:chOff x="7020134" y="1975969"/>
            <a:chExt cx="641095" cy="6068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84D613-65AE-A31D-0073-7EB646DBB9C2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E4AF67-7461-9FA1-91FC-2870724AF777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9A4E5AB-1BC8-C042-D3D3-DFD42061BCA8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5C604A-69BA-5BAD-EB7D-51E50A2069BC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44E310-2F0F-67CD-527B-AB0DB78D9729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3C01343-1D5B-97C3-D614-EC3DD7B97F53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E4A28CA-5473-A95A-C3D4-5A16988C51C5}"/>
              </a:ext>
            </a:extLst>
          </p:cNvPr>
          <p:cNvSpPr txBox="1"/>
          <p:nvPr/>
        </p:nvSpPr>
        <p:spPr>
          <a:xfrm>
            <a:off x="10504246" y="2010375"/>
            <a:ext cx="559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FIFO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1DCB4-3F3D-FCE5-EA0D-F8D57AA480A0}"/>
              </a:ext>
            </a:extLst>
          </p:cNvPr>
          <p:cNvCxnSpPr>
            <a:cxnSpLocks/>
          </p:cNvCxnSpPr>
          <p:nvPr/>
        </p:nvCxnSpPr>
        <p:spPr>
          <a:xfrm>
            <a:off x="8153709" y="2734393"/>
            <a:ext cx="1879009" cy="1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F72FAB-969C-9B54-B114-9CE2126C2921}"/>
              </a:ext>
            </a:extLst>
          </p:cNvPr>
          <p:cNvCxnSpPr>
            <a:cxnSpLocks/>
          </p:cNvCxnSpPr>
          <p:nvPr/>
        </p:nvCxnSpPr>
        <p:spPr>
          <a:xfrm>
            <a:off x="11096702" y="2649729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D83138-6996-934C-955A-980D069185B3}"/>
              </a:ext>
            </a:extLst>
          </p:cNvPr>
          <p:cNvCxnSpPr>
            <a:cxnSpLocks/>
          </p:cNvCxnSpPr>
          <p:nvPr/>
        </p:nvCxnSpPr>
        <p:spPr>
          <a:xfrm flipH="1">
            <a:off x="8133549" y="2236560"/>
            <a:ext cx="187900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FFDA3-B6E9-2A2E-5EE1-E153D74E7B7A}"/>
              </a:ext>
            </a:extLst>
          </p:cNvPr>
          <p:cNvCxnSpPr>
            <a:cxnSpLocks/>
          </p:cNvCxnSpPr>
          <p:nvPr/>
        </p:nvCxnSpPr>
        <p:spPr>
          <a:xfrm>
            <a:off x="8133549" y="3134913"/>
            <a:ext cx="1899169" cy="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618AB87-450F-AC62-491E-393CB9ED5EEB}"/>
              </a:ext>
            </a:extLst>
          </p:cNvPr>
          <p:cNvSpPr txBox="1"/>
          <p:nvPr/>
        </p:nvSpPr>
        <p:spPr>
          <a:xfrm>
            <a:off x="8610876" y="2325220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TDATA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C9B7E9-8721-BC98-A3E4-FC228543861D}"/>
              </a:ext>
            </a:extLst>
          </p:cNvPr>
          <p:cNvSpPr txBox="1"/>
          <p:nvPr/>
        </p:nvSpPr>
        <p:spPr>
          <a:xfrm>
            <a:off x="8603157" y="2751125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TVALID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77C875-633F-61B0-E9DF-5DF27C447CA7}"/>
              </a:ext>
            </a:extLst>
          </p:cNvPr>
          <p:cNvSpPr txBox="1"/>
          <p:nvPr/>
        </p:nvSpPr>
        <p:spPr>
          <a:xfrm>
            <a:off x="8566557" y="1802932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TREADY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780C12-DAC2-B510-4E1C-8705F1B817EB}"/>
              </a:ext>
            </a:extLst>
          </p:cNvPr>
          <p:cNvCxnSpPr>
            <a:cxnSpLocks/>
          </p:cNvCxnSpPr>
          <p:nvPr/>
        </p:nvCxnSpPr>
        <p:spPr>
          <a:xfrm>
            <a:off x="8143628" y="3720165"/>
            <a:ext cx="1899169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EC299D-DFD8-0F36-0FF4-90EC6BB305E5}"/>
              </a:ext>
            </a:extLst>
          </p:cNvPr>
          <p:cNvSpPr txBox="1"/>
          <p:nvPr/>
        </p:nvSpPr>
        <p:spPr>
          <a:xfrm>
            <a:off x="8610876" y="3357540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TLAST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533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B7E6-87C9-43FC-0944-CF65802B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Burst Timing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9D0AE58-A048-5E05-ECF7-55E6C58D7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12334"/>
              </p:ext>
            </p:extLst>
          </p:nvPr>
        </p:nvGraphicFramePr>
        <p:xfrm>
          <a:off x="1096963" y="1539875"/>
          <a:ext cx="100584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289">
                  <a:extLst>
                    <a:ext uri="{9D8B030D-6E8A-4147-A177-3AD203B41FA5}">
                      <a16:colId xmlns:a16="http://schemas.microsoft.com/office/drawing/2014/main" val="2634803318"/>
                    </a:ext>
                  </a:extLst>
                </a:gridCol>
                <a:gridCol w="1823748">
                  <a:extLst>
                    <a:ext uri="{9D8B030D-6E8A-4147-A177-3AD203B41FA5}">
                      <a16:colId xmlns:a16="http://schemas.microsoft.com/office/drawing/2014/main" val="1311015826"/>
                    </a:ext>
                  </a:extLst>
                </a:gridCol>
                <a:gridCol w="1813644">
                  <a:extLst>
                    <a:ext uri="{9D8B030D-6E8A-4147-A177-3AD203B41FA5}">
                      <a16:colId xmlns:a16="http://schemas.microsoft.com/office/drawing/2014/main" val="1139268487"/>
                    </a:ext>
                  </a:extLst>
                </a:gridCol>
                <a:gridCol w="1813644">
                  <a:extLst>
                    <a:ext uri="{9D8B030D-6E8A-4147-A177-3AD203B41FA5}">
                      <a16:colId xmlns:a16="http://schemas.microsoft.com/office/drawing/2014/main" val="1493387060"/>
                    </a:ext>
                  </a:extLst>
                </a:gridCol>
                <a:gridCol w="2956075">
                  <a:extLst>
                    <a:ext uri="{9D8B030D-6E8A-4147-A177-3AD203B41FA5}">
                      <a16:colId xmlns:a16="http://schemas.microsoft.com/office/drawing/2014/main" val="1828679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TLAST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Beat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98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transfers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44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stalls (Slave not ready)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45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transfers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53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Idle (Master has no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31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 transfers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29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 stalls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17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 transfers with end of burst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9086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A1748-3C49-1031-C6CF-B839CE73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35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01E7-D418-7040-8812-E89076A9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Burst Timing Illustrated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33512-7BB0-60F0-C25E-2C663B1C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759571-77A4-F297-B7F0-A40F28457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70" y="1903617"/>
            <a:ext cx="8924068" cy="246902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D2834-B1DE-8331-06F2-127020DAF506}"/>
              </a:ext>
            </a:extLst>
          </p:cNvPr>
          <p:cNvCxnSpPr/>
          <p:nvPr/>
        </p:nvCxnSpPr>
        <p:spPr>
          <a:xfrm>
            <a:off x="2743200" y="3814210"/>
            <a:ext cx="0" cy="180859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626107-B9B2-BFD9-F099-F757503A02DF}"/>
              </a:ext>
            </a:extLst>
          </p:cNvPr>
          <p:cNvCxnSpPr/>
          <p:nvPr/>
        </p:nvCxnSpPr>
        <p:spPr>
          <a:xfrm>
            <a:off x="8725532" y="3764533"/>
            <a:ext cx="0" cy="180859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386C07-6675-2AA8-3BA1-743B0C1C4E3E}"/>
              </a:ext>
            </a:extLst>
          </p:cNvPr>
          <p:cNvCxnSpPr>
            <a:cxnSpLocks/>
          </p:cNvCxnSpPr>
          <p:nvPr/>
        </p:nvCxnSpPr>
        <p:spPr>
          <a:xfrm>
            <a:off x="2697733" y="4849856"/>
            <a:ext cx="5982332" cy="0"/>
          </a:xfrm>
          <a:prstGeom prst="line">
            <a:avLst/>
          </a:prstGeom>
          <a:ln w="25400">
            <a:headEnd w="sm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B3F2DE-22BC-CE4E-61B9-12BFBA6A0E62}"/>
              </a:ext>
            </a:extLst>
          </p:cNvPr>
          <p:cNvSpPr txBox="1"/>
          <p:nvPr/>
        </p:nvSpPr>
        <p:spPr>
          <a:xfrm>
            <a:off x="4137534" y="5051663"/>
            <a:ext cx="2581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Beats and 4 Transfers</a:t>
            </a:r>
          </a:p>
        </p:txBody>
      </p:sp>
    </p:spTree>
    <p:extLst>
      <p:ext uri="{BB962C8B-B14F-4D97-AF65-F5344CB8AC3E}">
        <p14:creationId xmlns:p14="http://schemas.microsoft.com/office/powerpoint/2010/main" val="377559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1359-0DB0-E283-B8BF-D9F86C99B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8178-4C26-E0D9-1591-64A1348F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 Block Polynomial Accelerator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65E1B-3D8C-C518-8FEE-C81025D78E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</p:spPr>
            <p:txBody>
              <a:bodyPr/>
              <a:lstStyle/>
              <a:p>
                <a:r>
                  <a:rPr lang="en-US" dirty="0"/>
                  <a:t>Given:</a:t>
                </a:r>
              </a:p>
              <a:p>
                <a:pPr lvl="1"/>
                <a:r>
                  <a:rPr lang="en-US" dirty="0"/>
                  <a:t>Input stream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 (change slowly)</a:t>
                </a:r>
              </a:p>
              <a:p>
                <a:r>
                  <a:rPr lang="en-US" dirty="0"/>
                  <a:t>Compute output stream: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Idea:  In each burst transfer</a:t>
                </a:r>
              </a:p>
              <a:p>
                <a:pPr lvl="1"/>
                <a:r>
                  <a:rPr lang="en-US" b="0" dirty="0"/>
                  <a:t>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65E1B-3D8C-C518-8FEE-C81025D78E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  <a:blipFill>
                <a:blip r:embed="rId2"/>
                <a:stretch>
                  <a:fillRect l="-269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2133-19A9-5A49-3DCB-3B32871F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EE4332-F948-6123-AEA7-583CE4CA4BE5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B058F0-D142-05EA-36D2-5BC585119509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A4B230-4EC8-6E57-6B8B-D72A33837AC4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BC684C-BC89-9EDF-E2DF-5C39F301108F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38F8E2-ACFD-40D6-8F14-96CE9B60BF26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7F47EA-3125-B155-8A6D-2E39AD48A128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910E7C-32D4-F594-66FD-F8C01200BF50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0249A1-EF4A-2D65-AC4D-944A3CCBAC2B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0732FF-E3A3-DB82-A98C-ECBE9B79B191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AEB212-8F82-01C6-C0F1-D31F4EF43698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C9BA7C-BEDE-1C70-E060-BDB234A91DE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9E5486-81B8-CDEF-02AC-97F30AED5F28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062C25F-7ABA-C09B-A0A0-5E2775DCFB24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51F8A17-6EF8-5ED4-5B00-159363350188}"/>
              </a:ext>
            </a:extLst>
          </p:cNvPr>
          <p:cNvSpPr txBox="1"/>
          <p:nvPr/>
        </p:nvSpPr>
        <p:spPr>
          <a:xfrm>
            <a:off x="8003203" y="3599195"/>
            <a:ext cx="1122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US" sz="1400" dirty="0"/>
              <a:t>Input stream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3AC02E-424A-93BC-2A1F-442E9A08AB8A}"/>
              </a:ext>
            </a:extLst>
          </p:cNvPr>
          <p:cNvSpPr txBox="1"/>
          <p:nvPr/>
        </p:nvSpPr>
        <p:spPr>
          <a:xfrm>
            <a:off x="8067713" y="4644308"/>
            <a:ext cx="1257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US" sz="1400" dirty="0"/>
              <a:t>Output stream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D88B3B-8B7D-87EB-2AB8-A49D66E4DAE8}"/>
              </a:ext>
            </a:extLst>
          </p:cNvPr>
          <p:cNvSpPr txBox="1"/>
          <p:nvPr/>
        </p:nvSpPr>
        <p:spPr>
          <a:xfrm>
            <a:off x="6389179" y="3916168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AXI4-Stream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2EFE863C-201C-C721-6820-188F9183B7D7}"/>
              </a:ext>
            </a:extLst>
          </p:cNvPr>
          <p:cNvSpPr/>
          <p:nvPr/>
        </p:nvSpPr>
        <p:spPr>
          <a:xfrm>
            <a:off x="7608519" y="3300578"/>
            <a:ext cx="486633" cy="1593332"/>
          </a:xfrm>
          <a:prstGeom prst="lef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135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8A83-97ED-C29F-0D48-F69CBFA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Packet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B47B3-AA61-157F-AEAF-DA3BEB60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053282-6783-A9A9-3D9C-7B53EE8A7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261" y="1608090"/>
            <a:ext cx="5186483" cy="24544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4E516BD-5781-648B-1D13-B221FB3AB604}"/>
              </a:ext>
            </a:extLst>
          </p:cNvPr>
          <p:cNvSpPr/>
          <p:nvPr/>
        </p:nvSpPr>
        <p:spPr>
          <a:xfrm>
            <a:off x="1209265" y="2280803"/>
            <a:ext cx="914400" cy="14233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21E38-6115-0A4E-DA93-7BC5F40EF854}"/>
              </a:ext>
            </a:extLst>
          </p:cNvPr>
          <p:cNvSpPr/>
          <p:nvPr/>
        </p:nvSpPr>
        <p:spPr>
          <a:xfrm>
            <a:off x="2164921" y="2280803"/>
            <a:ext cx="3892347" cy="14233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F63C1-7359-391E-B35D-E5D9CDF14212}"/>
              </a:ext>
            </a:extLst>
          </p:cNvPr>
          <p:cNvSpPr txBox="1"/>
          <p:nvPr/>
        </p:nvSpPr>
        <p:spPr>
          <a:xfrm>
            <a:off x="491070" y="4273936"/>
            <a:ext cx="25142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Transaction ID (see later)</a:t>
            </a:r>
          </a:p>
          <a:p>
            <a:r>
              <a:rPr lang="en-US" dirty="0"/>
              <a:t>Coefficients</a:t>
            </a:r>
          </a:p>
          <a:p>
            <a:r>
              <a:rPr lang="en-US" dirty="0"/>
              <a:t>Length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2FFE4-4ABF-536B-6CE7-1B355611199D}"/>
              </a:ext>
            </a:extLst>
          </p:cNvPr>
          <p:cNvSpPr txBox="1"/>
          <p:nvPr/>
        </p:nvSpPr>
        <p:spPr>
          <a:xfrm>
            <a:off x="1171737" y="1573399"/>
            <a:ext cx="1152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Command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Header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86B50B-72E1-E453-18E2-E32CEBDF6EA9}"/>
              </a:ext>
            </a:extLst>
          </p:cNvPr>
          <p:cNvSpPr txBox="1"/>
          <p:nvPr/>
        </p:nvSpPr>
        <p:spPr>
          <a:xfrm>
            <a:off x="3476652" y="1619142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E17E2D-71A3-9523-11C2-006114B1D5A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424645" y="3704185"/>
            <a:ext cx="241820" cy="61016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49C88C-600C-E2AA-73EA-B7DA1F0C6DA8}"/>
              </a:ext>
            </a:extLst>
          </p:cNvPr>
          <p:cNvCxnSpPr>
            <a:cxnSpLocks/>
          </p:cNvCxnSpPr>
          <p:nvPr/>
        </p:nvCxnSpPr>
        <p:spPr>
          <a:xfrm flipH="1" flipV="1">
            <a:off x="4007453" y="3757455"/>
            <a:ext cx="286691" cy="1249011"/>
          </a:xfrm>
          <a:prstGeom prst="straightConnector1">
            <a:avLst/>
          </a:prstGeom>
          <a:ln w="25400">
            <a:solidFill>
              <a:srgbClr val="9227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CE9861-52D1-4496-F438-6FF1BD44AD15}"/>
                  </a:ext>
                </a:extLst>
              </p:cNvPr>
              <p:cNvSpPr txBox="1"/>
              <p:nvPr/>
            </p:nvSpPr>
            <p:spPr>
              <a:xfrm>
                <a:off x="3463136" y="5114552"/>
                <a:ext cx="18742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CE9861-52D1-4496-F438-6FF1BD44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136" y="5114552"/>
                <a:ext cx="1874231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3748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7C8C-C98D-E7C9-3C3E-20375720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DC76-9E04-6B91-BD76-CBBF52F9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Packet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4EADC-11D9-6142-0F4C-FF1090A6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83B87-0519-3D2E-0E6D-D0A0CA12FB58}"/>
              </a:ext>
            </a:extLst>
          </p:cNvPr>
          <p:cNvSpPr/>
          <p:nvPr/>
        </p:nvSpPr>
        <p:spPr>
          <a:xfrm>
            <a:off x="616503" y="2280803"/>
            <a:ext cx="480778" cy="14233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F0F3D-4BAD-AFA6-C02C-60C5356BFCFF}"/>
              </a:ext>
            </a:extLst>
          </p:cNvPr>
          <p:cNvSpPr/>
          <p:nvPr/>
        </p:nvSpPr>
        <p:spPr>
          <a:xfrm>
            <a:off x="1171737" y="2280803"/>
            <a:ext cx="2261690" cy="14233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809BB-399D-F9EB-DCAF-626D5F3CC37E}"/>
              </a:ext>
            </a:extLst>
          </p:cNvPr>
          <p:cNvSpPr txBox="1"/>
          <p:nvPr/>
        </p:nvSpPr>
        <p:spPr>
          <a:xfrm>
            <a:off x="99216" y="4573569"/>
            <a:ext cx="15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Transaction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13EA7-E469-59DA-3C0E-089D1F1435A1}"/>
              </a:ext>
            </a:extLst>
          </p:cNvPr>
          <p:cNvSpPr txBox="1"/>
          <p:nvPr/>
        </p:nvSpPr>
        <p:spPr>
          <a:xfrm>
            <a:off x="316133" y="1517409"/>
            <a:ext cx="108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Response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Header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29A8F-9BD1-B586-F2FF-1B69A7F3D97F}"/>
              </a:ext>
            </a:extLst>
          </p:cNvPr>
          <p:cNvSpPr txBox="1"/>
          <p:nvPr/>
        </p:nvSpPr>
        <p:spPr>
          <a:xfrm>
            <a:off x="1942975" y="165590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3BCB63-7560-4344-427E-854261D98108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56891" y="3704185"/>
            <a:ext cx="1" cy="734908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E59F46-3974-E30A-F2AF-4AA42C0C39B9}"/>
              </a:ext>
            </a:extLst>
          </p:cNvPr>
          <p:cNvCxnSpPr>
            <a:cxnSpLocks/>
          </p:cNvCxnSpPr>
          <p:nvPr/>
        </p:nvCxnSpPr>
        <p:spPr>
          <a:xfrm flipV="1">
            <a:off x="2325222" y="3704185"/>
            <a:ext cx="0" cy="968824"/>
          </a:xfrm>
          <a:prstGeom prst="straightConnector1">
            <a:avLst/>
          </a:prstGeom>
          <a:ln w="25400">
            <a:solidFill>
              <a:srgbClr val="9227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11E1BE-3B4A-4A99-89BC-3FF58C2CC1DD}"/>
                  </a:ext>
                </a:extLst>
              </p:cNvPr>
              <p:cNvSpPr txBox="1"/>
              <p:nvPr/>
            </p:nvSpPr>
            <p:spPr>
              <a:xfrm>
                <a:off x="1312738" y="4949786"/>
                <a:ext cx="1881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11E1BE-3B4A-4A99-89BC-3FF58C2CC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738" y="4949786"/>
                <a:ext cx="1881028" cy="369332"/>
              </a:xfrm>
              <a:prstGeom prst="rect">
                <a:avLst/>
              </a:prstGeom>
              <a:blipFill>
                <a:blip r:embed="rId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A3DF7CA-885D-F8D7-104C-EA1FAC430860}"/>
              </a:ext>
            </a:extLst>
          </p:cNvPr>
          <p:cNvSpPr/>
          <p:nvPr/>
        </p:nvSpPr>
        <p:spPr>
          <a:xfrm>
            <a:off x="3523683" y="2280803"/>
            <a:ext cx="573523" cy="1423382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DE9FF-1288-0FD9-5898-4A58BC0084A8}"/>
              </a:ext>
            </a:extLst>
          </p:cNvPr>
          <p:cNvSpPr txBox="1"/>
          <p:nvPr/>
        </p:nvSpPr>
        <p:spPr>
          <a:xfrm>
            <a:off x="3390995" y="1575940"/>
            <a:ext cx="108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Footer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B77815-A372-FCD7-86BF-B3CA89CDA5BC}"/>
              </a:ext>
            </a:extLst>
          </p:cNvPr>
          <p:cNvCxnSpPr>
            <a:cxnSpLocks/>
          </p:cNvCxnSpPr>
          <p:nvPr/>
        </p:nvCxnSpPr>
        <p:spPr>
          <a:xfrm flipV="1">
            <a:off x="3810444" y="3712415"/>
            <a:ext cx="0" cy="54592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DB058E7-0753-335D-8446-F6B4E8809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552" y="1655909"/>
            <a:ext cx="6037022" cy="15372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E05F17-534E-394A-9515-336EEAEAC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656" y="3336817"/>
            <a:ext cx="6404124" cy="26457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E079312-7BF1-470B-5153-3DA66F129750}"/>
              </a:ext>
            </a:extLst>
          </p:cNvPr>
          <p:cNvSpPr txBox="1"/>
          <p:nvPr/>
        </p:nvSpPr>
        <p:spPr>
          <a:xfrm>
            <a:off x="3201109" y="4335008"/>
            <a:ext cx="1163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code</a:t>
            </a:r>
            <a:br>
              <a:rPr lang="en-US" dirty="0"/>
            </a:br>
            <a:r>
              <a:rPr lang="en-US" dirty="0"/>
              <a:t>Num read</a:t>
            </a:r>
          </a:p>
        </p:txBody>
      </p:sp>
    </p:spTree>
    <p:extLst>
      <p:ext uri="{BB962C8B-B14F-4D97-AF65-F5344CB8AC3E}">
        <p14:creationId xmlns:p14="http://schemas.microsoft.com/office/powerpoint/2010/main" val="3186685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2CB0-CC9A-100F-0684-7B804BA39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/ Deserialization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4026-5750-E31C-1C12-7549CD4C2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997" y="1579693"/>
            <a:ext cx="8295276" cy="4240135"/>
          </a:xfrm>
        </p:spPr>
        <p:txBody>
          <a:bodyPr>
            <a:normAutofit/>
          </a:bodyPr>
          <a:lstStyle/>
          <a:p>
            <a:r>
              <a:rPr lang="en-US" sz="2400" dirty="0"/>
              <a:t>Packets have arbitrary:</a:t>
            </a:r>
          </a:p>
          <a:p>
            <a:pPr lvl="1"/>
            <a:r>
              <a:rPr lang="en-US" sz="2200" dirty="0"/>
              <a:t>Structure (often different fields)</a:t>
            </a:r>
          </a:p>
          <a:p>
            <a:pPr lvl="1"/>
            <a:r>
              <a:rPr lang="en-US" sz="2200" dirty="0"/>
              <a:t>Arbitrary, sometimes variable, length</a:t>
            </a:r>
          </a:p>
          <a:p>
            <a:r>
              <a:rPr lang="en-US" sz="2400" dirty="0"/>
              <a:t>Hardware streams have specific bit widths</a:t>
            </a:r>
          </a:p>
          <a:p>
            <a:pPr lvl="1"/>
            <a:r>
              <a:rPr lang="en-US" sz="2000" dirty="0"/>
              <a:t>Ex: 32, 64, 128, …</a:t>
            </a:r>
          </a:p>
          <a:p>
            <a:pPr lvl="1"/>
            <a:r>
              <a:rPr lang="en-US" sz="2000" dirty="0"/>
              <a:t>Each stream element is a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word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Serialization</a:t>
            </a:r>
            <a:r>
              <a:rPr lang="en-US" sz="2400" dirty="0"/>
              <a:t>:    Converts packets to array of stream words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Deserialization</a:t>
            </a:r>
            <a:r>
              <a:rPr lang="en-US" sz="2400" dirty="0"/>
              <a:t>:  Streams words to packets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C6DE3-4B0C-3799-96E9-D9A2A758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3CCD5-E3D0-FDA7-BEF9-BBEB54D22FCA}"/>
              </a:ext>
            </a:extLst>
          </p:cNvPr>
          <p:cNvSpPr/>
          <p:nvPr/>
        </p:nvSpPr>
        <p:spPr>
          <a:xfrm>
            <a:off x="8786996" y="1972635"/>
            <a:ext cx="719227" cy="636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E6674-AF61-37E0-5E28-0143F4578C71}"/>
              </a:ext>
            </a:extLst>
          </p:cNvPr>
          <p:cNvSpPr/>
          <p:nvPr/>
        </p:nvSpPr>
        <p:spPr>
          <a:xfrm>
            <a:off x="9562638" y="1972635"/>
            <a:ext cx="1851365" cy="636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9ACEE-2B2A-8BD8-6082-C0C7EAC8EC1B}"/>
              </a:ext>
            </a:extLst>
          </p:cNvPr>
          <p:cNvSpPr txBox="1"/>
          <p:nvPr/>
        </p:nvSpPr>
        <p:spPr>
          <a:xfrm>
            <a:off x="9415288" y="2991111"/>
            <a:ext cx="1551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uint32 words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FA5A7-15EA-5847-DAB2-47BCB751A056}"/>
              </a:ext>
            </a:extLst>
          </p:cNvPr>
          <p:cNvSpPr txBox="1"/>
          <p:nvPr/>
        </p:nvSpPr>
        <p:spPr>
          <a:xfrm>
            <a:off x="9791979" y="1579693"/>
            <a:ext cx="866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Packet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B89585-55C0-76B5-E418-5E176B24DB47}"/>
              </a:ext>
            </a:extLst>
          </p:cNvPr>
          <p:cNvSpPr/>
          <p:nvPr/>
        </p:nvSpPr>
        <p:spPr>
          <a:xfrm>
            <a:off x="8786996" y="5031904"/>
            <a:ext cx="719227" cy="636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5A3C0E-99EE-A2EC-9B88-4AEB7A82219D}"/>
              </a:ext>
            </a:extLst>
          </p:cNvPr>
          <p:cNvSpPr/>
          <p:nvPr/>
        </p:nvSpPr>
        <p:spPr>
          <a:xfrm>
            <a:off x="9562638" y="5031904"/>
            <a:ext cx="1851365" cy="636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C33607-5BE8-B1B8-EBAF-C48530E23ADF}"/>
              </a:ext>
            </a:extLst>
          </p:cNvPr>
          <p:cNvSpPr txBox="1"/>
          <p:nvPr/>
        </p:nvSpPr>
        <p:spPr>
          <a:xfrm>
            <a:off x="9346794" y="4573208"/>
            <a:ext cx="1551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uint32 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69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EE58-C592-FEFD-6318-7143535B5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185E-A6CB-39E0-6740-112731FF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/ Deserialization Illustrated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1D710-4B25-F1FC-101C-271BDC9D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7C2CF2-8D22-EC4D-D029-75512268B911}"/>
              </a:ext>
            </a:extLst>
          </p:cNvPr>
          <p:cNvSpPr/>
          <p:nvPr/>
        </p:nvSpPr>
        <p:spPr>
          <a:xfrm>
            <a:off x="855460" y="1863164"/>
            <a:ext cx="719227" cy="636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0F9B9D-D6EF-8C23-F071-E146E9D8ACD5}"/>
              </a:ext>
            </a:extLst>
          </p:cNvPr>
          <p:cNvSpPr/>
          <p:nvPr/>
        </p:nvSpPr>
        <p:spPr>
          <a:xfrm>
            <a:off x="1631102" y="1863164"/>
            <a:ext cx="1851365" cy="636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40712-1F76-78DF-B1C6-6419992DA856}"/>
              </a:ext>
            </a:extLst>
          </p:cNvPr>
          <p:cNvSpPr txBox="1"/>
          <p:nvPr/>
        </p:nvSpPr>
        <p:spPr>
          <a:xfrm>
            <a:off x="1511549" y="1394934"/>
            <a:ext cx="1182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TX Packet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C4F03D-B62E-53F1-A6AC-A266CD6300BB}"/>
              </a:ext>
            </a:extLst>
          </p:cNvPr>
          <p:cNvSpPr/>
          <p:nvPr/>
        </p:nvSpPr>
        <p:spPr>
          <a:xfrm>
            <a:off x="8639646" y="4513577"/>
            <a:ext cx="719227" cy="636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DF3B9F-0AA8-43BE-7B41-89A7581BC5BC}"/>
              </a:ext>
            </a:extLst>
          </p:cNvPr>
          <p:cNvSpPr/>
          <p:nvPr/>
        </p:nvSpPr>
        <p:spPr>
          <a:xfrm>
            <a:off x="9415288" y="4513577"/>
            <a:ext cx="1851365" cy="636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E7451E-619B-E8A0-B6C3-1E5B9E131A73}"/>
              </a:ext>
            </a:extLst>
          </p:cNvPr>
          <p:cNvGrpSpPr/>
          <p:nvPr/>
        </p:nvGrpSpPr>
        <p:grpSpPr>
          <a:xfrm>
            <a:off x="3395942" y="3191166"/>
            <a:ext cx="852527" cy="602910"/>
            <a:chOff x="7684440" y="2394551"/>
            <a:chExt cx="852527" cy="60291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B2DA-BE00-EE2E-545D-D5AF955AACEA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DDDD05-D6BD-D2D9-6E7D-6095ACAE5AA1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DA3C59-C123-755B-70F8-7F02F7350E8D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588E17-5EAF-6757-3EE9-C7E1E7DF5424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615649-4E21-7F5D-9F28-F33BA5D99296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1F5A6E6-6602-A131-917B-5C830179553D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11423F-EF59-6515-1952-A0DC6213BCF9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4B3D73B-2FD9-1FD3-2390-C5F4A6E03FA0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07D825-BFE3-4429-D8C4-74FDFB8936DB}"/>
              </a:ext>
            </a:extLst>
          </p:cNvPr>
          <p:cNvGrpSpPr/>
          <p:nvPr/>
        </p:nvGrpSpPr>
        <p:grpSpPr>
          <a:xfrm>
            <a:off x="7450254" y="3127545"/>
            <a:ext cx="852527" cy="602910"/>
            <a:chOff x="7684440" y="2394551"/>
            <a:chExt cx="852527" cy="6029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135356D-1744-68FB-5F08-3D29A583C2BB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0F21044-B043-B353-7511-E67D2B905A36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C25C2E-A1B1-296F-4C94-90A0B1E734ED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69BEF54-2865-91A1-2C4A-31F46635B585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41C31A7-4D4F-CECF-2654-971F870192C8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ECA3810-C258-8835-B1CE-1D57FBFCFA70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B967387-8BAC-B4D2-45DC-EA250FE1EC86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3F78E32-704D-04F3-1805-45EA2362E483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CADE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Arrow: Bent-Up 31">
            <a:extLst>
              <a:ext uri="{FF2B5EF4-FFF2-40B4-BE49-F238E27FC236}">
                <a16:creationId xmlns:a16="http://schemas.microsoft.com/office/drawing/2014/main" id="{266573F9-BF94-539F-5B6D-96A34ED2FCC5}"/>
              </a:ext>
            </a:extLst>
          </p:cNvPr>
          <p:cNvSpPr/>
          <p:nvPr/>
        </p:nvSpPr>
        <p:spPr>
          <a:xfrm rot="5400000">
            <a:off x="2068629" y="2825406"/>
            <a:ext cx="850392" cy="731520"/>
          </a:xfrm>
          <a:prstGeom prst="bentUp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E0CBE3-BD5B-62F7-374A-4221D750FD48}"/>
              </a:ext>
            </a:extLst>
          </p:cNvPr>
          <p:cNvSpPr txBox="1"/>
          <p:nvPr/>
        </p:nvSpPr>
        <p:spPr>
          <a:xfrm>
            <a:off x="835636" y="3594013"/>
            <a:ext cx="1455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Serialization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E48D4D-2E3E-D824-C11A-7C73718B2221}"/>
              </a:ext>
            </a:extLst>
          </p:cNvPr>
          <p:cNvSpPr txBox="1"/>
          <p:nvPr/>
        </p:nvSpPr>
        <p:spPr>
          <a:xfrm>
            <a:off x="2902565" y="4097904"/>
            <a:ext cx="21583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Stream words</a:t>
            </a:r>
            <a:br>
              <a:rPr lang="en-US" sz="2000" dirty="0"/>
            </a:br>
            <a:r>
              <a:rPr lang="en-US" sz="2000" dirty="0"/>
              <a:t>(e.g., </a:t>
            </a:r>
            <a:r>
              <a:rPr lang="en-US" sz="2000" dirty="0" err="1"/>
              <a:t>ap_uint</a:t>
            </a:r>
            <a:r>
              <a:rPr lang="en-US" sz="2000" dirty="0"/>
              <a:t>&lt;32&gt;)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F74409-EE53-71BA-8EAA-9DBC0280F844}"/>
              </a:ext>
            </a:extLst>
          </p:cNvPr>
          <p:cNvSpPr txBox="1"/>
          <p:nvPr/>
        </p:nvSpPr>
        <p:spPr>
          <a:xfrm>
            <a:off x="7053921" y="4001894"/>
            <a:ext cx="16276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Stream words</a:t>
            </a:r>
            <a:endParaRPr lang="en-US" dirty="0"/>
          </a:p>
        </p:txBody>
      </p:sp>
      <p:sp>
        <p:nvSpPr>
          <p:cNvPr id="36" name="Arrow: Bent-Up 35">
            <a:extLst>
              <a:ext uri="{FF2B5EF4-FFF2-40B4-BE49-F238E27FC236}">
                <a16:creationId xmlns:a16="http://schemas.microsoft.com/office/drawing/2014/main" id="{24C631C0-523A-FBE6-04A7-06291E5F8892}"/>
              </a:ext>
            </a:extLst>
          </p:cNvPr>
          <p:cNvSpPr/>
          <p:nvPr/>
        </p:nvSpPr>
        <p:spPr>
          <a:xfrm flipV="1">
            <a:off x="8639645" y="3288917"/>
            <a:ext cx="1514741" cy="944712"/>
          </a:xfrm>
          <a:prstGeom prst="bentUpArrow">
            <a:avLst>
              <a:gd name="adj1" fmla="val 25000"/>
              <a:gd name="adj2" fmla="val 23619"/>
              <a:gd name="adj3" fmla="val 250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5EA100-E37A-6A50-4997-D7D5F5C1E406}"/>
              </a:ext>
            </a:extLst>
          </p:cNvPr>
          <p:cNvSpPr txBox="1"/>
          <p:nvPr/>
        </p:nvSpPr>
        <p:spPr>
          <a:xfrm>
            <a:off x="9044654" y="5354262"/>
            <a:ext cx="1197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RX Packet</a:t>
            </a:r>
            <a:endParaRPr lang="en-US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70682EF-3F84-0C9B-2532-154692076759}"/>
              </a:ext>
            </a:extLst>
          </p:cNvPr>
          <p:cNvSpPr/>
          <p:nvPr/>
        </p:nvSpPr>
        <p:spPr>
          <a:xfrm>
            <a:off x="4759035" y="3191166"/>
            <a:ext cx="2319597" cy="484632"/>
          </a:xfrm>
          <a:prstGeom prst="rightArrow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71FB39-251C-0267-BC25-A5D4E30BE21A}"/>
              </a:ext>
            </a:extLst>
          </p:cNvPr>
          <p:cNvSpPr txBox="1"/>
          <p:nvPr/>
        </p:nvSpPr>
        <p:spPr>
          <a:xfrm>
            <a:off x="5060913" y="2639138"/>
            <a:ext cx="1487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AXI4-Stream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0D1BB1-4A29-23CB-B3A2-D38B46E80E51}"/>
              </a:ext>
            </a:extLst>
          </p:cNvPr>
          <p:cNvSpPr txBox="1"/>
          <p:nvPr/>
        </p:nvSpPr>
        <p:spPr>
          <a:xfrm>
            <a:off x="9141857" y="2721037"/>
            <a:ext cx="1723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Deserialization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409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C73B-4178-47F8-238D-A74D32DE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Serialization / Deserialization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69892-7691-C5E6-C5B8-E171B2602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and C++ have widely-used serialization tools</a:t>
            </a:r>
          </a:p>
          <a:p>
            <a:r>
              <a:rPr lang="en-US" dirty="0"/>
              <a:t>Ex:  Python pickle</a:t>
            </a:r>
          </a:p>
          <a:p>
            <a:pPr lvl="1"/>
            <a:r>
              <a:rPr lang="en-US" dirty="0"/>
              <a:t>Can serialize an arbitrary class</a:t>
            </a:r>
          </a:p>
          <a:p>
            <a:pPr lvl="1"/>
            <a:r>
              <a:rPr lang="en-US" dirty="0"/>
              <a:t>Serializes complex nested structures</a:t>
            </a:r>
          </a:p>
          <a:p>
            <a:r>
              <a:rPr lang="en-US" dirty="0"/>
              <a:t>Ex:  </a:t>
            </a:r>
            <a:r>
              <a:rPr lang="en-US" dirty="0" err="1"/>
              <a:t>Boost.serialization</a:t>
            </a:r>
            <a:endParaRPr lang="en-US" dirty="0"/>
          </a:p>
          <a:p>
            <a:pPr lvl="1"/>
            <a:r>
              <a:rPr lang="en-US" dirty="0"/>
              <a:t>Similar package in C++</a:t>
            </a:r>
          </a:p>
          <a:p>
            <a:pPr lvl="1"/>
            <a:endParaRPr lang="en-US" dirty="0"/>
          </a:p>
          <a:p>
            <a:r>
              <a:rPr lang="en-US" dirty="0"/>
              <a:t>No standard library in hardware</a:t>
            </a:r>
          </a:p>
          <a:p>
            <a:r>
              <a:rPr lang="en-US" dirty="0"/>
              <a:t>Often write custom serialization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6D34D-1404-DC39-A762-BF13C508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FDE08B-8C8F-3F73-04AF-A45611E61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191" y="1539277"/>
            <a:ext cx="5091062" cy="368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207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F652-47CE-F8E9-6C2C-EC8047F3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B8C92-5806-B9FB-48EC-733291CA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F081A6-7C4E-B48E-1DC4-46CAF2C4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94" y="1637676"/>
            <a:ext cx="8320600" cy="49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369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AF3A-F045-6959-4DCD-F0943896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Solution:  Counting the Number of Words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5A4A9-6DC8-7E6F-269F-3109F884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CDE8C-45C0-CA39-76E3-ABA2729A2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93" y="1582692"/>
            <a:ext cx="7478064" cy="449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262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19D0-4350-5644-0BA0-C6E3AE5B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Serialization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F004B-E20C-4CDC-701F-73022EF0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8B27B-D965-011D-EE30-81ABA2AF7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62" y="1491273"/>
            <a:ext cx="6895745" cy="447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90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0359-48BC-F5E7-0D4D-D0BE1903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C7046B-C301-23E8-94C8-71DD1E79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8" y="1774434"/>
            <a:ext cx="6126027" cy="2473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795D97-4F4E-0111-5EE0-82F98D97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Module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77380-E2C3-D85E-6E04-F6830FEA1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7BA34-5AD8-154B-0C44-9AF157172108}"/>
              </a:ext>
            </a:extLst>
          </p:cNvPr>
          <p:cNvSpPr txBox="1"/>
          <p:nvPr/>
        </p:nvSpPr>
        <p:spPr>
          <a:xfrm>
            <a:off x="8201438" y="2145338"/>
            <a:ext cx="2580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and output streams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A39B51-061E-E375-71FA-77F66CEB6F14}"/>
              </a:ext>
            </a:extLst>
          </p:cNvPr>
          <p:cNvCxnSpPr>
            <a:cxnSpLocks/>
          </p:cNvCxnSpPr>
          <p:nvPr/>
        </p:nvCxnSpPr>
        <p:spPr>
          <a:xfrm flipH="1">
            <a:off x="5142420" y="2331251"/>
            <a:ext cx="3021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6AD5CE-2CE8-9533-7F7B-18BBDDB028AB}"/>
              </a:ext>
            </a:extLst>
          </p:cNvPr>
          <p:cNvCxnSpPr>
            <a:cxnSpLocks/>
          </p:cNvCxnSpPr>
          <p:nvPr/>
        </p:nvCxnSpPr>
        <p:spPr>
          <a:xfrm flipH="1">
            <a:off x="5991593" y="3512459"/>
            <a:ext cx="1232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77812A-28D0-0616-A853-07DBED654CF1}"/>
              </a:ext>
            </a:extLst>
          </p:cNvPr>
          <p:cNvSpPr txBox="1"/>
          <p:nvPr/>
        </p:nvSpPr>
        <p:spPr>
          <a:xfrm>
            <a:off x="7303484" y="3084791"/>
            <a:ext cx="3889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variables are AXI4-Stream</a:t>
            </a:r>
            <a:br>
              <a:rPr lang="en-US" dirty="0"/>
            </a:br>
            <a:r>
              <a:rPr lang="en-US" dirty="0"/>
              <a:t>Does not state if master or slave.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3063FF-1009-FDA9-F113-8F6A82741CF9}"/>
              </a:ext>
            </a:extLst>
          </p:cNvPr>
          <p:cNvCxnSpPr>
            <a:cxnSpLocks/>
          </p:cNvCxnSpPr>
          <p:nvPr/>
        </p:nvCxnSpPr>
        <p:spPr>
          <a:xfrm flipH="1" flipV="1">
            <a:off x="5375257" y="4071859"/>
            <a:ext cx="2122654" cy="3608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15C3D6E-AF7A-04A5-9CF7-8B6319B5A0F0}"/>
              </a:ext>
            </a:extLst>
          </p:cNvPr>
          <p:cNvSpPr txBox="1"/>
          <p:nvPr/>
        </p:nvSpPr>
        <p:spPr>
          <a:xfrm>
            <a:off x="7528982" y="4248087"/>
            <a:ext cx="452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module has no explicit start stop</a:t>
            </a:r>
          </a:p>
        </p:txBody>
      </p:sp>
    </p:spTree>
    <p:extLst>
      <p:ext uri="{BB962C8B-B14F-4D97-AF65-F5344CB8AC3E}">
        <p14:creationId xmlns:p14="http://schemas.microsoft.com/office/powerpoint/2010/main" val="5021768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315A-92AB-E41A-72DB-52C753E2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7CD1-25FA-3794-A075-A9E2AA70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Vitis HLS Command and Response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89DBF-A285-D1F6-39C6-5C8818EF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815E46-103C-416D-3122-84253D2EE6E7}"/>
              </a:ext>
            </a:extLst>
          </p:cNvPr>
          <p:cNvSpPr txBox="1"/>
          <p:nvPr/>
        </p:nvSpPr>
        <p:spPr>
          <a:xfrm>
            <a:off x="7120356" y="2042597"/>
            <a:ext cx="38123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Deserialize command header</a:t>
            </a:r>
          </a:p>
          <a:p>
            <a:endParaRPr lang="en-US" sz="2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905CE6-0358-47FB-88DC-584B902AC66C}"/>
              </a:ext>
            </a:extLst>
          </p:cNvPr>
          <p:cNvCxnSpPr>
            <a:cxnSpLocks/>
          </p:cNvCxnSpPr>
          <p:nvPr/>
        </p:nvCxnSpPr>
        <p:spPr>
          <a:xfrm flipH="1">
            <a:off x="5679040" y="2287158"/>
            <a:ext cx="1338574" cy="10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AD3E2D-C53E-2166-B9AA-D7EE75DBEEAD}"/>
              </a:ext>
            </a:extLst>
          </p:cNvPr>
          <p:cNvCxnSpPr>
            <a:cxnSpLocks/>
          </p:cNvCxnSpPr>
          <p:nvPr/>
        </p:nvCxnSpPr>
        <p:spPr>
          <a:xfrm flipH="1" flipV="1">
            <a:off x="5758908" y="3392124"/>
            <a:ext cx="1123440" cy="36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7543582-B4B1-4F49-4F32-0CDE471A0EC0}"/>
              </a:ext>
            </a:extLst>
          </p:cNvPr>
          <p:cNvSpPr txBox="1"/>
          <p:nvPr/>
        </p:nvSpPr>
        <p:spPr>
          <a:xfrm>
            <a:off x="7079789" y="3059446"/>
            <a:ext cx="3042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Write response header</a:t>
            </a:r>
            <a:br>
              <a:rPr lang="en-US" sz="2400" dirty="0"/>
            </a:br>
            <a:r>
              <a:rPr lang="en-US" sz="2400" dirty="0"/>
              <a:t>Each transaction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E6287-261C-DACA-97EC-E3FB71C0B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75749"/>
            <a:ext cx="4581760" cy="231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241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7087-DB94-D4F5-0CA9-309DE4F5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Process 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6C153-B633-456B-1805-E76DD669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1C57D4-F165-7103-80B2-E11ADC226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1" y="1539277"/>
            <a:ext cx="6060501" cy="47494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CFF4BF-5B4A-7C7A-436E-105E22CD004D}"/>
              </a:ext>
            </a:extLst>
          </p:cNvPr>
          <p:cNvSpPr txBox="1"/>
          <p:nvPr/>
        </p:nvSpPr>
        <p:spPr>
          <a:xfrm>
            <a:off x="8009496" y="2065621"/>
            <a:ext cx="1521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Read word</a:t>
            </a:r>
          </a:p>
          <a:p>
            <a:endParaRPr lang="en-US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1D7F7A-3CAF-121F-C466-9E5C28B071E7}"/>
              </a:ext>
            </a:extLst>
          </p:cNvPr>
          <p:cNvCxnSpPr>
            <a:cxnSpLocks/>
          </p:cNvCxnSpPr>
          <p:nvPr/>
        </p:nvCxnSpPr>
        <p:spPr>
          <a:xfrm flipH="1">
            <a:off x="4743766" y="2310182"/>
            <a:ext cx="3162988" cy="1281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E8B212-2173-660E-D9DE-AF9C71BBDDF1}"/>
              </a:ext>
            </a:extLst>
          </p:cNvPr>
          <p:cNvCxnSpPr>
            <a:cxnSpLocks/>
          </p:cNvCxnSpPr>
          <p:nvPr/>
        </p:nvCxnSpPr>
        <p:spPr>
          <a:xfrm flipH="1">
            <a:off x="5564760" y="3591925"/>
            <a:ext cx="2235426" cy="989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D8BB2F4-945D-564B-5015-74C33C0140D1}"/>
              </a:ext>
            </a:extLst>
          </p:cNvPr>
          <p:cNvSpPr txBox="1"/>
          <p:nvPr/>
        </p:nvSpPr>
        <p:spPr>
          <a:xfrm>
            <a:off x="7968929" y="3082470"/>
            <a:ext cx="2792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polynomial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EB4F2B-4FFA-0D5C-9393-9A3B87B819E5}"/>
              </a:ext>
            </a:extLst>
          </p:cNvPr>
          <p:cNvCxnSpPr>
            <a:cxnSpLocks/>
          </p:cNvCxnSpPr>
          <p:nvPr/>
        </p:nvCxnSpPr>
        <p:spPr>
          <a:xfrm flipH="1">
            <a:off x="6762635" y="5318723"/>
            <a:ext cx="1206294" cy="2788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EA6D7F6-B8BE-4D5F-FB22-E193C6EBE44C}"/>
              </a:ext>
            </a:extLst>
          </p:cNvPr>
          <p:cNvSpPr txBox="1"/>
          <p:nvPr/>
        </p:nvSpPr>
        <p:spPr>
          <a:xfrm>
            <a:off x="8070809" y="5068958"/>
            <a:ext cx="3071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Write to output stream</a:t>
            </a:r>
          </a:p>
        </p:txBody>
      </p:sp>
    </p:spTree>
    <p:extLst>
      <p:ext uri="{BB962C8B-B14F-4D97-AF65-F5344CB8AC3E}">
        <p14:creationId xmlns:p14="http://schemas.microsoft.com/office/powerpoint/2010/main" val="29482926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82F3-2F66-E53F-9621-87E70E4C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Footer and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567D-1410-894E-1EFD-989AFA710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619" y="3208591"/>
            <a:ext cx="9331931" cy="2696480"/>
          </a:xfrm>
        </p:spPr>
        <p:txBody>
          <a:bodyPr/>
          <a:lstStyle/>
          <a:p>
            <a:r>
              <a:rPr lang="en-US" dirty="0"/>
              <a:t>Check for synchronization error</a:t>
            </a:r>
          </a:p>
          <a:p>
            <a:pPr lvl="1"/>
            <a:r>
              <a:rPr lang="en-US" dirty="0"/>
              <a:t>TLAST not in expected position</a:t>
            </a:r>
          </a:p>
          <a:p>
            <a:r>
              <a:rPr lang="en-US" dirty="0"/>
              <a:t>If there are errors:</a:t>
            </a:r>
          </a:p>
          <a:p>
            <a:pPr lvl="1"/>
            <a:r>
              <a:rPr lang="en-US" dirty="0"/>
              <a:t>Sends response with error code</a:t>
            </a:r>
          </a:p>
          <a:p>
            <a:pPr lvl="1"/>
            <a:r>
              <a:rPr lang="en-US" dirty="0"/>
              <a:t>Flush queue to next TLAST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E16CA-F0F6-06AF-F525-151A847B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759655-58C0-AC24-ABDF-261867D4E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83" y="1734053"/>
            <a:ext cx="5891514" cy="13122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B48811-9973-2A4C-E734-261B735CC80B}"/>
              </a:ext>
            </a:extLst>
          </p:cNvPr>
          <p:cNvSpPr/>
          <p:nvPr/>
        </p:nvSpPr>
        <p:spPr>
          <a:xfrm>
            <a:off x="5974416" y="3453555"/>
            <a:ext cx="4462880" cy="21925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Key design error handling principles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Hardware cannot terminate.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It must self-recover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Must provide visibility to errors </a:t>
            </a:r>
          </a:p>
        </p:txBody>
      </p:sp>
    </p:spTree>
    <p:extLst>
      <p:ext uri="{BB962C8B-B14F-4D97-AF65-F5344CB8AC3E}">
        <p14:creationId xmlns:p14="http://schemas.microsoft.com/office/powerpoint/2010/main" val="11833953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C900A-978D-CA73-B00D-280F54E2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A9FE-3AB8-976F-BADB-C16E2D400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1C812-C76E-0F02-96DC-9776ADFDC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perform</a:t>
            </a:r>
          </a:p>
          <a:p>
            <a:r>
              <a:rPr lang="en-US" dirty="0"/>
              <a:t>C simulation</a:t>
            </a:r>
          </a:p>
          <a:p>
            <a:r>
              <a:rPr lang="en-US" dirty="0"/>
              <a:t>C synthesis</a:t>
            </a:r>
          </a:p>
          <a:p>
            <a:r>
              <a:rPr lang="en-US" dirty="0"/>
              <a:t>RTL co-simulation</a:t>
            </a:r>
          </a:p>
          <a:p>
            <a:r>
              <a:rPr lang="en-US" dirty="0"/>
              <a:t>VCD extraction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07EDA-3789-CD10-2309-25D125C7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E215FC-E658-0B4A-A3AD-B7DF30885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540" y="348232"/>
            <a:ext cx="6018753" cy="477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36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9636-AC4E-C0E9-66DA-B9AD6E9A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0FE92-A1C9-4162-2F7E-4D1AC580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5DA9DE-650C-FA44-C568-25A97438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88" y="1813966"/>
            <a:ext cx="100012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36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F7B8-FC30-983D-F89F-D958AAF5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Interface Description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2D7C8-131B-CC38-8A16-4FB0A91DD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professional designers do not hand write their serialization</a:t>
            </a:r>
          </a:p>
          <a:p>
            <a:pPr lvl="1"/>
            <a:r>
              <a:rPr lang="en-US" dirty="0"/>
              <a:t>Error prone, tedious</a:t>
            </a:r>
          </a:p>
          <a:p>
            <a:r>
              <a:rPr lang="en-US" dirty="0"/>
              <a:t>The class </a:t>
            </a:r>
            <a:r>
              <a:rPr lang="en-US" dirty="0" err="1"/>
              <a:t>xilinxutils</a:t>
            </a:r>
            <a:r>
              <a:rPr lang="en-US" dirty="0"/>
              <a:t> package has a simple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interface description language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Serves as a master description for python and Vitis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E5983-BB54-FB84-C83F-F2E0B951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383A8E-F1B8-B031-8B51-BC9E402A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3803136"/>
            <a:ext cx="7753789" cy="191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681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46B3-0544-ED84-5400-AA93D19E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Code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13A99-2451-C111-380C-9D7735C6C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python descriptors can be used to autogenerate the Vitis HLS header files</a:t>
            </a:r>
          </a:p>
          <a:p>
            <a:r>
              <a:rPr lang="en-US" dirty="0"/>
              <a:t>No need to manually write the serialization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51C97-09B9-67A4-3BB9-40AD4CD9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B3AC3-3A49-4D1D-49D3-3FD173BB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52" y="2977306"/>
            <a:ext cx="5019933" cy="1762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2B8E6C-D439-38E2-04C3-884A83E41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395" y="2026382"/>
            <a:ext cx="3650707" cy="385446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5E578AB-4F2E-220B-9D96-319BC4A29395}"/>
              </a:ext>
            </a:extLst>
          </p:cNvPr>
          <p:cNvSpPr/>
          <p:nvPr/>
        </p:nvSpPr>
        <p:spPr>
          <a:xfrm>
            <a:off x="6117213" y="3616098"/>
            <a:ext cx="1353919" cy="48463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2528EB-60FA-E34B-EB3E-6A8C0040B8D8}"/>
              </a:ext>
            </a:extLst>
          </p:cNvPr>
          <p:cNvSpPr txBox="1"/>
          <p:nvPr/>
        </p:nvSpPr>
        <p:spPr>
          <a:xfrm>
            <a:off x="5963207" y="4313193"/>
            <a:ext cx="166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Auto-generated</a:t>
            </a:r>
          </a:p>
        </p:txBody>
      </p:sp>
    </p:spTree>
    <p:extLst>
      <p:ext uri="{BB962C8B-B14F-4D97-AF65-F5344CB8AC3E}">
        <p14:creationId xmlns:p14="http://schemas.microsoft.com/office/powerpoint/2010/main" val="22638733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16634</TotalTime>
  <Words>2599</Words>
  <Application>Microsoft Office PowerPoint</Application>
  <PresentationFormat>Widescreen</PresentationFormat>
  <Paragraphs>676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Cambria Math</vt:lpstr>
      <vt:lpstr>Wingdings</vt:lpstr>
      <vt:lpstr>Retrospect</vt:lpstr>
      <vt:lpstr>Unit 5  FIFOs and Streaming Interfaces</vt:lpstr>
      <vt:lpstr>Learning Objectives</vt:lpstr>
      <vt:lpstr>Outline</vt:lpstr>
      <vt:lpstr>FIFO Motivation</vt:lpstr>
      <vt:lpstr>Problem 1: Handshaking Overhead</vt:lpstr>
      <vt:lpstr>Problem 2:   Polling-Based Execution</vt:lpstr>
      <vt:lpstr>Problem 2:  Time Wastage</vt:lpstr>
      <vt:lpstr>FIFO</vt:lpstr>
      <vt:lpstr>FIFO Terminology</vt:lpstr>
      <vt:lpstr>FIFO Order</vt:lpstr>
      <vt:lpstr>Example Problem</vt:lpstr>
      <vt:lpstr>Example Problem</vt:lpstr>
      <vt:lpstr>Solution</vt:lpstr>
      <vt:lpstr>FIFO Overflow</vt:lpstr>
      <vt:lpstr>Example Problem</vt:lpstr>
      <vt:lpstr>Solution</vt:lpstr>
      <vt:lpstr>Producer and Consumer Rate</vt:lpstr>
      <vt:lpstr>Load Factor and Stability </vt:lpstr>
      <vt:lpstr>Sample Problem</vt:lpstr>
      <vt:lpstr>Solution</vt:lpstr>
      <vt:lpstr>Queueing Theory</vt:lpstr>
      <vt:lpstr>Outline</vt:lpstr>
      <vt:lpstr>Problem 1: Handshaking Overhead</vt:lpstr>
      <vt:lpstr>Solution:  Streaming FIFO Interface</vt:lpstr>
      <vt:lpstr>AXI4-Streaming Protocol</vt:lpstr>
      <vt:lpstr>AXI4-Stream Terminology</vt:lpstr>
      <vt:lpstr>AXI4-Stream Protocol</vt:lpstr>
      <vt:lpstr>Example Timing</vt:lpstr>
      <vt:lpstr>Example:  Streaming Squared Average</vt:lpstr>
      <vt:lpstr>Vitis HLS Module Definition</vt:lpstr>
      <vt:lpstr>Vitis HLS Module Body</vt:lpstr>
      <vt:lpstr>In-Class Demo</vt:lpstr>
      <vt:lpstr>Simulation Results</vt:lpstr>
      <vt:lpstr>Outline</vt:lpstr>
      <vt:lpstr>Limitations of Pure Streaming</vt:lpstr>
      <vt:lpstr>Problem 1:  Block-Based Operations</vt:lpstr>
      <vt:lpstr>Problem 2:  Control-Data Synchronization</vt:lpstr>
      <vt:lpstr>Solution:  Mix AXI4-Lite and AXI4-Stream?</vt:lpstr>
      <vt:lpstr>A Potential HLS Module Definition</vt:lpstr>
      <vt:lpstr>Problem Mixing AXI4-Lite and AXI4-Stream</vt:lpstr>
      <vt:lpstr>Problem 3:  Vitis’ Flawed Execution Model</vt:lpstr>
      <vt:lpstr>Vitis Execution Model Flaws</vt:lpstr>
      <vt:lpstr>Outline</vt:lpstr>
      <vt:lpstr>Pure vs. Packetized Streaming</vt:lpstr>
      <vt:lpstr>AXI4-Stream Protocol with Packetization</vt:lpstr>
      <vt:lpstr>Example Burst Timing</vt:lpstr>
      <vt:lpstr>Example Burst Timing Illustrated</vt:lpstr>
      <vt:lpstr>Example:  Block Polynomial Accelerator</vt:lpstr>
      <vt:lpstr>Command Packet Structure</vt:lpstr>
      <vt:lpstr>Response Packet Structure</vt:lpstr>
      <vt:lpstr>Serialization / Deserialization</vt:lpstr>
      <vt:lpstr>Serialization / Deserialization Illustrated</vt:lpstr>
      <vt:lpstr>Serialization / Deserialization in Hardware</vt:lpstr>
      <vt:lpstr>Example Problem</vt:lpstr>
      <vt:lpstr>Solution:  Counting the Number of Words</vt:lpstr>
      <vt:lpstr>Solution:  Serialization Code</vt:lpstr>
      <vt:lpstr>Vitis HLS Module Definition</vt:lpstr>
      <vt:lpstr>Vitis HLS Command and Response Header</vt:lpstr>
      <vt:lpstr>Main Process Loop</vt:lpstr>
      <vt:lpstr>Response Footer and Error Handling</vt:lpstr>
      <vt:lpstr>In-Class Demo</vt:lpstr>
      <vt:lpstr>Simulation Result</vt:lpstr>
      <vt:lpstr>Using an Interface Description Language</vt:lpstr>
      <vt:lpstr>Vitis HLS Code Generation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666</cp:revision>
  <cp:lastPrinted>2018-09-04T19:00:14Z</cp:lastPrinted>
  <dcterms:created xsi:type="dcterms:W3CDTF">2015-03-22T11:15:32Z</dcterms:created>
  <dcterms:modified xsi:type="dcterms:W3CDTF">2026-02-23T04:47:26Z</dcterms:modified>
</cp:coreProperties>
</file>
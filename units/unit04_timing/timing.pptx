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8" r:id="rId2"/>
    <p:sldId id="271" r:id="rId3"/>
    <p:sldId id="275" r:id="rId4"/>
    <p:sldId id="278" r:id="rId5"/>
    <p:sldId id="279" r:id="rId6"/>
    <p:sldId id="283" r:id="rId7"/>
    <p:sldId id="284" r:id="rId8"/>
    <p:sldId id="282" r:id="rId9"/>
    <p:sldId id="285" r:id="rId10"/>
    <p:sldId id="280" r:id="rId11"/>
    <p:sldId id="286" r:id="rId12"/>
    <p:sldId id="287" r:id="rId13"/>
    <p:sldId id="276" r:id="rId14"/>
    <p:sldId id="277" r:id="rId15"/>
    <p:sldId id="290" r:id="rId16"/>
    <p:sldId id="317" r:id="rId17"/>
    <p:sldId id="318" r:id="rId18"/>
    <p:sldId id="319" r:id="rId19"/>
    <p:sldId id="333" r:id="rId20"/>
    <p:sldId id="292" r:id="rId21"/>
    <p:sldId id="296" r:id="rId22"/>
    <p:sldId id="293" r:id="rId23"/>
    <p:sldId id="294" r:id="rId24"/>
    <p:sldId id="295" r:id="rId25"/>
    <p:sldId id="298" r:id="rId26"/>
    <p:sldId id="297" r:id="rId27"/>
    <p:sldId id="288" r:id="rId28"/>
    <p:sldId id="299" r:id="rId29"/>
    <p:sldId id="300" r:id="rId30"/>
    <p:sldId id="301" r:id="rId31"/>
    <p:sldId id="302" r:id="rId32"/>
    <p:sldId id="307" r:id="rId33"/>
    <p:sldId id="306" r:id="rId34"/>
    <p:sldId id="305" r:id="rId35"/>
    <p:sldId id="303" r:id="rId36"/>
    <p:sldId id="308" r:id="rId37"/>
    <p:sldId id="309" r:id="rId38"/>
    <p:sldId id="310" r:id="rId39"/>
    <p:sldId id="311" r:id="rId40"/>
    <p:sldId id="313" r:id="rId41"/>
    <p:sldId id="314" r:id="rId42"/>
    <p:sldId id="312" r:id="rId43"/>
    <p:sldId id="315" r:id="rId44"/>
    <p:sldId id="320" r:id="rId45"/>
    <p:sldId id="321" r:id="rId46"/>
    <p:sldId id="316" r:id="rId47"/>
    <p:sldId id="322" r:id="rId48"/>
    <p:sldId id="323" r:id="rId49"/>
    <p:sldId id="324" r:id="rId50"/>
    <p:sldId id="325" r:id="rId51"/>
    <p:sldId id="328" r:id="rId52"/>
    <p:sldId id="327" r:id="rId53"/>
    <p:sldId id="329" r:id="rId54"/>
    <p:sldId id="330" r:id="rId55"/>
    <p:sldId id="331" r:id="rId56"/>
    <p:sldId id="332" r:id="rId57"/>
    <p:sldId id="326" r:id="rId58"/>
    <p:sldId id="334" r:id="rId59"/>
    <p:sldId id="335" r:id="rId60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5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sdrangan.github.io/hwdesign/support/repo/python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0.png"/><Relationship Id="rId7" Type="http://schemas.openxmlformats.org/officeDocument/2006/relationships/image" Target="../media/image1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0.png"/><Relationship Id="rId4" Type="http://schemas.openxmlformats.org/officeDocument/2006/relationships/image" Target="../media/image30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3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46.png"/><Relationship Id="rId4" Type="http://schemas.openxmlformats.org/officeDocument/2006/relationships/image" Target="../media/image5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2.png"/><Relationship Id="rId4" Type="http://schemas.openxmlformats.org/officeDocument/2006/relationships/image" Target="../media/image4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hyperlink" Target="https://github.com/sdrangan/hwdesign/tree/main/demos/basic_logic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/>
              <a:t>Unit 1 </a:t>
            </a:r>
            <a:br>
              <a:rPr lang="en-US" sz="6600"/>
            </a:br>
            <a:r>
              <a:rPr lang="en-US" sz="6600"/>
              <a:t>Basic Digital Logic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EL-GY 9463:  Introduction to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SystemVerilog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descriptions for simple hardware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modules</a:t>
            </a:r>
          </a:p>
          <a:p>
            <a:r>
              <a:rPr lang="en-US" dirty="0"/>
              <a:t>Draw high-level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block diagram </a:t>
            </a:r>
            <a:r>
              <a:rPr lang="en-US" dirty="0"/>
              <a:t>representations of the module implementations</a:t>
            </a:r>
          </a:p>
          <a:p>
            <a:r>
              <a:rPr lang="en-US" dirty="0"/>
              <a:t>Identify the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critical path </a:t>
            </a:r>
            <a:r>
              <a:rPr lang="en-US" dirty="0"/>
              <a:t>and its delay from the block diagram</a:t>
            </a:r>
          </a:p>
          <a:p>
            <a:r>
              <a:rPr lang="en-US" dirty="0"/>
              <a:t>Implement simple functions in synchronous logic</a:t>
            </a:r>
          </a:p>
          <a:p>
            <a:r>
              <a:rPr lang="en-US" dirty="0"/>
              <a:t>Visualize signals in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timing diagram</a:t>
            </a:r>
          </a:p>
          <a:p>
            <a:r>
              <a:rPr lang="en-US" dirty="0"/>
              <a:t>Write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testbench</a:t>
            </a:r>
            <a:r>
              <a:rPr lang="en-US" dirty="0"/>
              <a:t> for the hardware modules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Simulate</a:t>
            </a:r>
            <a:r>
              <a:rPr lang="en-US" dirty="0"/>
              <a:t>, and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synthesize</a:t>
            </a:r>
            <a:r>
              <a:rPr lang="en-US" dirty="0"/>
              <a:t> the </a:t>
            </a:r>
            <a:r>
              <a:rPr lang="en-US" dirty="0" err="1"/>
              <a:t>SystemVerilog</a:t>
            </a:r>
            <a:r>
              <a:rPr lang="en-US" dirty="0"/>
              <a:t> using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Vivado</a:t>
            </a:r>
            <a:r>
              <a:rPr lang="en-US" dirty="0"/>
              <a:t> tools</a:t>
            </a:r>
          </a:p>
          <a:p>
            <a:r>
              <a:rPr lang="en-US" dirty="0"/>
              <a:t>Extract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value-change dump </a:t>
            </a:r>
            <a:r>
              <a:rPr lang="en-US" dirty="0"/>
              <a:t>(VCD) files and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synthesis reports </a:t>
            </a:r>
            <a:r>
              <a:rPr lang="en-US" dirty="0"/>
              <a:t>and process them in python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E59F8-EF96-20D9-3BF6-DBCF84399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5D5A7-6271-5B63-9B97-5A2686E82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3743C-B42E-14C5-942C-A1259FB2B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Combinational Logic</a:t>
            </a:r>
          </a:p>
          <a:p>
            <a:r>
              <a:rPr lang="en-US" sz="2400" dirty="0"/>
              <a:t>Timing Diagrams for Combinational Logic</a:t>
            </a:r>
          </a:p>
          <a:p>
            <a:r>
              <a:rPr lang="en-US" sz="2400" dirty="0"/>
              <a:t>Registers, Clocks and Sequential Logic</a:t>
            </a:r>
          </a:p>
          <a:p>
            <a:r>
              <a:rPr lang="en-US" sz="2400" dirty="0"/>
              <a:t>Simulating and Synthesizing Simple Modules in </a:t>
            </a:r>
            <a:r>
              <a:rPr lang="en-US" sz="2400" dirty="0" err="1"/>
              <a:t>Vivado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521AA-8799-5DBA-9D19-ACE01D30A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9C9242D-0C02-1CE5-D0CB-EB939C4BE126}"/>
              </a:ext>
            </a:extLst>
          </p:cNvPr>
          <p:cNvSpPr/>
          <p:nvPr/>
        </p:nvSpPr>
        <p:spPr>
          <a:xfrm>
            <a:off x="450151" y="1488947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083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A39AD-C4E3-E69C-1A9B-E391E0A38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Example:  </a:t>
            </a:r>
            <a:r>
              <a:rPr lang="en-US" dirty="0" err="1"/>
              <a:t>ReLU</a:t>
            </a:r>
            <a:r>
              <a:rPr lang="en-US" dirty="0"/>
              <a:t> + 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2C3F6B-499A-181F-3FE7-8ECCD425CF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Goal</a:t>
                </a:r>
                <a:r>
                  <a:rPr lang="en-US" sz="2400" dirty="0"/>
                  <a:t>:  Implement a module for the function</a:t>
                </a:r>
                <a:br>
                  <a:rPr lang="en-US" sz="2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0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b="0" dirty="0"/>
              </a:p>
              <a:p>
                <a:pPr lvl="1"/>
                <a:r>
                  <a:rPr lang="en-US" sz="2400" dirty="0"/>
                  <a:t>Linear function + </a:t>
                </a:r>
                <a:r>
                  <a:rPr lang="en-US" sz="2400" dirty="0" err="1"/>
                  <a:t>ReLU</a:t>
                </a:r>
                <a:endParaRPr lang="en-US" sz="2400" dirty="0"/>
              </a:p>
              <a:p>
                <a:pPr lvl="1"/>
                <a:r>
                  <a:rPr lang="en-US" sz="2400" dirty="0"/>
                  <a:t>Used widely in machine learning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2C3F6B-499A-181F-3FE7-8ECCD425CF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18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1B6C6-52C3-B217-47F8-F3F705812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1FFF23-8720-B06E-AFD6-9918105B9306}"/>
              </a:ext>
            </a:extLst>
          </p:cNvPr>
          <p:cNvSpPr/>
          <p:nvPr/>
        </p:nvSpPr>
        <p:spPr>
          <a:xfrm>
            <a:off x="4773792" y="3704185"/>
            <a:ext cx="1990725" cy="19573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24DBA75-1DA1-3B37-064C-D0CD4B024C95}"/>
              </a:ext>
            </a:extLst>
          </p:cNvPr>
          <p:cNvCxnSpPr/>
          <p:nvPr/>
        </p:nvCxnSpPr>
        <p:spPr>
          <a:xfrm>
            <a:off x="3268842" y="4213772"/>
            <a:ext cx="15049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D4785C0-8EA6-26C6-0F51-78BFECB37F58}"/>
              </a:ext>
            </a:extLst>
          </p:cNvPr>
          <p:cNvCxnSpPr/>
          <p:nvPr/>
        </p:nvCxnSpPr>
        <p:spPr>
          <a:xfrm>
            <a:off x="3268842" y="5071022"/>
            <a:ext cx="15049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D9C9CE2-EB87-E202-5CB2-D6E50B4E525C}"/>
              </a:ext>
            </a:extLst>
          </p:cNvPr>
          <p:cNvCxnSpPr>
            <a:cxnSpLocks/>
          </p:cNvCxnSpPr>
          <p:nvPr/>
        </p:nvCxnSpPr>
        <p:spPr>
          <a:xfrm>
            <a:off x="6764517" y="4604297"/>
            <a:ext cx="130813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B4964D-ABD3-D4C7-D031-49F37CBFB325}"/>
              </a:ext>
            </a:extLst>
          </p:cNvPr>
          <p:cNvCxnSpPr/>
          <p:nvPr/>
        </p:nvCxnSpPr>
        <p:spPr>
          <a:xfrm>
            <a:off x="3268842" y="4604297"/>
            <a:ext cx="15049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341D9E-860B-6F46-E0DA-9F572C1D64B7}"/>
                  </a:ext>
                </a:extLst>
              </p:cNvPr>
              <p:cNvSpPr txBox="1"/>
              <p:nvPr/>
            </p:nvSpPr>
            <p:spPr>
              <a:xfrm>
                <a:off x="2758356" y="3900182"/>
                <a:ext cx="46807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341D9E-860B-6F46-E0DA-9F572C1D6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356" y="3900182"/>
                <a:ext cx="46807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E02514-9A61-E838-AE54-661022887ADE}"/>
                  </a:ext>
                </a:extLst>
              </p:cNvPr>
              <p:cNvSpPr txBox="1"/>
              <p:nvPr/>
            </p:nvSpPr>
            <p:spPr>
              <a:xfrm>
                <a:off x="2758355" y="4374255"/>
                <a:ext cx="47557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E02514-9A61-E838-AE54-661022887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355" y="4374255"/>
                <a:ext cx="47557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FBA255-20E6-F6AA-0C73-8BAEC7ADB958}"/>
                  </a:ext>
                </a:extLst>
              </p:cNvPr>
              <p:cNvSpPr txBox="1"/>
              <p:nvPr/>
            </p:nvSpPr>
            <p:spPr>
              <a:xfrm>
                <a:off x="2750854" y="4858452"/>
                <a:ext cx="47557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FBA255-20E6-F6AA-0C73-8BAEC7ADB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854" y="4858452"/>
                <a:ext cx="47557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5A7343-6B2C-9B77-8B2A-57A07D1B4017}"/>
                  </a:ext>
                </a:extLst>
              </p:cNvPr>
              <p:cNvSpPr txBox="1"/>
              <p:nvPr/>
            </p:nvSpPr>
            <p:spPr>
              <a:xfrm>
                <a:off x="8121288" y="4335232"/>
                <a:ext cx="47557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5A7343-6B2C-9B77-8B2A-57A07D1B4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288" y="4335232"/>
                <a:ext cx="47557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7A75226-4D24-50E7-4529-BB8CAA71C664}"/>
              </a:ext>
            </a:extLst>
          </p:cNvPr>
          <p:cNvSpPr txBox="1"/>
          <p:nvPr/>
        </p:nvSpPr>
        <p:spPr>
          <a:xfrm>
            <a:off x="8645506" y="4387319"/>
            <a:ext cx="1681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Output port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30F934-71D4-864A-E2F6-8243F49EF94A}"/>
              </a:ext>
            </a:extLst>
          </p:cNvPr>
          <p:cNvSpPr txBox="1"/>
          <p:nvPr/>
        </p:nvSpPr>
        <p:spPr>
          <a:xfrm>
            <a:off x="1036320" y="4435810"/>
            <a:ext cx="1572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Input ports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179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8BE07-C2AC-5C81-2EDC-B0E0254C5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SystemVerilog</a:t>
            </a:r>
            <a:r>
              <a:rPr lang="en-US" dirty="0"/>
              <a:t>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653BA-A695-433E-9E77-354D19D91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998720" cy="4329817"/>
          </a:xfrm>
        </p:spPr>
        <p:txBody>
          <a:bodyPr/>
          <a:lstStyle/>
          <a:p>
            <a:r>
              <a:rPr lang="en-US" dirty="0" err="1"/>
              <a:t>SystemVerilog</a:t>
            </a:r>
            <a:r>
              <a:rPr lang="en-US" dirty="0"/>
              <a:t>:</a:t>
            </a:r>
          </a:p>
          <a:p>
            <a:pPr lvl="1"/>
            <a:r>
              <a:rPr lang="en-US" sz="2000" dirty="0"/>
              <a:t>Language for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behavioral</a:t>
            </a:r>
            <a:r>
              <a:rPr lang="en-US" sz="2000" dirty="0"/>
              <a:t> description</a:t>
            </a:r>
          </a:p>
          <a:p>
            <a:pPr lvl="1"/>
            <a:r>
              <a:rPr lang="en-US" sz="2000" dirty="0"/>
              <a:t>What the module should do</a:t>
            </a:r>
          </a:p>
          <a:p>
            <a:r>
              <a:rPr lang="en-US" dirty="0"/>
              <a:t>Each block is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</a:t>
            </a:r>
          </a:p>
          <a:p>
            <a:pPr lvl="1"/>
            <a:r>
              <a:rPr lang="en-US" sz="2000" dirty="0"/>
              <a:t>Has inputs and outputs</a:t>
            </a:r>
          </a:p>
          <a:p>
            <a:pPr lvl="1"/>
            <a:r>
              <a:rPr lang="en-US" sz="2000" dirty="0"/>
              <a:t>Logical mapping from inputs to outputs</a:t>
            </a:r>
          </a:p>
          <a:p>
            <a:r>
              <a:rPr lang="en-US" dirty="0"/>
              <a:t>Description is behavioral only</a:t>
            </a:r>
          </a:p>
          <a:p>
            <a:pPr lvl="1"/>
            <a:r>
              <a:rPr lang="en-US" sz="2000" dirty="0"/>
              <a:t>Does not say how it will be implemented</a:t>
            </a:r>
          </a:p>
          <a:p>
            <a:pPr lvl="1"/>
            <a:r>
              <a:rPr lang="en-US" sz="2000" dirty="0"/>
              <a:t>We discuss that later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B4595-A4AA-901B-7B0B-A65349D8B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C14BC3-8EFF-CE27-1DB2-AAA939573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352" y="1639289"/>
            <a:ext cx="5236178" cy="377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792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5A406-C087-AB7C-47F9-FED634399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961F36B-1D50-63A2-4B94-9D78E68DF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711" y="1714404"/>
            <a:ext cx="5402998" cy="38910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6C2159-E556-D33C-8A01-715E0748E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Components in SV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81CA8-D911-EA40-0FF4-939AE9B18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4630" y="1846785"/>
            <a:ext cx="4998720" cy="3626289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Module name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Ports</a:t>
            </a:r>
            <a:r>
              <a:rPr lang="en-US" sz="2400" dirty="0"/>
              <a:t>:</a:t>
            </a:r>
          </a:p>
          <a:p>
            <a:pPr lvl="1"/>
            <a:r>
              <a:rPr lang="en-US" sz="2000" dirty="0"/>
              <a:t>Defines inputs and outputs</a:t>
            </a:r>
          </a:p>
          <a:p>
            <a:pPr lvl="1"/>
            <a:r>
              <a:rPr lang="en-US" sz="2000" dirty="0"/>
              <a:t>Each has a type (e.g., int)</a:t>
            </a:r>
          </a:p>
          <a:p>
            <a:pPr lvl="1"/>
            <a:endParaRPr lang="en-US" sz="2000" dirty="0"/>
          </a:p>
          <a:p>
            <a:r>
              <a:rPr lang="en-US" sz="2400" dirty="0">
                <a:solidFill>
                  <a:schemeClr val="accent1"/>
                </a:solidFill>
              </a:rPr>
              <a:t>Behavioral description</a:t>
            </a:r>
          </a:p>
          <a:p>
            <a:pPr lvl="1"/>
            <a:r>
              <a:rPr lang="en-US" sz="2000" dirty="0"/>
              <a:t>In this case, a </a:t>
            </a:r>
            <a:r>
              <a:rPr lang="en-US" sz="2000" dirty="0">
                <a:solidFill>
                  <a:schemeClr val="accent1"/>
                </a:solidFill>
              </a:rPr>
              <a:t>combinational block</a:t>
            </a:r>
          </a:p>
          <a:p>
            <a:pPr lvl="1"/>
            <a:r>
              <a:rPr lang="en-US" sz="2000" dirty="0"/>
              <a:t>Sequence of operations </a:t>
            </a:r>
          </a:p>
          <a:p>
            <a:pPr lvl="1"/>
            <a:r>
              <a:rPr lang="en-US" sz="2000" dirty="0"/>
              <a:t>From input to output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95E58-6885-B715-15DD-C341EFBA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D368288-6B4D-8BAE-83B3-B324FD6066C3}"/>
              </a:ext>
            </a:extLst>
          </p:cNvPr>
          <p:cNvCxnSpPr>
            <a:cxnSpLocks/>
          </p:cNvCxnSpPr>
          <p:nvPr/>
        </p:nvCxnSpPr>
        <p:spPr>
          <a:xfrm flipH="1">
            <a:off x="4519613" y="2709863"/>
            <a:ext cx="177509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94FEB2-86CF-D95C-922C-7DB2B6F95159}"/>
              </a:ext>
            </a:extLst>
          </p:cNvPr>
          <p:cNvCxnSpPr>
            <a:cxnSpLocks/>
          </p:cNvCxnSpPr>
          <p:nvPr/>
        </p:nvCxnSpPr>
        <p:spPr>
          <a:xfrm flipH="1">
            <a:off x="5627371" y="4443413"/>
            <a:ext cx="78127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3C4718-A8C2-673E-C4C5-A5E50B89D2D9}"/>
              </a:ext>
            </a:extLst>
          </p:cNvPr>
          <p:cNvCxnSpPr>
            <a:cxnSpLocks/>
          </p:cNvCxnSpPr>
          <p:nvPr/>
        </p:nvCxnSpPr>
        <p:spPr>
          <a:xfrm flipH="1">
            <a:off x="3443288" y="2000552"/>
            <a:ext cx="3048447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39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6F688-1E1C-DE63-651F-86BBFB211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Verilog vs Verilog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5FDDC-091C-3DB4-2329-A530676D9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Verilog</a:t>
            </a:r>
          </a:p>
          <a:p>
            <a:pPr lvl="1"/>
            <a:r>
              <a:rPr lang="en-US" sz="2200" dirty="0"/>
              <a:t>Created in 1983-84</a:t>
            </a:r>
          </a:p>
          <a:p>
            <a:pPr lvl="1"/>
            <a:r>
              <a:rPr lang="en-US" sz="2200" dirty="0"/>
              <a:t>Standardized in 1995.  Became mainstream RTL</a:t>
            </a:r>
          </a:p>
          <a:p>
            <a:pPr lvl="1"/>
            <a:r>
              <a:rPr lang="en-US" sz="2200" dirty="0"/>
              <a:t>Largely used for legacy designs</a:t>
            </a:r>
          </a:p>
          <a:p>
            <a:pPr lvl="1"/>
            <a:endParaRPr lang="en-US" sz="2200" dirty="0"/>
          </a:p>
          <a:p>
            <a:r>
              <a:rPr lang="en-US" sz="2400" dirty="0">
                <a:solidFill>
                  <a:schemeClr val="accent1"/>
                </a:solidFill>
              </a:rPr>
              <a:t>System Verilog (this unit)</a:t>
            </a:r>
          </a:p>
          <a:p>
            <a:pPr lvl="1"/>
            <a:r>
              <a:rPr lang="en-US" sz="2200" dirty="0"/>
              <a:t>Developed in 2002</a:t>
            </a:r>
          </a:p>
          <a:p>
            <a:pPr lvl="1"/>
            <a:r>
              <a:rPr lang="en-US" sz="2200" dirty="0"/>
              <a:t>Extends Verilog</a:t>
            </a:r>
          </a:p>
          <a:p>
            <a:pPr lvl="1"/>
            <a:r>
              <a:rPr lang="en-US" sz="2200" dirty="0"/>
              <a:t>Better abstraction, parameterization</a:t>
            </a:r>
          </a:p>
          <a:p>
            <a:pPr lvl="1"/>
            <a:r>
              <a:rPr lang="en-US" sz="2200" dirty="0"/>
              <a:t>Significantly improved testbench</a:t>
            </a:r>
          </a:p>
          <a:p>
            <a:pPr lvl="1"/>
            <a:r>
              <a:rPr lang="en-US" sz="2200" dirty="0"/>
              <a:t>Overwhelming design choice today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3BFB3-6F6A-C9D6-82A5-AE6CA8DB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pic>
        <p:nvPicPr>
          <p:cNvPr id="4098" name="Picture 2" descr="Guide to Verilog — Beginner Guide | by ...">
            <a:extLst>
              <a:ext uri="{FF2B5EF4-FFF2-40B4-BE49-F238E27FC236}">
                <a16:creationId xmlns:a16="http://schemas.microsoft.com/office/drawing/2014/main" id="{ADD75851-13C6-B643-8109-363844771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0980" y="2010056"/>
            <a:ext cx="3314700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n open source SystemVerilog Test Suite">
            <a:extLst>
              <a:ext uri="{FF2B5EF4-FFF2-40B4-BE49-F238E27FC236}">
                <a16:creationId xmlns:a16="http://schemas.microsoft.com/office/drawing/2014/main" id="{801DBC8A-FE69-D5CD-7DDD-73B2C46A7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0980" y="3603644"/>
            <a:ext cx="3395329" cy="178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4900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70D58-DCF1-8845-786C-3A09A1022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6DEB0-091F-84A1-CB5C-05ED1807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pic>
        <p:nvPicPr>
          <p:cNvPr id="3074" name="Picture 2" descr="Logic gates - Creating a Digital counter - Electrical Engineering Stack  Exchange">
            <a:extLst>
              <a:ext uri="{FF2B5EF4-FFF2-40B4-BE49-F238E27FC236}">
                <a16:creationId xmlns:a16="http://schemas.microsoft.com/office/drawing/2014/main" id="{A42CAEBF-2982-C506-503D-88ADA8433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0109" y="3067335"/>
            <a:ext cx="2757488" cy="16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4AC1B6-0E63-2796-A907-D243B9DF8066}"/>
              </a:ext>
            </a:extLst>
          </p:cNvPr>
          <p:cNvSpPr txBox="1"/>
          <p:nvPr/>
        </p:nvSpPr>
        <p:spPr>
          <a:xfrm>
            <a:off x="8047363" y="1682341"/>
            <a:ext cx="363182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Implementation</a:t>
            </a:r>
            <a:br>
              <a:rPr lang="en-US" sz="2000" dirty="0">
                <a:solidFill>
                  <a:schemeClr val="accent1"/>
                </a:solidFill>
              </a:rPr>
            </a:br>
            <a:r>
              <a:rPr lang="en-US" sz="2000" i="1" dirty="0"/>
              <a:t>How functions maps to hardware</a:t>
            </a:r>
            <a:br>
              <a:rPr lang="en-US" sz="2000" i="1" dirty="0"/>
            </a:br>
            <a:br>
              <a:rPr lang="en-US" sz="2000" dirty="0">
                <a:solidFill>
                  <a:schemeClr val="accent1"/>
                </a:solidFill>
              </a:rPr>
            </a:br>
            <a:endParaRPr lang="en-US" sz="2000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A88CDCD-3CE7-7BA6-31D7-DB19C668C2F6}"/>
              </a:ext>
            </a:extLst>
          </p:cNvPr>
          <p:cNvSpPr/>
          <p:nvPr/>
        </p:nvSpPr>
        <p:spPr>
          <a:xfrm>
            <a:off x="5114100" y="3179716"/>
            <a:ext cx="2095500" cy="856108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99A6AA-1FB6-2D0A-800E-9233E8E90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2014" y="1694531"/>
            <a:ext cx="4029697" cy="14851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Behavioral Description</a:t>
            </a:r>
            <a:br>
              <a:rPr lang="en-US" sz="18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1800" i="1" dirty="0"/>
              <a:t>What module does?</a:t>
            </a:r>
            <a:br>
              <a:rPr lang="en-US" sz="1800" i="1" dirty="0"/>
            </a:br>
            <a:r>
              <a:rPr lang="en-US" sz="1800" dirty="0"/>
              <a:t>Ex:  Verilog, HLS, SV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C62B2A-C5CD-2B21-777A-DE5981A4D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89" y="2821364"/>
            <a:ext cx="3716607" cy="2676569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E66F599-E80D-1641-8E18-424DAC7ABD0E}"/>
              </a:ext>
            </a:extLst>
          </p:cNvPr>
          <p:cNvSpPr txBox="1">
            <a:spLocks/>
          </p:cNvSpPr>
          <p:nvPr/>
        </p:nvSpPr>
        <p:spPr>
          <a:xfrm>
            <a:off x="5450824" y="2658029"/>
            <a:ext cx="1630111" cy="66171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600" dirty="0">
                <a:solidFill>
                  <a:schemeClr val="accent1">
                    <a:lumMod val="75000"/>
                  </a:schemeClr>
                </a:solidFill>
              </a:rPr>
              <a:t>Synthesis</a:t>
            </a:r>
            <a:endParaRPr lang="en-US" sz="2600" dirty="0"/>
          </a:p>
          <a:p>
            <a:pPr marL="0" indent="0">
              <a:buFont typeface="Wingdings" panose="05000000000000000000" pitchFamily="2" charset="2"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81119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61421-1052-4C97-133B-945F99961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Depends on the Target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90FE7-1DD0-E5A2-5567-21D2AF35D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Components for implementation depend on target</a:t>
            </a:r>
          </a:p>
          <a:p>
            <a:r>
              <a:rPr lang="en-US" dirty="0">
                <a:solidFill>
                  <a:schemeClr val="accent1"/>
                </a:solidFill>
              </a:rPr>
              <a:t>Gate‑level netlist </a:t>
            </a:r>
            <a:r>
              <a:rPr lang="en-US" dirty="0"/>
              <a:t>(classic implementation)</a:t>
            </a:r>
          </a:p>
          <a:p>
            <a:pPr lvl="1"/>
            <a:r>
              <a:rPr lang="en-US" dirty="0"/>
              <a:t>AND, OR, XOR, NOT gates</a:t>
            </a:r>
          </a:p>
          <a:p>
            <a:pPr lvl="1"/>
            <a:r>
              <a:rPr lang="en-US" dirty="0"/>
              <a:t>Multiplexers, adders, subtractors, flip‑flops, latches</a:t>
            </a:r>
          </a:p>
          <a:p>
            <a:r>
              <a:rPr lang="en-US" dirty="0"/>
              <a:t>Technology‑mapped </a:t>
            </a:r>
            <a:r>
              <a:rPr lang="en-US" dirty="0">
                <a:solidFill>
                  <a:schemeClr val="accent1"/>
                </a:solidFill>
              </a:rPr>
              <a:t>standard cells </a:t>
            </a:r>
            <a:r>
              <a:rPr lang="en-US" dirty="0"/>
              <a:t>for ASICs</a:t>
            </a:r>
          </a:p>
          <a:p>
            <a:pPr lvl="1"/>
            <a:r>
              <a:rPr lang="en-US" dirty="0"/>
              <a:t>NAND2_X1, DFFR_X2, AOI21_X4, INV_X1</a:t>
            </a:r>
          </a:p>
          <a:p>
            <a:pPr lvl="1"/>
            <a:r>
              <a:rPr lang="en-US" dirty="0"/>
              <a:t>Actual cells in foundry’s library</a:t>
            </a:r>
          </a:p>
          <a:p>
            <a:r>
              <a:rPr lang="en-US" dirty="0">
                <a:solidFill>
                  <a:schemeClr val="accent1"/>
                </a:solidFill>
              </a:rPr>
              <a:t>FPGA primitives</a:t>
            </a:r>
          </a:p>
          <a:p>
            <a:pPr lvl="1"/>
            <a:r>
              <a:rPr lang="en-US" dirty="0"/>
              <a:t>DSP units, LUTS, BRAM, …	 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E5B6F-02FF-5A8A-8C64-8D4512A4E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pic>
        <p:nvPicPr>
          <p:cNvPr id="5124" name="Picture 4" descr="Schematic and layout of 1X 2-input NAND gates with (a) GLB applied to... |  Download Scientific Diagram">
            <a:extLst>
              <a:ext uri="{FF2B5EF4-FFF2-40B4-BE49-F238E27FC236}">
                <a16:creationId xmlns:a16="http://schemas.microsoft.com/office/drawing/2014/main" id="{9B3C0D34-9A0C-072B-B20F-F042B18E6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2950" y="1614487"/>
            <a:ext cx="2657475" cy="2944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066EA7-A781-AB6B-EAEC-EB2086933821}"/>
              </a:ext>
            </a:extLst>
          </p:cNvPr>
          <p:cNvSpPr txBox="1"/>
          <p:nvPr/>
        </p:nvSpPr>
        <p:spPr>
          <a:xfrm>
            <a:off x="5519737" y="5191435"/>
            <a:ext cx="6096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Cui, </a:t>
            </a:r>
            <a:r>
              <a:rPr lang="en-US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Tiansong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et al. "An exploration of applying gate-length-biasing techniques to deeply-scaled </a:t>
            </a:r>
            <a:r>
              <a:rPr lang="en-US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FinFETs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operating in multiple voltage regimes."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IEEE Transactions on Emerging Topics in Computing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6.2 (2016): 172-183.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1D99A8-7CC5-423E-D504-5B767A93FFC0}"/>
              </a:ext>
            </a:extLst>
          </p:cNvPr>
          <p:cNvSpPr txBox="1"/>
          <p:nvPr/>
        </p:nvSpPr>
        <p:spPr>
          <a:xfrm>
            <a:off x="8958262" y="4665539"/>
            <a:ext cx="26574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FinFET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NAND gate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14409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8D784-9A01-55DB-D193-0DE0BF6F0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B04E1-70CB-65A5-6FD8-98DF333F2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of a module typically represented by a </a:t>
            </a:r>
            <a:r>
              <a:rPr lang="en-US" dirty="0">
                <a:solidFill>
                  <a:schemeClr val="accent1"/>
                </a:solidFill>
              </a:rPr>
              <a:t>block diagram</a:t>
            </a:r>
          </a:p>
          <a:p>
            <a:r>
              <a:rPr lang="en-US" dirty="0"/>
              <a:t>Graphical representation of a potential implementation</a:t>
            </a:r>
          </a:p>
          <a:p>
            <a:r>
              <a:rPr lang="en-US" dirty="0"/>
              <a:t>Typically, diagram is at high-level</a:t>
            </a:r>
          </a:p>
          <a:p>
            <a:pPr lvl="1"/>
            <a:r>
              <a:rPr lang="en-US" dirty="0"/>
              <a:t>Adders, multipliers not low-level details components like gates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0CB96-3F47-24B5-9142-7743E60AF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2233B5-D650-2A86-938A-F2909D3DE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361" y="3186113"/>
            <a:ext cx="7724119" cy="237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386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B9274-49CF-A399-3E66-65EF31CA3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87E1C-79BD-A2D1-86DA-A03E424C5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C9A0F-D1A5-D20D-DCF3-144693B7B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Combinational Logic</a:t>
            </a:r>
          </a:p>
          <a:p>
            <a:r>
              <a:rPr lang="en-US" sz="2400" dirty="0"/>
              <a:t>Timing Diagrams for Combinational Logic</a:t>
            </a:r>
          </a:p>
          <a:p>
            <a:r>
              <a:rPr lang="en-US" sz="2400" dirty="0"/>
              <a:t>Registers, Clocks and Sequential Logic</a:t>
            </a:r>
          </a:p>
          <a:p>
            <a:r>
              <a:rPr lang="en-US" sz="2400" dirty="0"/>
              <a:t>Simulating and Synthesizing Simple Modules in </a:t>
            </a:r>
            <a:r>
              <a:rPr lang="en-US" sz="2400" dirty="0" err="1"/>
              <a:t>Vivado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BEABF-D4DF-B9AC-03AE-B84B2628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1531A9D-32A8-D4FE-2120-F68D8CE430C0}"/>
              </a:ext>
            </a:extLst>
          </p:cNvPr>
          <p:cNvSpPr/>
          <p:nvPr/>
        </p:nvSpPr>
        <p:spPr>
          <a:xfrm>
            <a:off x="421576" y="1960434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033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CB82-027A-224A-7674-C98F65A25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BAE71-1459-824A-6CF9-5C16D09BF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Graphical representation of the signals in the circuit over time</a:t>
            </a:r>
          </a:p>
          <a:p>
            <a:r>
              <a:rPr lang="en-US" sz="2400" dirty="0"/>
              <a:t>Key to analyzing circuits</a:t>
            </a:r>
          </a:p>
          <a:p>
            <a:r>
              <a:rPr lang="en-US" sz="2400" dirty="0"/>
              <a:t>Demonstrates:</a:t>
            </a:r>
          </a:p>
          <a:p>
            <a:pPr lvl="1"/>
            <a:r>
              <a:rPr lang="en-US" sz="2000" dirty="0"/>
              <a:t>Sequence of operations</a:t>
            </a:r>
          </a:p>
          <a:p>
            <a:pPr lvl="1"/>
            <a:r>
              <a:rPr lang="en-US" sz="2000" dirty="0"/>
              <a:t>Latency in each step</a:t>
            </a:r>
          </a:p>
          <a:p>
            <a:pPr lvl="1"/>
            <a:r>
              <a:rPr lang="en-US" sz="2000" dirty="0"/>
              <a:t>Critical paths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DA2F0-2BE0-2360-50C9-AAD684E65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E7CAD9-DA1C-0CCC-6324-71BA0E74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199" y="2660777"/>
            <a:ext cx="7148513" cy="239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38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FC5CB-9F65-A419-49E5-3548CDBEE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62B15-C347-EB4E-A849-6F232BE17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Signal:  Any time-varying quantity</a:t>
            </a:r>
          </a:p>
          <a:p>
            <a:endParaRPr lang="en-US" sz="2400" dirty="0"/>
          </a:p>
          <a:p>
            <a:r>
              <a:rPr lang="en-US" sz="2400" dirty="0"/>
              <a:t>Digital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Binary</a:t>
            </a:r>
            <a:r>
              <a:rPr lang="en-US" sz="2400" dirty="0"/>
              <a:t> Signals:  </a:t>
            </a:r>
          </a:p>
          <a:p>
            <a:pPr lvl="1"/>
            <a:r>
              <a:rPr lang="en-US" sz="2000" dirty="0"/>
              <a:t>Two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logical values</a:t>
            </a:r>
            <a:r>
              <a:rPr lang="en-US" sz="2000" dirty="0"/>
              <a:t>: 0 or 1</a:t>
            </a:r>
          </a:p>
          <a:p>
            <a:pPr lvl="1"/>
            <a:r>
              <a:rPr lang="en-US" sz="2000" dirty="0"/>
              <a:t>Physically: Typically, a continuous voltage</a:t>
            </a:r>
          </a:p>
          <a:p>
            <a:pPr lvl="1"/>
            <a:r>
              <a:rPr lang="en-US" sz="2000" dirty="0"/>
              <a:t>Logical value by thresholding</a:t>
            </a:r>
          </a:p>
          <a:p>
            <a:endParaRPr lang="en-US" sz="2400" dirty="0"/>
          </a:p>
          <a:p>
            <a:r>
              <a:rPr lang="en-US" sz="2400" dirty="0"/>
              <a:t>Other signals (e.g. integer, floats)  built from binary signals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DC28D-EA44-4E34-F2B9-86B1CF1BA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EA7D17-01BA-DCD9-B020-D4B2ABA5E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299" y="1726315"/>
            <a:ext cx="5526388" cy="250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586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B091C-616C-58B0-52FE-B50FFB118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Undefined Logic Value:  </a:t>
            </a:r>
            <a:r>
              <a:rPr lang="en-US" dirty="0">
                <a:solidFill>
                  <a:srgbClr val="FF0000"/>
                </a:solidFill>
              </a:rPr>
              <a:t>‘X’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50434-70A4-1E7F-DCA8-50141D013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394084" cy="4329817"/>
          </a:xfrm>
        </p:spPr>
        <p:txBody>
          <a:bodyPr>
            <a:normAutofit/>
          </a:bodyPr>
          <a:lstStyle/>
          <a:p>
            <a:r>
              <a:rPr lang="en-US" dirty="0"/>
              <a:t>Signals take time to transition</a:t>
            </a:r>
          </a:p>
          <a:p>
            <a:pPr lvl="1"/>
            <a:r>
              <a:rPr lang="en-US" sz="2000" dirty="0"/>
              <a:t>They are outputs of physical circuits</a:t>
            </a:r>
          </a:p>
          <a:p>
            <a:pPr lvl="1"/>
            <a:r>
              <a:rPr lang="en-US" sz="2000" dirty="0"/>
              <a:t>Gates, computational units, …</a:t>
            </a:r>
          </a:p>
          <a:p>
            <a:r>
              <a:rPr lang="en-US" dirty="0"/>
              <a:t>Creates an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undefined</a:t>
            </a:r>
            <a:r>
              <a:rPr lang="en-US" dirty="0"/>
              <a:t> period</a:t>
            </a:r>
          </a:p>
          <a:p>
            <a:pPr lvl="1"/>
            <a:r>
              <a:rPr lang="en-US" sz="2000" dirty="0"/>
              <a:t>Also called indeterminate, unknown, …</a:t>
            </a:r>
          </a:p>
          <a:p>
            <a:r>
              <a:rPr lang="en-US" dirty="0"/>
              <a:t>Usually denoted as X</a:t>
            </a:r>
          </a:p>
          <a:p>
            <a:r>
              <a:rPr lang="en-US" dirty="0"/>
              <a:t>So binary logic signals have three values:</a:t>
            </a:r>
          </a:p>
          <a:p>
            <a:pPr lvl="1"/>
            <a:r>
              <a:rPr lang="en-US" sz="2000" dirty="0"/>
              <a:t> 0, 1 and X</a:t>
            </a:r>
          </a:p>
          <a:p>
            <a:pPr lvl="1"/>
            <a:r>
              <a:rPr lang="en-US" sz="2000" dirty="0"/>
              <a:t>Will discuss a fourth value Z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B2C78-9EBE-3338-FD65-712D6453A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pic>
        <p:nvPicPr>
          <p:cNvPr id="2050" name="Picture 2" descr="Rise time and fall time indicate the length of time a signal takes to change voltage between the low level and high level">
            <a:extLst>
              <a:ext uri="{FF2B5EF4-FFF2-40B4-BE49-F238E27FC236}">
                <a16:creationId xmlns:a16="http://schemas.microsoft.com/office/drawing/2014/main" id="{F7A55619-EF33-89D1-1A47-91A9DF34C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359" y="1596142"/>
            <a:ext cx="5632844" cy="3221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0F4E29-D843-DA3C-EF40-271BA0FE05E7}"/>
              </a:ext>
            </a:extLst>
          </p:cNvPr>
          <p:cNvSpPr txBox="1"/>
          <p:nvPr/>
        </p:nvSpPr>
        <p:spPr>
          <a:xfrm>
            <a:off x="6990562" y="473867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CC8A78-5D78-C2E6-5CFF-D913EB9DB06A}"/>
              </a:ext>
            </a:extLst>
          </p:cNvPr>
          <p:cNvSpPr txBox="1"/>
          <p:nvPr/>
        </p:nvSpPr>
        <p:spPr>
          <a:xfrm>
            <a:off x="7857168" y="473863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FC2038-1D69-247D-67F7-2BDDF4ED897D}"/>
              </a:ext>
            </a:extLst>
          </p:cNvPr>
          <p:cNvSpPr txBox="1"/>
          <p:nvPr/>
        </p:nvSpPr>
        <p:spPr>
          <a:xfrm>
            <a:off x="9069579" y="473863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8DBDF4-7F05-C3D5-3427-CA90793158E9}"/>
              </a:ext>
            </a:extLst>
          </p:cNvPr>
          <p:cNvSpPr txBox="1"/>
          <p:nvPr/>
        </p:nvSpPr>
        <p:spPr>
          <a:xfrm>
            <a:off x="10098286" y="472128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CD49F1-0703-6830-ECD0-967DD841E577}"/>
              </a:ext>
            </a:extLst>
          </p:cNvPr>
          <p:cNvSpPr txBox="1"/>
          <p:nvPr/>
        </p:nvSpPr>
        <p:spPr>
          <a:xfrm>
            <a:off x="11073897" y="472128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142928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3D39C-7945-2FB1-B8A7-BEC477DAB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Undefined Regions Illustrated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D34DD-AC2B-7388-61E8-45A608CA8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2851" y="1852613"/>
            <a:ext cx="4397692" cy="3964094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Analog physical signal</a:t>
            </a:r>
          </a:p>
          <a:p>
            <a:pPr lvl="1"/>
            <a:r>
              <a:rPr lang="en-US" dirty="0"/>
              <a:t>Typically, a voltage</a:t>
            </a:r>
          </a:p>
          <a:p>
            <a:pPr lvl="1"/>
            <a:r>
              <a:rPr lang="en-US" dirty="0"/>
              <a:t>Continuous valued</a:t>
            </a:r>
          </a:p>
          <a:p>
            <a:pPr lvl="1"/>
            <a:r>
              <a:rPr lang="en-US" dirty="0"/>
              <a:t>Has finite transition periods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Digital logic signal</a:t>
            </a:r>
          </a:p>
          <a:p>
            <a:pPr lvl="1"/>
            <a:r>
              <a:rPr lang="en-US" dirty="0"/>
              <a:t>Three values  0, 1 and X</a:t>
            </a:r>
          </a:p>
          <a:p>
            <a:pPr lvl="1"/>
            <a:r>
              <a:rPr lang="en-US" dirty="0"/>
              <a:t>X value shown in gray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5CC22-1D34-C503-051E-1D764EB0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0FB92D-C1EF-A3C6-C913-EA0B226D4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12" y="1596313"/>
            <a:ext cx="5762626" cy="43091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F054AD-A7DE-9BC8-4E9B-C74FC6B8B7C5}"/>
              </a:ext>
            </a:extLst>
          </p:cNvPr>
          <p:cNvSpPr txBox="1"/>
          <p:nvPr/>
        </p:nvSpPr>
        <p:spPr>
          <a:xfrm>
            <a:off x="1861181" y="448622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916287-4760-ACBD-178B-7CC15429C073}"/>
              </a:ext>
            </a:extLst>
          </p:cNvPr>
          <p:cNvSpPr txBox="1"/>
          <p:nvPr/>
        </p:nvSpPr>
        <p:spPr>
          <a:xfrm>
            <a:off x="2723194" y="448622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152242-3DEE-C52F-7BD1-DDDD31B9C3C3}"/>
              </a:ext>
            </a:extLst>
          </p:cNvPr>
          <p:cNvSpPr txBox="1"/>
          <p:nvPr/>
        </p:nvSpPr>
        <p:spPr>
          <a:xfrm>
            <a:off x="3609149" y="448622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753A8C-6C47-711E-930E-825184024BE7}"/>
              </a:ext>
            </a:extLst>
          </p:cNvPr>
          <p:cNvSpPr txBox="1"/>
          <p:nvPr/>
        </p:nvSpPr>
        <p:spPr>
          <a:xfrm>
            <a:off x="4495104" y="449268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2BC464-B7CD-5E7E-1A9E-ACB383F362B0}"/>
              </a:ext>
            </a:extLst>
          </p:cNvPr>
          <p:cNvSpPr txBox="1"/>
          <p:nvPr/>
        </p:nvSpPr>
        <p:spPr>
          <a:xfrm>
            <a:off x="5409633" y="448622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284401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B4D75-4931-40C1-EBC7-0FFCB99EE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Value-Change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ABBC8-94C7-4F6D-54E6-40FAED872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614488"/>
            <a:ext cx="10058400" cy="425460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digital logic, signals are often described by their </a:t>
            </a:r>
            <a:r>
              <a:rPr lang="en-US" dirty="0">
                <a:solidFill>
                  <a:schemeClr val="accent1"/>
                </a:solidFill>
              </a:rPr>
              <a:t>value-change points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Value change points also called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valued change events</a:t>
            </a:r>
            <a:r>
              <a:rPr lang="en-US" dirty="0"/>
              <a:t>,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transitions</a:t>
            </a:r>
            <a:r>
              <a:rPr lang="en-US" dirty="0"/>
              <a:t>, …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260DF-6DFE-EFB3-0FAB-2FB566189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63FB2108-4127-B3FB-E9F7-712A43794A70}"/>
                  </a:ext>
                </a:extLst>
              </p:cNvPr>
              <p:cNvSpPr/>
              <p:nvPr/>
            </p:nvSpPr>
            <p:spPr>
              <a:xfrm>
                <a:off x="1347788" y="2233612"/>
                <a:ext cx="9105900" cy="164162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Definition</a:t>
                </a:r>
                <a:r>
                  <a:rPr lang="en-US" sz="2000" dirty="0">
                    <a:solidFill>
                      <a:schemeClr val="tx1"/>
                    </a:solidFill>
                  </a:rPr>
                  <a:t>:  A signal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has </a:t>
                </a:r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value-change points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=0, …,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if:</a:t>
                </a:r>
                <a:br>
                  <a:rPr lang="en-US" sz="2000" dirty="0">
                    <a:solidFill>
                      <a:schemeClr val="tx1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  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=0,…,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63FB2108-4127-B3FB-E9F7-712A43794A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788" y="2233612"/>
                <a:ext cx="9105900" cy="164162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2512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0B3CF-6EB1-F0C4-33DD-F5ABD8AD4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Diagram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78F721-F643-EB56-FAE6-FDE29667C7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Timing diagram:  </a:t>
                </a:r>
                <a:r>
                  <a:rPr lang="en-US" dirty="0"/>
                  <a:t>A plot of signals over time showing with value-change points</a:t>
                </a:r>
              </a:p>
              <a:p>
                <a:r>
                  <a:rPr lang="en-US" dirty="0"/>
                  <a:t>Example with two signals:</a:t>
                </a:r>
              </a:p>
              <a:p>
                <a:r>
                  <a:rPr lang="en-US" dirty="0"/>
                  <a:t>VC points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:  {(3,5), (20,17), (40,8)}</a:t>
                </a:r>
              </a:p>
              <a:p>
                <a:r>
                  <a:rPr lang="en-US" dirty="0"/>
                  <a:t>VC points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 : {(12,3), (25,12), (35,0)}</a:t>
                </a:r>
              </a:p>
              <a:p>
                <a:r>
                  <a:rPr lang="en-US" dirty="0"/>
                  <a:t>In this plot, times are in ns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78F721-F643-EB56-FAE6-FDE29667C7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35A32-A270-A4B9-D5D4-41484D8A8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52BD75-F1F7-9C23-7239-DBF74163F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23" y="3901267"/>
            <a:ext cx="10526753" cy="179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094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E62AD-256F-8DEC-B0AC-DCD6A0667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60511-BB91-8AA6-A88D-A86C48CD0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Propagation Delays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15579F-6104-AC5B-37DF-7E01387473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90626" y="1539277"/>
                <a:ext cx="9965054" cy="4329817"/>
              </a:xfrm>
            </p:spPr>
            <p:txBody>
              <a:bodyPr/>
              <a:lstStyle/>
              <a:p>
                <a:r>
                  <a:rPr lang="en-US" dirty="0"/>
                  <a:t>Each circuit element incurs a 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propagation delay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Time for the output to settle after the input changes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On transition of input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Output is initially unknown ‘X’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We cannot assume the value is stable during transition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After propagation delay, output settles at value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Example: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has VC points {(0,4), (10,5)}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Prop delay is 3 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has VC points {(0,X), (3,16), (10,X), (13,25)}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15579F-6104-AC5B-37DF-7E01387473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90626" y="1539277"/>
                <a:ext cx="9965054" cy="4329817"/>
              </a:xfrm>
              <a:blipFill>
                <a:blip r:embed="rId2"/>
                <a:stretch>
                  <a:fillRect l="-1468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5024F-7EB5-CDA2-A375-ABCFDB855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F993C4-0BF7-944D-F0B4-E71C31097389}"/>
                  </a:ext>
                </a:extLst>
              </p:cNvPr>
              <p:cNvSpPr txBox="1"/>
              <p:nvPr/>
            </p:nvSpPr>
            <p:spPr>
              <a:xfrm>
                <a:off x="8495489" y="2503114"/>
                <a:ext cx="1397434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𝑝𝑟𝑜𝑝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ns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F993C4-0BF7-944D-F0B4-E71C31097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5489" y="2503114"/>
                <a:ext cx="1397434" cy="390748"/>
              </a:xfrm>
              <a:prstGeom prst="rect">
                <a:avLst/>
              </a:prstGeom>
              <a:blipFill>
                <a:blip r:embed="rId3"/>
                <a:stretch>
                  <a:fillRect t="-7813" r="-3057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FE3C8B4D-376D-6264-3140-6273EEE99861}"/>
              </a:ext>
            </a:extLst>
          </p:cNvPr>
          <p:cNvSpPr/>
          <p:nvPr/>
        </p:nvSpPr>
        <p:spPr>
          <a:xfrm>
            <a:off x="8891588" y="1924050"/>
            <a:ext cx="561975" cy="56197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3956B86-942C-3460-341A-65DCD66F0598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7687945" y="2205037"/>
            <a:ext cx="12036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E4644E3-D110-D9CC-B0A6-5339D0930A75}"/>
              </a:ext>
            </a:extLst>
          </p:cNvPr>
          <p:cNvCxnSpPr>
            <a:cxnSpLocks/>
          </p:cNvCxnSpPr>
          <p:nvPr/>
        </p:nvCxnSpPr>
        <p:spPr>
          <a:xfrm>
            <a:off x="9453563" y="2205037"/>
            <a:ext cx="12036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C62696-CC60-6D12-9717-701A2BB5BB22}"/>
                  </a:ext>
                </a:extLst>
              </p:cNvPr>
              <p:cNvSpPr txBox="1"/>
              <p:nvPr/>
            </p:nvSpPr>
            <p:spPr>
              <a:xfrm>
                <a:off x="7892671" y="1759863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C62696-CC60-6D12-9717-701A2BB5B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671" y="1759863"/>
                <a:ext cx="36798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A99C96-4D6C-A359-D19D-2169BCDB50A2}"/>
                  </a:ext>
                </a:extLst>
              </p:cNvPr>
              <p:cNvSpPr txBox="1"/>
              <p:nvPr/>
            </p:nvSpPr>
            <p:spPr>
              <a:xfrm>
                <a:off x="9892923" y="1729474"/>
                <a:ext cx="9161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A99C96-4D6C-A359-D19D-2169BCDB5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2923" y="1729474"/>
                <a:ext cx="916148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A1F566D2-BC96-EE60-D51B-EFB79BE666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9794" y="3836432"/>
            <a:ext cx="7361726" cy="1246241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0B49DFE-64F1-5CBF-E546-D7274CBAF86B}"/>
              </a:ext>
            </a:extLst>
          </p:cNvPr>
          <p:cNvCxnSpPr>
            <a:cxnSpLocks/>
          </p:cNvCxnSpPr>
          <p:nvPr/>
        </p:nvCxnSpPr>
        <p:spPr>
          <a:xfrm>
            <a:off x="9015414" y="3987298"/>
            <a:ext cx="0" cy="176807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74072D3-554B-5025-2B56-B551CC56444C}"/>
              </a:ext>
            </a:extLst>
          </p:cNvPr>
          <p:cNvCxnSpPr>
            <a:cxnSpLocks/>
          </p:cNvCxnSpPr>
          <p:nvPr/>
        </p:nvCxnSpPr>
        <p:spPr>
          <a:xfrm>
            <a:off x="9858377" y="4409970"/>
            <a:ext cx="0" cy="134540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F674AD7-7664-422F-01CD-754D6414B06C}"/>
              </a:ext>
            </a:extLst>
          </p:cNvPr>
          <p:cNvCxnSpPr>
            <a:cxnSpLocks/>
          </p:cNvCxnSpPr>
          <p:nvPr/>
        </p:nvCxnSpPr>
        <p:spPr>
          <a:xfrm>
            <a:off x="9015414" y="5205413"/>
            <a:ext cx="842963" cy="0"/>
          </a:xfrm>
          <a:prstGeom prst="line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F8654E-451D-BA51-1053-C939550959D6}"/>
                  </a:ext>
                </a:extLst>
              </p:cNvPr>
              <p:cNvSpPr txBox="1"/>
              <p:nvPr/>
            </p:nvSpPr>
            <p:spPr>
              <a:xfrm>
                <a:off x="10028019" y="5010039"/>
                <a:ext cx="1397434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𝑝𝑟𝑜𝑝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ns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F8654E-451D-BA51-1053-C93955095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8019" y="5010039"/>
                <a:ext cx="1397434" cy="390748"/>
              </a:xfrm>
              <a:prstGeom prst="rect">
                <a:avLst/>
              </a:prstGeom>
              <a:blipFill>
                <a:blip r:embed="rId7"/>
                <a:stretch>
                  <a:fillRect t="-7813" r="-3493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0394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DE036-D666-EF45-CD63-FA963274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 Timing Diagrams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1D77C-3506-36B3-0A50-71D74310D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Course repo contains a </a:t>
            </a:r>
            <a:r>
              <a:rPr lang="en-US" dirty="0" err="1">
                <a:hlinkClick r:id="rId2"/>
              </a:rPr>
              <a:t>xilinxutils</a:t>
            </a:r>
            <a:r>
              <a:rPr lang="en-US" dirty="0">
                <a:hlinkClick r:id="rId2"/>
              </a:rPr>
              <a:t> package</a:t>
            </a:r>
            <a:endParaRPr lang="en-US" dirty="0"/>
          </a:p>
          <a:p>
            <a:pPr lvl="1"/>
            <a:r>
              <a:rPr lang="en-US" dirty="0"/>
              <a:t>Custom package in this class</a:t>
            </a:r>
          </a:p>
          <a:p>
            <a:pPr lvl="1"/>
            <a:r>
              <a:rPr lang="en-US" dirty="0"/>
              <a:t>Many helper routines for Xilinx tools</a:t>
            </a:r>
          </a:p>
          <a:p>
            <a:r>
              <a:rPr lang="en-US" dirty="0"/>
              <a:t>Tools for parsing and visualizing VCD files</a:t>
            </a:r>
          </a:p>
          <a:p>
            <a:r>
              <a:rPr lang="en-US" dirty="0"/>
              <a:t>Code to produce timing diagram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8AB31-4A4F-BDC8-BC22-90D7957B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76A5D7-7183-783F-8A99-303D99B9A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865" y="1462329"/>
            <a:ext cx="3495855" cy="15526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B13CDA-5F87-190D-BAAC-62557220B8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674" y="3227447"/>
            <a:ext cx="4603282" cy="30379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0BE597-03D8-D39F-2126-DB55488BE7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13" y="4383997"/>
            <a:ext cx="5521561" cy="93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289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7DC26-E3A5-F949-2640-10973AE36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Propagation Delays of a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39D900-5211-C173-5E2F-B28DB1479A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90626" y="1539277"/>
                <a:ext cx="9965054" cy="4329817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Our example:  Three propagation delays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Multiplier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Adder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Max operator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Propagation delays will add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Called the </a:t>
                </a:r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total propagation delay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Or </a:t>
                </a:r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total path delay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Key property: When input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changes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All downstream values initially go to X</a:t>
                </a:r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39D900-5211-C173-5E2F-B28DB1479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90626" y="1539277"/>
                <a:ext cx="9965054" cy="4329817"/>
              </a:xfrm>
              <a:blipFill>
                <a:blip r:embed="rId2"/>
                <a:stretch>
                  <a:fillRect l="-1468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EB597-18FB-B787-CE61-5531A45D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7A4A72-9772-91DF-0638-E6595E2DE9A2}"/>
                  </a:ext>
                </a:extLst>
              </p:cNvPr>
              <p:cNvSpPr txBox="1"/>
              <p:nvPr/>
            </p:nvSpPr>
            <p:spPr>
              <a:xfrm>
                <a:off x="6909858" y="3780027"/>
                <a:ext cx="7637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𝑚𝑢𝑙𝑡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7A4A72-9772-91DF-0638-E6595E2DE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858" y="3780027"/>
                <a:ext cx="76379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F025801-6D43-D2EB-CC41-B88F51273019}"/>
                  </a:ext>
                </a:extLst>
              </p:cNvPr>
              <p:cNvSpPr txBox="1"/>
              <p:nvPr/>
            </p:nvSpPr>
            <p:spPr>
              <a:xfrm>
                <a:off x="9964802" y="3794494"/>
                <a:ext cx="7201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F025801-6D43-D2EB-CC41-B88F51273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4802" y="3794494"/>
                <a:ext cx="72019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B68D07-B636-A237-1F08-6D1145FFB4F1}"/>
                  </a:ext>
                </a:extLst>
              </p:cNvPr>
              <p:cNvSpPr txBox="1"/>
              <p:nvPr/>
            </p:nvSpPr>
            <p:spPr>
              <a:xfrm>
                <a:off x="8314791" y="3794494"/>
                <a:ext cx="6860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𝑎𝑑𝑑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B68D07-B636-A237-1F08-6D1145FFB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4791" y="3794494"/>
                <a:ext cx="68608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968A6B94-9B1F-8DFC-08B1-75FC0AD230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1726" y="1849985"/>
            <a:ext cx="6037276" cy="18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43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33E12-0AF8-D024-DDA3-A125865E0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8AA81A0-3CC0-6F75-1C47-376899A6D4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860"/>
          <a:stretch>
            <a:fillRect/>
          </a:stretch>
        </p:blipFill>
        <p:spPr>
          <a:xfrm>
            <a:off x="269956" y="1963649"/>
            <a:ext cx="5496978" cy="23152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E73A91-7772-2CF3-6EB4-8D5235FDA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Total Propagation Delay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4ABA1-AD95-B889-FBA9-16D5858B1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8E57E49-077D-E708-A682-1BC240503962}"/>
              </a:ext>
            </a:extLst>
          </p:cNvPr>
          <p:cNvCxnSpPr>
            <a:cxnSpLocks/>
          </p:cNvCxnSpPr>
          <p:nvPr/>
        </p:nvCxnSpPr>
        <p:spPr>
          <a:xfrm>
            <a:off x="1856923" y="2755107"/>
            <a:ext cx="0" cy="277415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0C26EF-023F-0884-8E78-63C30B5CFD5A}"/>
              </a:ext>
            </a:extLst>
          </p:cNvPr>
          <p:cNvCxnSpPr>
            <a:cxnSpLocks/>
          </p:cNvCxnSpPr>
          <p:nvPr/>
        </p:nvCxnSpPr>
        <p:spPr>
          <a:xfrm>
            <a:off x="3076124" y="2755107"/>
            <a:ext cx="0" cy="21907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4BC7961-E6BB-DDAF-213B-6A1E08DB506E}"/>
              </a:ext>
            </a:extLst>
          </p:cNvPr>
          <p:cNvCxnSpPr>
            <a:cxnSpLocks/>
          </p:cNvCxnSpPr>
          <p:nvPr/>
        </p:nvCxnSpPr>
        <p:spPr>
          <a:xfrm>
            <a:off x="3680961" y="2755107"/>
            <a:ext cx="0" cy="21907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00DFAA1-DFAB-6531-D513-8B66333B4B55}"/>
              </a:ext>
            </a:extLst>
          </p:cNvPr>
          <p:cNvCxnSpPr>
            <a:cxnSpLocks/>
          </p:cNvCxnSpPr>
          <p:nvPr/>
        </p:nvCxnSpPr>
        <p:spPr>
          <a:xfrm>
            <a:off x="4095299" y="2755107"/>
            <a:ext cx="0" cy="277415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B1DBD37-B18E-0152-E94A-FBDE7D3ADE6B}"/>
                  </a:ext>
                </a:extLst>
              </p:cNvPr>
              <p:cNvSpPr txBox="1"/>
              <p:nvPr/>
            </p:nvSpPr>
            <p:spPr>
              <a:xfrm>
                <a:off x="3053706" y="4546430"/>
                <a:ext cx="6860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𝑎𝑑𝑑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B1DBD37-B18E-0152-E94A-FBDE7D3AD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706" y="4546430"/>
                <a:ext cx="68608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A8F1114-1E41-C56F-B7D3-E1D8220A839A}"/>
                  </a:ext>
                </a:extLst>
              </p:cNvPr>
              <p:cNvSpPr txBox="1"/>
              <p:nvPr/>
            </p:nvSpPr>
            <p:spPr>
              <a:xfrm>
                <a:off x="2137595" y="4450399"/>
                <a:ext cx="7637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𝑚𝑢𝑙𝑡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A8F1114-1E41-C56F-B7D3-E1D8220A8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595" y="4450399"/>
                <a:ext cx="76379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F1DAF76-CDB5-C1ED-0175-DCE34EB8FF9C}"/>
                  </a:ext>
                </a:extLst>
              </p:cNvPr>
              <p:cNvSpPr txBox="1"/>
              <p:nvPr/>
            </p:nvSpPr>
            <p:spPr>
              <a:xfrm>
                <a:off x="4073654" y="4243060"/>
                <a:ext cx="7201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F1DAF76-CDB5-C1ED-0175-DCE34EB8F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54" y="4243060"/>
                <a:ext cx="72019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DCC1300-EC72-3401-B03D-3BD4DFF26046}"/>
              </a:ext>
            </a:extLst>
          </p:cNvPr>
          <p:cNvCxnSpPr>
            <a:cxnSpLocks/>
          </p:cNvCxnSpPr>
          <p:nvPr/>
        </p:nvCxnSpPr>
        <p:spPr>
          <a:xfrm>
            <a:off x="1856923" y="4429127"/>
            <a:ext cx="1216819" cy="0"/>
          </a:xfrm>
          <a:prstGeom prst="line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037B60A-4DF5-15CF-46D3-CE8494E37C9F}"/>
              </a:ext>
            </a:extLst>
          </p:cNvPr>
          <p:cNvCxnSpPr>
            <a:cxnSpLocks/>
          </p:cNvCxnSpPr>
          <p:nvPr/>
        </p:nvCxnSpPr>
        <p:spPr>
          <a:xfrm>
            <a:off x="3073742" y="4440874"/>
            <a:ext cx="607219" cy="0"/>
          </a:xfrm>
          <a:prstGeom prst="line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F2C939F-6E57-AD89-2C78-55E4F2787203}"/>
              </a:ext>
            </a:extLst>
          </p:cNvPr>
          <p:cNvCxnSpPr>
            <a:cxnSpLocks/>
          </p:cNvCxnSpPr>
          <p:nvPr/>
        </p:nvCxnSpPr>
        <p:spPr>
          <a:xfrm>
            <a:off x="3680591" y="4440874"/>
            <a:ext cx="414708" cy="0"/>
          </a:xfrm>
          <a:prstGeom prst="line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Content Placeholder 6">
                <a:extLst>
                  <a:ext uri="{FF2B5EF4-FFF2-40B4-BE49-F238E27FC236}">
                    <a16:creationId xmlns:a16="http://schemas.microsoft.com/office/drawing/2014/main" id="{4838C77A-DAF7-C0FD-1F4F-B385ADB40414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6967446" y="1856582"/>
              <a:ext cx="4267255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76425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390830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block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 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𝑚𝑢𝑙𝑡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/>
                            <a:t>3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𝑎𝑑𝑑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b="0" dirty="0"/>
                            <a:t>1.5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operator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/>
                            <a:t>1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2939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𝑡𝑜𝑡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5.5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Content Placeholder 6">
                <a:extLst>
                  <a:ext uri="{FF2B5EF4-FFF2-40B4-BE49-F238E27FC236}">
                    <a16:creationId xmlns:a16="http://schemas.microsoft.com/office/drawing/2014/main" id="{4838C77A-DAF7-C0FD-1F4F-B385ADB4041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76743027"/>
                  </p:ext>
                </p:extLst>
              </p:nvPr>
            </p:nvGraphicFramePr>
            <p:xfrm>
              <a:off x="6967446" y="1856582"/>
              <a:ext cx="4267255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76425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390830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block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 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78626" t="-108197" r="-1272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78626" t="-208197" r="-1272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operator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78626" t="-308197" r="-1272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22939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78626" t="-408197" r="-1272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60BD2029-0C53-3771-53A4-436300AE7D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7351" y="4018757"/>
            <a:ext cx="6037276" cy="185420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6040E28-C4D7-6C54-005F-CB0E3E8ED4C2}"/>
              </a:ext>
            </a:extLst>
          </p:cNvPr>
          <p:cNvCxnSpPr>
            <a:cxnSpLocks/>
          </p:cNvCxnSpPr>
          <p:nvPr/>
        </p:nvCxnSpPr>
        <p:spPr>
          <a:xfrm>
            <a:off x="1856923" y="5181602"/>
            <a:ext cx="2216731" cy="0"/>
          </a:xfrm>
          <a:prstGeom prst="line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75A2489-30D6-4E15-1A2F-75698B162107}"/>
                  </a:ext>
                </a:extLst>
              </p:cNvPr>
              <p:cNvSpPr txBox="1"/>
              <p:nvPr/>
            </p:nvSpPr>
            <p:spPr>
              <a:xfrm>
                <a:off x="2258571" y="5262777"/>
                <a:ext cx="14274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=5.5 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ns</a:t>
                </a:r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75A2489-30D6-4E15-1A2F-75698B162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8571" y="5262777"/>
                <a:ext cx="1427442" cy="369332"/>
              </a:xfrm>
              <a:prstGeom prst="rect">
                <a:avLst/>
              </a:prstGeom>
              <a:blipFill>
                <a:blip r:embed="rId8"/>
                <a:stretch>
                  <a:fillRect t="-8197" r="-299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92366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8EBED-AF9F-B904-7FB1-1196F4DA9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Timing Over Multiple Inputs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B5B64-8AF2-278C-2D19-D6D935DFC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D743F6-2CEB-3CDF-6938-2BF04CC2C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35" y="1838326"/>
            <a:ext cx="10012784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0949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6DA0E-C1C2-4B25-093B-26163C081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Typical Propagation Delays:  Low-End FPGA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D9AE152-6E99-5A5F-FADD-526C60A2DE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9243628"/>
              </p:ext>
            </p:extLst>
          </p:nvPr>
        </p:nvGraphicFramePr>
        <p:xfrm>
          <a:off x="1044577" y="1777764"/>
          <a:ext cx="8228012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3246">
                  <a:extLst>
                    <a:ext uri="{9D8B030D-6E8A-4147-A177-3AD203B41FA5}">
                      <a16:colId xmlns:a16="http://schemas.microsoft.com/office/drawing/2014/main" val="3489589385"/>
                    </a:ext>
                  </a:extLst>
                </a:gridCol>
                <a:gridCol w="2446588">
                  <a:extLst>
                    <a:ext uri="{9D8B030D-6E8A-4147-A177-3AD203B41FA5}">
                      <a16:colId xmlns:a16="http://schemas.microsoft.com/office/drawing/2014/main" val="3600933310"/>
                    </a:ext>
                  </a:extLst>
                </a:gridCol>
                <a:gridCol w="3858178">
                  <a:extLst>
                    <a:ext uri="{9D8B030D-6E8A-4147-A177-3AD203B41FA5}">
                      <a16:colId xmlns:a16="http://schemas.microsoft.com/office/drawing/2014/main" val="1638097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Hardware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FPGA 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Typical 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626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32-bit 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LUT + dedicated carry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1.5–3.0 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641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16-bit multiplier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DSP48E1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2.5–5.0 ns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8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16-bit comparator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LUT logic + carry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1.0–2.0 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29395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C121A-91E0-CE04-DEFA-C2317BEA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FA86B23-9C2E-23ED-1B0E-D59B1613D2FA}"/>
              </a:ext>
            </a:extLst>
          </p:cNvPr>
          <p:cNvSpPr txBox="1">
            <a:spLocks/>
          </p:cNvSpPr>
          <p:nvPr/>
        </p:nvSpPr>
        <p:spPr>
          <a:xfrm>
            <a:off x="1189196" y="3968378"/>
            <a:ext cx="9813608" cy="187811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Rough delays for a low-end FPGA (e.g., </a:t>
            </a:r>
            <a:r>
              <a:rPr lang="en-US" dirty="0" err="1"/>
              <a:t>Pynq</a:t>
            </a:r>
            <a:r>
              <a:rPr lang="en-US" dirty="0"/>
              <a:t> Z2)</a:t>
            </a:r>
          </a:p>
          <a:p>
            <a:r>
              <a:rPr lang="en-US" dirty="0"/>
              <a:t>We will explain the FPGA resources more in later units</a:t>
            </a:r>
          </a:p>
          <a:p>
            <a:r>
              <a:rPr lang="en-US" dirty="0"/>
              <a:t>Routing delays not included</a:t>
            </a:r>
          </a:p>
          <a:p>
            <a:pPr lvl="1"/>
            <a:r>
              <a:rPr lang="en-US" dirty="0"/>
              <a:t>May be large for more complex designs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43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3BE3E-BAA4-C755-7CA1-58981F991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D6DD0-8304-5FB1-55A9-F9FA7C267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Propagation Delays:  ASIC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B275D51-FB46-1F6B-4BFC-DD42E042F0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9829831"/>
              </p:ext>
            </p:extLst>
          </p:nvPr>
        </p:nvGraphicFramePr>
        <p:xfrm>
          <a:off x="1044576" y="1777764"/>
          <a:ext cx="7518398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378">
                  <a:extLst>
                    <a:ext uri="{9D8B030D-6E8A-4147-A177-3AD203B41FA5}">
                      <a16:colId xmlns:a16="http://schemas.microsoft.com/office/drawing/2014/main" val="3489589385"/>
                    </a:ext>
                  </a:extLst>
                </a:gridCol>
                <a:gridCol w="2232525">
                  <a:extLst>
                    <a:ext uri="{9D8B030D-6E8A-4147-A177-3AD203B41FA5}">
                      <a16:colId xmlns:a16="http://schemas.microsoft.com/office/drawing/2014/main" val="3600933310"/>
                    </a:ext>
                  </a:extLst>
                </a:gridCol>
                <a:gridCol w="3528495">
                  <a:extLst>
                    <a:ext uri="{9D8B030D-6E8A-4147-A177-3AD203B41FA5}">
                      <a16:colId xmlns:a16="http://schemas.microsoft.com/office/drawing/2014/main" val="1638097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Hardware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Typical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Typical 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626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32-bit 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Kogge‑Stone / Brent‑Kung / hybrid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150-450 </a:t>
                      </a:r>
                      <a:r>
                        <a:rPr lang="en-US" dirty="0" err="1"/>
                        <a:t>ps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641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16-bit multiplier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Wallace/Dadda tree + final </a:t>
                      </a:r>
                      <a:r>
                        <a:rPr lang="en-US" dirty="0" err="1"/>
                        <a:t>adde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300-700 </a:t>
                      </a:r>
                      <a:r>
                        <a:rPr lang="en-US" b="0" dirty="0" err="1"/>
                        <a:t>ps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8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16-bit comparator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XOR/AND/OR chain with early‑out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50-300 </a:t>
                      </a:r>
                      <a:r>
                        <a:rPr lang="en-US" dirty="0" err="1"/>
                        <a:t>ps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29395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D3A7C-EF26-CC2E-BE5D-3B19DE156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D163503-62A8-33C2-066E-B6FAD0FF25CF}"/>
              </a:ext>
            </a:extLst>
          </p:cNvPr>
          <p:cNvSpPr txBox="1">
            <a:spLocks/>
          </p:cNvSpPr>
          <p:nvPr/>
        </p:nvSpPr>
        <p:spPr>
          <a:xfrm>
            <a:off x="1097280" y="4167188"/>
            <a:ext cx="7808595" cy="138112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Rough delays for TSMC 16nm</a:t>
            </a:r>
          </a:p>
          <a:p>
            <a:r>
              <a:rPr lang="en-US" dirty="0"/>
              <a:t>Custom ASICs are much faster than FPGAs</a:t>
            </a:r>
          </a:p>
          <a:p>
            <a:pPr lvl="1"/>
            <a:r>
              <a:rPr lang="en-US" dirty="0"/>
              <a:t>Easily 5 to 10x faster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398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F9584-98AE-4630-C6E4-824A91104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9D659-62F0-E5A4-81C3-FCC5F5D62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1A171-5C25-F07A-2152-04DE0A560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539277"/>
            <a:ext cx="7213284" cy="432981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Signals may need to propagate over multiple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paths</a:t>
            </a:r>
          </a:p>
          <a:p>
            <a:r>
              <a:rPr lang="en-US" sz="2400" b="0" dirty="0">
                <a:solidFill>
                  <a:schemeClr val="tx1"/>
                </a:solidFill>
              </a:rPr>
              <a:t>Each path accumulates different path delay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Total propagation time on path</a:t>
            </a:r>
          </a:p>
          <a:p>
            <a:r>
              <a:rPr lang="en-US" sz="2400" b="0" dirty="0">
                <a:solidFill>
                  <a:schemeClr val="accent1"/>
                </a:solidFill>
              </a:rPr>
              <a:t>Critical path: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The path with the highest total propagation delay</a:t>
            </a:r>
          </a:p>
          <a:p>
            <a:r>
              <a:rPr lang="en-US" sz="2400" b="0" dirty="0">
                <a:solidFill>
                  <a:schemeClr val="tx1"/>
                </a:solidFill>
              </a:rPr>
              <a:t>Crit</a:t>
            </a:r>
            <a:r>
              <a:rPr lang="en-US" sz="2400" dirty="0">
                <a:solidFill>
                  <a:schemeClr val="tx1"/>
                </a:solidFill>
              </a:rPr>
              <a:t>ical path will determine total delay of module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2D430-3FF6-FA2B-25E6-E9F80E957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A0484D-2625-5A7D-DCA4-3016FFAF8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677" y="2501304"/>
            <a:ext cx="4361558" cy="263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6726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91222-6E85-4597-FD89-BBA570845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Path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3C8AC7-FEDF-B362-9D6F-500036DC41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070158" cy="4329817"/>
              </a:xfrm>
            </p:spPr>
            <p:txBody>
              <a:bodyPr/>
              <a:lstStyle/>
              <a:p>
                <a:r>
                  <a:rPr lang="en-US" dirty="0"/>
                  <a:t>Example:  For some functions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Path 1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):</a:t>
                </a:r>
              </a:p>
              <a:p>
                <a:pPr lvl="1"/>
                <a:r>
                  <a:rPr lang="en-US" dirty="0"/>
                  <a:t>Delay = 3+2+2.5 = 7.5 ns</a:t>
                </a:r>
              </a:p>
              <a:p>
                <a:pPr lvl="1"/>
                <a:r>
                  <a:rPr lang="en-US" dirty="0"/>
                  <a:t>Longest = </a:t>
                </a:r>
                <a:r>
                  <a:rPr lang="en-US" dirty="0">
                    <a:solidFill>
                      <a:srgbClr val="FF0000"/>
                    </a:solidFill>
                  </a:rPr>
                  <a:t>Critical path</a:t>
                </a:r>
              </a:p>
              <a:p>
                <a:r>
                  <a:rPr lang="en-US" dirty="0">
                    <a:solidFill>
                      <a:srgbClr val="00B050"/>
                    </a:solidFill>
                  </a:rPr>
                  <a:t>Path 2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Delay = 3.5 + 2.5 = 6 ns</a:t>
                </a:r>
              </a:p>
              <a:p>
                <a:pPr lvl="1"/>
                <a:r>
                  <a:rPr lang="en-US" dirty="0"/>
                  <a:t> Shorter = </a:t>
                </a:r>
                <a:r>
                  <a:rPr lang="en-US" dirty="0">
                    <a:solidFill>
                      <a:srgbClr val="00B050"/>
                    </a:solidFill>
                  </a:rPr>
                  <a:t>Non-critical</a:t>
                </a:r>
                <a:endParaRPr lang="en-US" b="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3C8AC7-FEDF-B362-9D6F-500036DC41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070158" cy="4329817"/>
              </a:xfrm>
              <a:blipFill>
                <a:blip r:embed="rId2"/>
                <a:stretch>
                  <a:fillRect l="-288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966B0-4D33-6329-4DD5-AC5F8C3E4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249633-FE1C-CB6C-0782-A65062A73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205" y="1858365"/>
            <a:ext cx="4361558" cy="263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3762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8C2B-4D3C-45EA-58FF-906B38A08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Delay Depends on Implementation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7E522C-7255-8294-5105-84CA58ADA9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Example:  Consider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Suppose each add takes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seconds</a:t>
                </a:r>
              </a:p>
              <a:p>
                <a:r>
                  <a:rPr lang="en-US" sz="2400" dirty="0"/>
                  <a:t>Synthesis tools try to find low delay implementations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7E522C-7255-8294-5105-84CA58ADA9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07630-8518-444A-3039-188CF194D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532A85-6C3F-C862-93A1-8A78D3CA4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3496" y="2224088"/>
            <a:ext cx="3598620" cy="32954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E17A01-334C-6F13-937B-793EDA5A3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3191" y="4114562"/>
            <a:ext cx="3739828" cy="15811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2135AA-06AD-D2E1-420A-ADB668107EF9}"/>
                  </a:ext>
                </a:extLst>
              </p:cNvPr>
              <p:cNvSpPr txBox="1"/>
              <p:nvPr/>
            </p:nvSpPr>
            <p:spPr>
              <a:xfrm>
                <a:off x="1884945" y="3364232"/>
                <a:ext cx="294510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Serial implementation</a:t>
                </a:r>
              </a:p>
              <a:p>
                <a:r>
                  <a:rPr lang="en-US" sz="2400" dirty="0"/>
                  <a:t>Prop delay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2135AA-06AD-D2E1-420A-ADB668107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945" y="3364232"/>
                <a:ext cx="2945102" cy="830997"/>
              </a:xfrm>
              <a:prstGeom prst="rect">
                <a:avLst/>
              </a:prstGeom>
              <a:blipFill>
                <a:blip r:embed="rId5"/>
                <a:stretch>
                  <a:fillRect l="-3106" t="-5882" r="-2070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4A1042-4158-F0F6-8996-98210CD02ECE}"/>
                  </a:ext>
                </a:extLst>
              </p:cNvPr>
              <p:cNvSpPr txBox="1"/>
              <p:nvPr/>
            </p:nvSpPr>
            <p:spPr>
              <a:xfrm>
                <a:off x="6954524" y="3364232"/>
                <a:ext cx="212109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Parallel</a:t>
                </a:r>
              </a:p>
              <a:p>
                <a:r>
                  <a:rPr lang="en-US" sz="2400" dirty="0"/>
                  <a:t>Prop delay =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4A1042-4158-F0F6-8996-98210CD02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524" y="3364232"/>
                <a:ext cx="2121093" cy="830997"/>
              </a:xfrm>
              <a:prstGeom prst="rect">
                <a:avLst/>
              </a:prstGeom>
              <a:blipFill>
                <a:blip r:embed="rId6"/>
                <a:stretch>
                  <a:fillRect l="-4598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69220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8E287-BAF3-1DC8-7ED8-977104818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9D0E2-1343-DA9A-1C42-37DA21D6C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1D324-10F0-BBD5-1073-708A07EA1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Combinational Logic</a:t>
            </a:r>
          </a:p>
          <a:p>
            <a:r>
              <a:rPr lang="en-US" sz="2400" dirty="0"/>
              <a:t>Timing Diagrams for Combinational Logic</a:t>
            </a:r>
          </a:p>
          <a:p>
            <a:r>
              <a:rPr lang="en-US" sz="2400" dirty="0"/>
              <a:t>Registers, Clocks and Sequential Logic</a:t>
            </a:r>
          </a:p>
          <a:p>
            <a:r>
              <a:rPr lang="en-US" sz="2400" dirty="0"/>
              <a:t>Simulating and Synthesizing Simple Modules in </a:t>
            </a:r>
            <a:r>
              <a:rPr lang="en-US" sz="2400" dirty="0" err="1"/>
              <a:t>Vivado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C72EA-80B9-D79C-A44D-1689DC6C0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59404E5-BB35-804C-FF42-38ADC799BC84}"/>
              </a:ext>
            </a:extLst>
          </p:cNvPr>
          <p:cNvSpPr/>
          <p:nvPr/>
        </p:nvSpPr>
        <p:spPr>
          <a:xfrm>
            <a:off x="407289" y="2484310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200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76CA79D-EBD9-AA57-8A75-5919CEF3C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408" y="3828056"/>
            <a:ext cx="6037276" cy="1854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11CEB7-614C-5A0C-3EAF-0455FA160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Combinational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21DD7-A95F-2051-72C0-1B345C98A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memory — cannot store past values</a:t>
            </a:r>
          </a:p>
          <a:p>
            <a:r>
              <a:rPr lang="en-US" dirty="0"/>
              <a:t>Output changes immediately with input changes (no control over timing)</a:t>
            </a:r>
          </a:p>
          <a:p>
            <a:r>
              <a:rPr lang="en-US" dirty="0"/>
              <a:t>Long combinational paths lead to large propagation delays</a:t>
            </a:r>
          </a:p>
          <a:p>
            <a:r>
              <a:rPr lang="en-US" dirty="0"/>
              <a:t>Hard to build large systems without controlled timing boundaries</a:t>
            </a:r>
          </a:p>
          <a:p>
            <a:r>
              <a:rPr lang="en-US" dirty="0"/>
              <a:t>Glitches and hazards can propagate freely</a:t>
            </a:r>
          </a:p>
          <a:p>
            <a:r>
              <a:rPr lang="en-US" dirty="0"/>
              <a:t>No notion of “steps” or “cycles” — everything is continuous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AA4B0-CBC0-DC73-9E26-F3484FB76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1464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AD911-3BF4-D32D-0851-6EEAC3705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(Sequential)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8832D-5242-3E39-8CC3-5BE1BCC6A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>
                <a:solidFill>
                  <a:schemeClr val="accent1"/>
                </a:solidFill>
              </a:rPr>
              <a:t>state</a:t>
            </a:r>
            <a:r>
              <a:rPr lang="en-US" dirty="0"/>
              <a:t> via </a:t>
            </a:r>
            <a:r>
              <a:rPr lang="en-US" dirty="0">
                <a:solidFill>
                  <a:schemeClr val="accent1"/>
                </a:solidFill>
              </a:rPr>
              <a:t>flip‑flops </a:t>
            </a:r>
            <a:r>
              <a:rPr lang="en-US" dirty="0"/>
              <a:t>or </a:t>
            </a:r>
            <a:r>
              <a:rPr lang="en-US" dirty="0">
                <a:solidFill>
                  <a:schemeClr val="accent1"/>
                </a:solidFill>
              </a:rPr>
              <a:t>registers</a:t>
            </a:r>
          </a:p>
          <a:p>
            <a:r>
              <a:rPr lang="en-US" dirty="0"/>
              <a:t>Breaks long logic into </a:t>
            </a:r>
            <a:r>
              <a:rPr lang="en-US" dirty="0">
                <a:solidFill>
                  <a:schemeClr val="accent1"/>
                </a:solidFill>
              </a:rPr>
              <a:t>clocked stages</a:t>
            </a:r>
            <a:r>
              <a:rPr lang="en-US" dirty="0"/>
              <a:t>, improving performance</a:t>
            </a:r>
          </a:p>
          <a:p>
            <a:r>
              <a:rPr lang="en-US" dirty="0"/>
              <a:t>Provides </a:t>
            </a:r>
            <a:r>
              <a:rPr lang="en-US" dirty="0">
                <a:solidFill>
                  <a:schemeClr val="accent1"/>
                </a:solidFill>
              </a:rPr>
              <a:t>predictable timing </a:t>
            </a:r>
            <a:r>
              <a:rPr lang="en-US" dirty="0"/>
              <a:t>— changes only occur on clock edges</a:t>
            </a:r>
          </a:p>
          <a:p>
            <a:r>
              <a:rPr lang="en-US" dirty="0"/>
              <a:t>Makes large systems modular and easier to reason about</a:t>
            </a:r>
          </a:p>
          <a:p>
            <a:r>
              <a:rPr lang="en-US" dirty="0"/>
              <a:t>Eliminates most hazards/glitches from propagating across stages</a:t>
            </a:r>
          </a:p>
          <a:p>
            <a:r>
              <a:rPr lang="en-US" dirty="0"/>
              <a:t>Enables pipelining, finite‑state machines, and sequential algorithms</a:t>
            </a:r>
          </a:p>
          <a:p>
            <a:r>
              <a:rPr lang="en-US" dirty="0"/>
              <a:t>Allows clean interfaces between modules (valid/ready, handshakes, etc.)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420C8-93C4-94D3-F760-A89275C8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D26C523-87AC-2853-856A-0E6B98452D41}"/>
              </a:ext>
            </a:extLst>
          </p:cNvPr>
          <p:cNvSpPr/>
          <p:nvPr/>
        </p:nvSpPr>
        <p:spPr>
          <a:xfrm>
            <a:off x="1681162" y="4861523"/>
            <a:ext cx="7705726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Synchronous logic is the dominant paradigm for design </a:t>
            </a:r>
          </a:p>
        </p:txBody>
      </p:sp>
    </p:spTree>
    <p:extLst>
      <p:ext uri="{BB962C8B-B14F-4D97-AF65-F5344CB8AC3E}">
        <p14:creationId xmlns:p14="http://schemas.microsoft.com/office/powerpoint/2010/main" val="9108858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2BDCC-D4A7-DD40-30B1-14C265FC7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86D5B-ABF1-37F4-8E83-F95D13D674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Clock</a:t>
                </a:r>
                <a:r>
                  <a:rPr lang="en-US" dirty="0"/>
                  <a:t>:  An alternating binary signal</a:t>
                </a:r>
              </a:p>
              <a:p>
                <a:pPr lvl="1"/>
                <a:r>
                  <a:rPr lang="en-US" dirty="0"/>
                  <a:t>Visualized as a square wave</a:t>
                </a:r>
              </a:p>
              <a:p>
                <a:r>
                  <a:rPr lang="en-US" dirty="0"/>
                  <a:t>Each period is called a </a:t>
                </a:r>
                <a:r>
                  <a:rPr lang="en-US" dirty="0">
                    <a:solidFill>
                      <a:schemeClr val="accent1"/>
                    </a:solidFill>
                  </a:rPr>
                  <a:t>clock cycle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Typically, between two </a:t>
                </a:r>
                <a:r>
                  <a:rPr lang="en-US" dirty="0">
                    <a:solidFill>
                      <a:schemeClr val="accent1"/>
                    </a:solidFill>
                  </a:rPr>
                  <a:t>rising edges</a:t>
                </a:r>
              </a:p>
              <a:p>
                <a:r>
                  <a:rPr lang="en-US" dirty="0"/>
                  <a:t>Parameters:</a:t>
                </a:r>
              </a:p>
              <a:p>
                <a:pPr lvl="1"/>
                <a:r>
                  <a:rPr lang="en-US" dirty="0"/>
                  <a:t>Clock </a:t>
                </a:r>
                <a:r>
                  <a:rPr lang="en-US" dirty="0">
                    <a:solidFill>
                      <a:schemeClr val="accent1"/>
                    </a:solidFill>
                  </a:rPr>
                  <a:t>period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Frequency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r>
                  <a:rPr lang="en-US" dirty="0"/>
                  <a:t>Typical parameters:</a:t>
                </a:r>
              </a:p>
              <a:p>
                <a:pPr lvl="1"/>
                <a:r>
                  <a:rPr lang="en-US" dirty="0"/>
                  <a:t>FPGA logic: 100 to 500 MHz</a:t>
                </a:r>
              </a:p>
              <a:p>
                <a:pPr lvl="1"/>
                <a:r>
                  <a:rPr lang="en-US" dirty="0"/>
                  <a:t>ASIC:  500 MHz to 1 GHz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86D5B-ABF1-37F4-8E83-F95D13D674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3B641-E06B-52DB-F256-2E5D9026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361ACB54-5B4E-B9B7-3F31-46A05A565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8855" y="3209925"/>
            <a:ext cx="5076825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27879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BBEBF-1DB4-B24B-8066-501076527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24E99-BD05-85EA-FBCD-C17E86279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Key idea:  </a:t>
            </a:r>
            <a:r>
              <a:rPr lang="en-US" dirty="0"/>
              <a:t>Save system state on each rising edge</a:t>
            </a:r>
          </a:p>
          <a:p>
            <a:r>
              <a:rPr lang="en-US" dirty="0"/>
              <a:t>Save state in a storage element</a:t>
            </a:r>
          </a:p>
          <a:p>
            <a:pPr lvl="1"/>
            <a:r>
              <a:rPr lang="en-US" dirty="0"/>
              <a:t>This unit we will use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registers</a:t>
            </a:r>
            <a:r>
              <a:rPr lang="en-US" dirty="0"/>
              <a:t> (next slide)</a:t>
            </a:r>
          </a:p>
          <a:p>
            <a:r>
              <a:rPr lang="en-US" dirty="0"/>
              <a:t>Brings system to a known state in each cycle </a:t>
            </a:r>
          </a:p>
          <a:p>
            <a:r>
              <a:rPr lang="en-US" dirty="0"/>
              <a:t>Computation can be performed in known steps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3682F-AF82-981E-E567-E20D33DE0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8710AD0-85CA-1FF8-2237-C58E53131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244" y="3893301"/>
            <a:ext cx="5076825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02588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E92B1-A97D-53AC-17DF-46A912C17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B2C3E-B9B7-BDE3-692E-A050AF375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6656070" cy="4329817"/>
          </a:xfrm>
        </p:spPr>
        <p:txBody>
          <a:bodyPr/>
          <a:lstStyle/>
          <a:p>
            <a:r>
              <a:rPr lang="en-US" dirty="0"/>
              <a:t>Basic storage element in synchronous logic</a:t>
            </a:r>
          </a:p>
          <a:p>
            <a:r>
              <a:rPr lang="en-US" dirty="0"/>
              <a:t>On each rising edge of </a:t>
            </a:r>
            <a:r>
              <a:rPr lang="en-US" dirty="0" err="1"/>
              <a:t>clk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Assigns </a:t>
            </a:r>
            <a:r>
              <a:rPr lang="en-US" dirty="0" err="1"/>
              <a:t>xreg</a:t>
            </a:r>
            <a:r>
              <a:rPr lang="en-US" dirty="0"/>
              <a:t> to x</a:t>
            </a:r>
          </a:p>
          <a:p>
            <a:r>
              <a:rPr lang="en-US" dirty="0"/>
              <a:t>Value of </a:t>
            </a:r>
            <a:r>
              <a:rPr lang="en-US" dirty="0" err="1"/>
              <a:t>xreg</a:t>
            </a:r>
            <a:r>
              <a:rPr lang="en-US" dirty="0"/>
              <a:t> is maintained even if x changes</a:t>
            </a:r>
          </a:p>
          <a:p>
            <a:r>
              <a:rPr lang="en-US" dirty="0"/>
              <a:t>Example below:  Input is “sampled” at rising edges</a:t>
            </a:r>
          </a:p>
          <a:p>
            <a:pPr lvl="1"/>
            <a:r>
              <a:rPr lang="en-US" dirty="0"/>
              <a:t>Unknown periods not propagated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A63A6-E642-5955-7C66-AB62FB1F1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A67D62-9841-DC18-7791-401AD3C4B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164" y="642706"/>
            <a:ext cx="3987450" cy="25908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FF2819-6A50-59BC-4ACA-348D5F771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342" y="4195753"/>
            <a:ext cx="8453589" cy="159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1256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A9ECA-9ED7-93EB-1BD5-B29363655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8F033-2868-B865-FE5D-62ED0A997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246245" cy="4329817"/>
          </a:xfrm>
        </p:spPr>
        <p:txBody>
          <a:bodyPr/>
          <a:lstStyle/>
          <a:p>
            <a:r>
              <a:rPr lang="en-US" dirty="0"/>
              <a:t>Samples input at each rising edge</a:t>
            </a:r>
          </a:p>
          <a:p>
            <a:r>
              <a:rPr lang="en-US" dirty="0"/>
              <a:t>Input may have  X values</a:t>
            </a:r>
          </a:p>
          <a:p>
            <a:pPr lvl="1"/>
            <a:r>
              <a:rPr lang="en-US" dirty="0"/>
              <a:t>Not propagated assuming input is </a:t>
            </a:r>
            <a:r>
              <a:rPr lang="en-US" dirty="0" err="1"/>
              <a:t>vald</a:t>
            </a:r>
            <a:r>
              <a:rPr lang="en-US" dirty="0"/>
              <a:t> on positive edges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D1F47-A257-097A-4168-E60AE5B72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18AFC9-3FD9-078B-5ECF-7ECB00BB3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06" y="3857729"/>
            <a:ext cx="8453589" cy="15944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1F5F22-3E16-DB3B-8B5D-34347CFC5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632" y="1405822"/>
            <a:ext cx="3182294" cy="206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355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C700F-8425-AC74-ED49-156CC12AE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the Module Synchronous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44BE5-EE9C-4628-886D-D4D5F2635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80" y="1658885"/>
            <a:ext cx="5859780" cy="3702156"/>
          </a:xfrm>
        </p:spPr>
        <p:txBody>
          <a:bodyPr/>
          <a:lstStyle/>
          <a:p>
            <a:r>
              <a:rPr lang="en-US" dirty="0"/>
              <a:t>Making module synchronous is easy</a:t>
            </a:r>
          </a:p>
          <a:p>
            <a:r>
              <a:rPr lang="en-US" dirty="0"/>
              <a:t>First add two inputs to ports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Clock signal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Reset</a:t>
            </a:r>
            <a:r>
              <a:rPr lang="en-US" dirty="0"/>
              <a:t> on negative edge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190D6-424F-828D-4896-0CF21198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F991A0-6C34-B3F9-8FB8-A161EA3047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226" b="71813"/>
          <a:stretch>
            <a:fillRect/>
          </a:stretch>
        </p:blipFill>
        <p:spPr>
          <a:xfrm>
            <a:off x="6004619" y="2122189"/>
            <a:ext cx="3263550" cy="222310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1F6D6C2-1F24-DA7D-CA88-CFE36C37DDA4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8491538" y="2353022"/>
            <a:ext cx="1030725" cy="14252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A8007E4-4D36-BCA1-3B22-50B8E566D052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8715019" y="2832846"/>
            <a:ext cx="807244" cy="5357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8680E97-C491-5A57-BB00-7BF8B22CDD70}"/>
              </a:ext>
            </a:extLst>
          </p:cNvPr>
          <p:cNvSpPr txBox="1"/>
          <p:nvPr/>
        </p:nvSpPr>
        <p:spPr>
          <a:xfrm>
            <a:off x="9522263" y="2122189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Clock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8BFEFE-EAC6-C656-B88C-F6ECBB697A03}"/>
              </a:ext>
            </a:extLst>
          </p:cNvPr>
          <p:cNvSpPr txBox="1"/>
          <p:nvPr/>
        </p:nvSpPr>
        <p:spPr>
          <a:xfrm>
            <a:off x="9522263" y="2655589"/>
            <a:ext cx="874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Reset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4836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D53F-5A03-BB22-E08C-2B6B8D532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Verilog Main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5EA93-333A-848E-930F-1BAD55552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Synchronous logic has two parts</a:t>
            </a:r>
          </a:p>
          <a:p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</a:t>
            </a:r>
          </a:p>
          <a:p>
            <a:pPr lvl="1"/>
            <a:r>
              <a:rPr lang="en-US" dirty="0"/>
              <a:t>Assigns register outputs</a:t>
            </a:r>
          </a:p>
          <a:p>
            <a:pPr lvl="1"/>
            <a:r>
              <a:rPr lang="en-US" dirty="0"/>
              <a:t>All operations are in parallel (non-blocking)</a:t>
            </a:r>
          </a:p>
          <a:p>
            <a:pPr lvl="1"/>
            <a:r>
              <a:rPr lang="en-US" dirty="0"/>
              <a:t>Our example:  Saves inputs to registers</a:t>
            </a:r>
          </a:p>
          <a:p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lvl="1"/>
            <a:r>
              <a:rPr lang="en-US" dirty="0"/>
              <a:t>Assigns signals via combinational logic</a:t>
            </a:r>
          </a:p>
          <a:p>
            <a:pPr lvl="1"/>
            <a:r>
              <a:rPr lang="en-US" dirty="0"/>
              <a:t>Operations are sequential (blocking)</a:t>
            </a:r>
          </a:p>
          <a:p>
            <a:pPr lvl="1"/>
            <a:r>
              <a:rPr lang="en-US" dirty="0"/>
              <a:t>Our example:  Computes output from registered inputs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B4C9F-CEAE-BE7C-7287-337AF935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036926-9C6B-A618-7D90-C910277F70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5" t="27161" r="-236" b="-1"/>
          <a:stretch>
            <a:fillRect/>
          </a:stretch>
        </p:blipFill>
        <p:spPr>
          <a:xfrm>
            <a:off x="6631305" y="1429740"/>
            <a:ext cx="4969010" cy="423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6610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0390-4115-440C-DC17-54227B355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Block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B5D85-6A2A-4111-C9C4-6F3B3F537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10058399" cy="4329817"/>
          </a:xfrm>
        </p:spPr>
        <p:txBody>
          <a:bodyPr/>
          <a:lstStyle/>
          <a:p>
            <a:r>
              <a:rPr lang="en-US" dirty="0"/>
              <a:t>Inputs are registered</a:t>
            </a:r>
          </a:p>
          <a:p>
            <a:r>
              <a:rPr lang="en-US" dirty="0"/>
              <a:t>Output is combinational from input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DEC50-644A-8FE6-6FA0-BAD586B87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F40314-A49F-93B1-1EB5-F2D2D90D3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365" y="2967991"/>
            <a:ext cx="10390228" cy="263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5255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B0A21-BAF0-E9AF-7811-E1FAA27DE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Timing Diagram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0E21C71-961F-1DE8-9032-B1BAE18910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984" y="1686941"/>
            <a:ext cx="8305800" cy="42672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D144C-C50E-43E4-5362-C5DD70BCA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9708EE-2B4F-F03A-980A-8894C2ECD9FE}"/>
              </a:ext>
            </a:extLst>
          </p:cNvPr>
          <p:cNvSpPr txBox="1">
            <a:spLocks/>
          </p:cNvSpPr>
          <p:nvPr/>
        </p:nvSpPr>
        <p:spPr>
          <a:xfrm>
            <a:off x="8772888" y="1624324"/>
            <a:ext cx="3030128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Clk</a:t>
            </a:r>
            <a:r>
              <a:rPr lang="en-US" dirty="0"/>
              <a:t> period = 10 ns</a:t>
            </a:r>
          </a:p>
          <a:p>
            <a:r>
              <a:rPr lang="en-US" dirty="0" err="1"/>
              <a:t>Clk</a:t>
            </a:r>
            <a:r>
              <a:rPr lang="en-US" dirty="0"/>
              <a:t> frequency = 100 MHz</a:t>
            </a:r>
          </a:p>
        </p:txBody>
      </p:sp>
    </p:spTree>
    <p:extLst>
      <p:ext uri="{BB962C8B-B14F-4D97-AF65-F5344CB8AC3E}">
        <p14:creationId xmlns:p14="http://schemas.microsoft.com/office/powerpoint/2010/main" val="3199156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9B502-979E-4DEA-8DB1-7FFADFA0C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Clock Frequency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5D54C4-789F-1B4A-A0F3-C472847244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Consider combinational path</a:t>
                </a:r>
              </a:p>
              <a:p>
                <a:pPr lvl="1"/>
                <a:r>
                  <a:rPr lang="en-US" dirty="0" err="1"/>
                  <a:t>xreg</a:t>
                </a:r>
                <a:r>
                  <a:rPr lang="en-US" dirty="0"/>
                  <a:t>, </a:t>
                </a:r>
                <a:r>
                  <a:rPr lang="en-US" dirty="0" err="1"/>
                  <a:t>areg</a:t>
                </a:r>
                <a:r>
                  <a:rPr lang="en-US" dirty="0"/>
                  <a:t>, </a:t>
                </a:r>
                <a:r>
                  <a:rPr lang="en-US" dirty="0" err="1"/>
                  <a:t>breg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 y</a:t>
                </a:r>
              </a:p>
              <a:p>
                <a:r>
                  <a:rPr lang="en-US" dirty="0"/>
                  <a:t>This path must complete within one clock cycle</a:t>
                </a:r>
              </a:p>
              <a:p>
                <a:r>
                  <a:rPr lang="en-US" dirty="0"/>
                  <a:t>Otherwise, next input to next stage not correctly sampled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delay of critical path,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𝑐𝑙𝑘</m:t>
                        </m:r>
                      </m:sub>
                    </m:sSub>
                  </m:oMath>
                </a14:m>
                <a:r>
                  <a:rPr lang="en-US" dirty="0"/>
                  <a:t> = clock period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𝑐𝑙𝑘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System </a:t>
                </a:r>
                <a:r>
                  <a:rPr lang="en-US" dirty="0">
                    <a:solidFill>
                      <a:srgbClr val="00B050"/>
                    </a:solidFill>
                  </a:rPr>
                  <a:t>meets timing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𝑐𝑙𝑘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System </a:t>
                </a:r>
                <a:r>
                  <a:rPr lang="en-US" dirty="0">
                    <a:solidFill>
                      <a:srgbClr val="FF0000"/>
                    </a:solidFill>
                  </a:rPr>
                  <a:t>fails timing </a:t>
                </a:r>
                <a:r>
                  <a:rPr lang="en-US" dirty="0"/>
                  <a:t>/ </a:t>
                </a:r>
                <a:r>
                  <a:rPr lang="en-US" dirty="0">
                    <a:solidFill>
                      <a:srgbClr val="FF0000"/>
                    </a:solidFill>
                  </a:rPr>
                  <a:t>timing violation 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5D54C4-789F-1B4A-A0F3-C472847244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2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EE3BB-AFAC-2CFC-A6C9-F882DBF82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FE201B-E27F-C600-4D4A-641E05E77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087" y="3195637"/>
            <a:ext cx="5043271" cy="12777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C13F66F8-0180-B917-B8EA-17F1041746C1}"/>
                  </a:ext>
                </a:extLst>
              </p:cNvPr>
              <p:cNvSpPr/>
              <p:nvPr/>
            </p:nvSpPr>
            <p:spPr>
              <a:xfrm>
                <a:off x="1534383" y="2970356"/>
                <a:ext cx="4140518" cy="67708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accent1"/>
                    </a:solidFill>
                  </a:rPr>
                  <a:t>To meet timing: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𝑐𝑙𝑘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C13F66F8-0180-B917-B8EA-17F1041746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383" y="2970356"/>
                <a:ext cx="4140518" cy="677084"/>
              </a:xfrm>
              <a:prstGeom prst="round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62571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89065-9A44-E71D-15B1-D5C5A0A0C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A5AC167B-54C6-1582-9451-6CA51A9940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025"/>
          <a:stretch>
            <a:fillRect/>
          </a:stretch>
        </p:blipFill>
        <p:spPr>
          <a:xfrm>
            <a:off x="681400" y="1497569"/>
            <a:ext cx="4467964" cy="33279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DBAC81-41EA-227D-9B05-1E2739B68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ReLU+Linear</a:t>
            </a:r>
            <a:r>
              <a:rPr lang="en-US" dirty="0"/>
              <a:t>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CAE10-E023-07FD-CF9C-61F2CEFA3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EFF6FC-8C7F-1D96-71B0-6BFC36005EB6}"/>
              </a:ext>
            </a:extLst>
          </p:cNvPr>
          <p:cNvCxnSpPr>
            <a:cxnSpLocks/>
          </p:cNvCxnSpPr>
          <p:nvPr/>
        </p:nvCxnSpPr>
        <p:spPr>
          <a:xfrm>
            <a:off x="2428422" y="1576388"/>
            <a:ext cx="0" cy="43053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841AD6A-F187-D540-A017-9AF935DB753A}"/>
              </a:ext>
            </a:extLst>
          </p:cNvPr>
          <p:cNvCxnSpPr>
            <a:cxnSpLocks/>
          </p:cNvCxnSpPr>
          <p:nvPr/>
        </p:nvCxnSpPr>
        <p:spPr>
          <a:xfrm>
            <a:off x="3033753" y="4191000"/>
            <a:ext cx="0" cy="9334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Content Placeholder 6">
                <a:extLst>
                  <a:ext uri="{FF2B5EF4-FFF2-40B4-BE49-F238E27FC236}">
                    <a16:creationId xmlns:a16="http://schemas.microsoft.com/office/drawing/2014/main" id="{03A77A43-E078-DA3A-D5BD-191D7C4507B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00230244"/>
                  </p:ext>
                </p:extLst>
              </p:nvPr>
            </p:nvGraphicFramePr>
            <p:xfrm>
              <a:off x="7605713" y="1727042"/>
              <a:ext cx="3904887" cy="2123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7083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187804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block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 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𝑚𝑢𝑙𝑡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/>
                            <a:t>3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𝑎𝑑𝑑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b="0" dirty="0"/>
                            <a:t>1.5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operator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/>
                            <a:t>1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2939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Total</a:t>
                          </a:r>
                          <a:br>
                            <a:rPr lang="en-US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</a:br>
                          <a:r>
                            <a:rPr lang="en-US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=critical path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𝑐𝑟𝑖𝑡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5.5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Content Placeholder 6">
                <a:extLst>
                  <a:ext uri="{FF2B5EF4-FFF2-40B4-BE49-F238E27FC236}">
                    <a16:creationId xmlns:a16="http://schemas.microsoft.com/office/drawing/2014/main" id="{03A77A43-E078-DA3A-D5BD-191D7C4507B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00230244"/>
                  </p:ext>
                </p:extLst>
              </p:nvPr>
            </p:nvGraphicFramePr>
            <p:xfrm>
              <a:off x="7605713" y="1727042"/>
              <a:ext cx="3904887" cy="2123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7083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187804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block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 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611" t="-108197" r="-1111" b="-3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611" t="-208197" r="-1111" b="-2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operator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611" t="-308197" r="-1111" b="-1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229395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Total</a:t>
                          </a:r>
                          <a:br>
                            <a:rPr lang="en-US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</a:br>
                          <a:r>
                            <a:rPr lang="en-US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=critical path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611" t="-237143" r="-1111" b="-15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CAE1E1D-A283-7590-ACD3-01D9D9213F64}"/>
              </a:ext>
            </a:extLst>
          </p:cNvPr>
          <p:cNvCxnSpPr>
            <a:cxnSpLocks/>
          </p:cNvCxnSpPr>
          <p:nvPr/>
        </p:nvCxnSpPr>
        <p:spPr>
          <a:xfrm>
            <a:off x="2408758" y="5486400"/>
            <a:ext cx="1157902" cy="0"/>
          </a:xfrm>
          <a:prstGeom prst="line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11B6DAC-2758-F457-E56C-A567D23D76FE}"/>
                  </a:ext>
                </a:extLst>
              </p:cNvPr>
              <p:cNvSpPr txBox="1"/>
              <p:nvPr/>
            </p:nvSpPr>
            <p:spPr>
              <a:xfrm>
                <a:off x="714863" y="4811626"/>
                <a:ext cx="14883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=5.5 </m:t>
                    </m:r>
                  </m:oMath>
                </a14:m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ns</a:t>
                </a:r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11B6DAC-2758-F457-E56C-A567D23D7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63" y="4811626"/>
                <a:ext cx="1488356" cy="369332"/>
              </a:xfrm>
              <a:prstGeom prst="rect">
                <a:avLst/>
              </a:prstGeom>
              <a:blipFill>
                <a:blip r:embed="rId4"/>
                <a:stretch>
                  <a:fillRect t="-8197" r="-286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F17A9CD-4EE0-1C33-3734-D64F28EEA1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908" y="4470532"/>
            <a:ext cx="4829771" cy="1223686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08141DA-A05D-3A80-34FA-96FC9BCDF004}"/>
              </a:ext>
            </a:extLst>
          </p:cNvPr>
          <p:cNvCxnSpPr>
            <a:cxnSpLocks/>
          </p:cNvCxnSpPr>
          <p:nvPr/>
        </p:nvCxnSpPr>
        <p:spPr>
          <a:xfrm>
            <a:off x="3566660" y="1615090"/>
            <a:ext cx="0" cy="417611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B004340-2BB4-ADE4-6003-ACF8912432F7}"/>
              </a:ext>
            </a:extLst>
          </p:cNvPr>
          <p:cNvCxnSpPr>
            <a:cxnSpLocks/>
          </p:cNvCxnSpPr>
          <p:nvPr/>
        </p:nvCxnSpPr>
        <p:spPr>
          <a:xfrm>
            <a:off x="2408758" y="4919663"/>
            <a:ext cx="624995" cy="0"/>
          </a:xfrm>
          <a:prstGeom prst="line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1C946BD-E895-C1B7-2ECD-D26EC6C17BCD}"/>
                  </a:ext>
                </a:extLst>
              </p:cNvPr>
              <p:cNvSpPr txBox="1"/>
              <p:nvPr/>
            </p:nvSpPr>
            <p:spPr>
              <a:xfrm>
                <a:off x="714863" y="5235112"/>
                <a:ext cx="13798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𝑐𝑙𝑘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ns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1C946BD-E895-C1B7-2ECD-D26EC6C17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63" y="5235112"/>
                <a:ext cx="1379801" cy="369332"/>
              </a:xfrm>
              <a:prstGeom prst="rect">
                <a:avLst/>
              </a:prstGeom>
              <a:blipFill>
                <a:blip r:embed="rId6"/>
                <a:stretch>
                  <a:fillRect t="-10000" r="-308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50DC7418-475B-E318-5CF3-7E56A73C99F0}"/>
                  </a:ext>
                </a:extLst>
              </p:cNvPr>
              <p:cNvSpPr/>
              <p:nvPr/>
            </p:nvSpPr>
            <p:spPr>
              <a:xfrm>
                <a:off x="3877208" y="4957154"/>
                <a:ext cx="2575668" cy="757238"/>
              </a:xfrm>
              <a:prstGeom prst="roundRect">
                <a:avLst/>
              </a:prstGeom>
              <a:solidFill>
                <a:srgbClr val="CCFF9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0" dirty="0">
                    <a:solidFill>
                      <a:srgbClr val="00B050"/>
                    </a:solidFill>
                  </a:rPr>
                  <a:t>Meets timing: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𝑐𝑙𝑘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</m:oMath>
                </a14:m>
                <a:endParaRPr 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50DC7418-475B-E318-5CF3-7E56A73C99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208" y="4957154"/>
                <a:ext cx="2575668" cy="757238"/>
              </a:xfrm>
              <a:prstGeom prst="roundRect">
                <a:avLst/>
              </a:prstGeom>
              <a:blipFill>
                <a:blip r:embed="rId7"/>
                <a:stretch>
                  <a:fillRect t="-9449" b="-4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129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BB7C-2EDB-4318-7ECA-B6D74782A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1EA7F9C3-ADCE-8C8C-8DB0-B5D8663A67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025"/>
          <a:stretch>
            <a:fillRect/>
          </a:stretch>
        </p:blipFill>
        <p:spPr>
          <a:xfrm>
            <a:off x="681400" y="1497569"/>
            <a:ext cx="4467964" cy="33279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D983B7-EE45-A808-5323-B71DD096E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Max Clock Frequency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5789-2815-69F4-2BAB-81E2CB50C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6FCA914-19FE-FC90-18DD-98BAD9571328}"/>
              </a:ext>
            </a:extLst>
          </p:cNvPr>
          <p:cNvCxnSpPr>
            <a:cxnSpLocks/>
          </p:cNvCxnSpPr>
          <p:nvPr/>
        </p:nvCxnSpPr>
        <p:spPr>
          <a:xfrm>
            <a:off x="2428422" y="1576388"/>
            <a:ext cx="0" cy="43053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AA1A46-56A3-16D5-14EF-B8C3C116F576}"/>
              </a:ext>
            </a:extLst>
          </p:cNvPr>
          <p:cNvCxnSpPr>
            <a:cxnSpLocks/>
          </p:cNvCxnSpPr>
          <p:nvPr/>
        </p:nvCxnSpPr>
        <p:spPr>
          <a:xfrm>
            <a:off x="3033753" y="4191000"/>
            <a:ext cx="0" cy="9334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190F144-7EDE-DA80-539D-3E28F53A7832}"/>
              </a:ext>
            </a:extLst>
          </p:cNvPr>
          <p:cNvCxnSpPr>
            <a:cxnSpLocks/>
          </p:cNvCxnSpPr>
          <p:nvPr/>
        </p:nvCxnSpPr>
        <p:spPr>
          <a:xfrm>
            <a:off x="2408758" y="5486400"/>
            <a:ext cx="1157902" cy="0"/>
          </a:xfrm>
          <a:prstGeom prst="line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241A829-C28D-1D20-E805-3CB99EE3F56F}"/>
                  </a:ext>
                </a:extLst>
              </p:cNvPr>
              <p:cNvSpPr txBox="1"/>
              <p:nvPr/>
            </p:nvSpPr>
            <p:spPr>
              <a:xfrm>
                <a:off x="714863" y="4811626"/>
                <a:ext cx="14883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=5.5 </m:t>
                    </m:r>
                  </m:oMath>
                </a14:m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ns</a:t>
                </a:r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241A829-C28D-1D20-E805-3CB99EE3F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63" y="4811626"/>
                <a:ext cx="1488356" cy="369332"/>
              </a:xfrm>
              <a:prstGeom prst="rect">
                <a:avLst/>
              </a:prstGeom>
              <a:blipFill>
                <a:blip r:embed="rId3"/>
                <a:stretch>
                  <a:fillRect t="-8197" r="-286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C5F8F37-7FAA-1A79-F5B8-190542D4C5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988" y="3579157"/>
            <a:ext cx="4829771" cy="1223686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5C319D9-B8B4-1627-BBF6-F04DCBDDEF68}"/>
              </a:ext>
            </a:extLst>
          </p:cNvPr>
          <p:cNvCxnSpPr>
            <a:cxnSpLocks/>
          </p:cNvCxnSpPr>
          <p:nvPr/>
        </p:nvCxnSpPr>
        <p:spPr>
          <a:xfrm>
            <a:off x="3566660" y="1615090"/>
            <a:ext cx="0" cy="417611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00424EE-1AEC-43D1-9613-0448C601CA45}"/>
              </a:ext>
            </a:extLst>
          </p:cNvPr>
          <p:cNvCxnSpPr>
            <a:cxnSpLocks/>
          </p:cNvCxnSpPr>
          <p:nvPr/>
        </p:nvCxnSpPr>
        <p:spPr>
          <a:xfrm>
            <a:off x="2408758" y="4919663"/>
            <a:ext cx="624995" cy="0"/>
          </a:xfrm>
          <a:prstGeom prst="line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BC4ABD5-E209-38B5-5AB6-59EBDBACF362}"/>
                  </a:ext>
                </a:extLst>
              </p:cNvPr>
              <p:cNvSpPr txBox="1"/>
              <p:nvPr/>
            </p:nvSpPr>
            <p:spPr>
              <a:xfrm>
                <a:off x="714863" y="5235112"/>
                <a:ext cx="13798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𝑐𝑙𝑘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ns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BC4ABD5-E209-38B5-5AB6-59EBDBACF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63" y="5235112"/>
                <a:ext cx="1379801" cy="369332"/>
              </a:xfrm>
              <a:prstGeom prst="rect">
                <a:avLst/>
              </a:prstGeom>
              <a:blipFill>
                <a:blip r:embed="rId5"/>
                <a:stretch>
                  <a:fillRect t="-10000" r="-308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E15E6483-4210-090F-B633-4B7C02A7A8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95988" y="1539277"/>
                <a:ext cx="5159691" cy="4329817"/>
              </a:xfrm>
            </p:spPr>
            <p:txBody>
              <a:bodyPr/>
              <a:lstStyle/>
              <a:p>
                <a:r>
                  <a:rPr lang="en-US" dirty="0"/>
                  <a:t>Max clock frequency in our example:</a:t>
                </a:r>
              </a:p>
              <a:p>
                <a:pPr lvl="1"/>
                <a:r>
                  <a:rPr lang="en-US" dirty="0"/>
                  <a:t>Min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𝑐𝑙𝑘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=5.5</m:t>
                    </m:r>
                  </m:oMath>
                </a14:m>
                <a:r>
                  <a:rPr lang="en-US" dirty="0"/>
                  <a:t> ns</a:t>
                </a:r>
              </a:p>
              <a:p>
                <a:pPr lvl="1"/>
                <a:r>
                  <a:rPr lang="en-US" dirty="0"/>
                  <a:t>Max clock frequency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5.5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≅180 </m:t>
                    </m:r>
                  </m:oMath>
                </a14:m>
                <a:r>
                  <a:rPr lang="en-US" dirty="0"/>
                  <a:t>MHz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E15E6483-4210-090F-B633-4B7C02A7A8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95988" y="1539277"/>
                <a:ext cx="5159691" cy="4329817"/>
              </a:xfrm>
              <a:blipFill>
                <a:blip r:embed="rId6"/>
                <a:stretch>
                  <a:fillRect l="-2837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27137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4A4A-7EC3-F1D5-CCD1-F3A2252BE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More Complex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50F2B-0267-F55D-667E-FCD9D833C6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a quadratic function: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For simplicity,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fixed parameters</a:t>
                </a:r>
              </a:p>
              <a:p>
                <a:r>
                  <a:rPr lang="en-US" dirty="0"/>
                  <a:t>Single cycle implementation to the right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50F2B-0267-F55D-667E-FCD9D833C6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83774-5CDF-B36B-08BA-D3D91EDB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EDCF24-DFBA-3C20-2850-3888BD5ED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863" y="861947"/>
            <a:ext cx="4002404" cy="48137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7B7621-A59E-9A00-279D-23D4462AF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577" y="2923049"/>
            <a:ext cx="5505573" cy="283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352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925CC-3FAE-1C38-5338-4F54381D7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Critical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EF3B3E-B8D7-F21E-CD8F-53C070E03A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20028" y="1539277"/>
                <a:ext cx="5029060" cy="4329817"/>
              </a:xfrm>
            </p:spPr>
            <p:txBody>
              <a:bodyPr/>
              <a:lstStyle/>
              <a:p>
                <a:r>
                  <a:rPr lang="en-US" dirty="0"/>
                  <a:t>Consider implementation with times in table</a:t>
                </a:r>
              </a:p>
              <a:p>
                <a:r>
                  <a:rPr lang="en-US" dirty="0"/>
                  <a:t>Two paths:</a:t>
                </a:r>
              </a:p>
              <a:p>
                <a:r>
                  <a:rPr lang="en-US" dirty="0"/>
                  <a:t>Path 1:  x, </a:t>
                </a:r>
                <a:r>
                  <a:rPr lang="en-US" dirty="0" err="1"/>
                  <a:t>x_reg</a:t>
                </a:r>
                <a:r>
                  <a:rPr lang="en-US" dirty="0"/>
                  <a:t>, xsq_w2, y</a:t>
                </a:r>
              </a:p>
              <a:p>
                <a:pPr lvl="1"/>
                <a:r>
                  <a:rPr lang="en-US" dirty="0"/>
                  <a:t>1 register, 2 </a:t>
                </a:r>
                <a:r>
                  <a:rPr lang="en-US" dirty="0" err="1"/>
                  <a:t>mults</a:t>
                </a:r>
                <a:r>
                  <a:rPr lang="en-US" dirty="0"/>
                  <a:t>, 2 adders = 12 ns</a:t>
                </a:r>
              </a:p>
              <a:p>
                <a:r>
                  <a:rPr lang="en-US" dirty="0"/>
                  <a:t>Path 2:  x, </a:t>
                </a:r>
                <a:r>
                  <a:rPr lang="en-US" dirty="0" err="1"/>
                  <a:t>x_reg</a:t>
                </a:r>
                <a:r>
                  <a:rPr lang="en-US" dirty="0"/>
                  <a:t>, x_w1, y</a:t>
                </a:r>
              </a:p>
              <a:p>
                <a:pPr lvl="1"/>
                <a:r>
                  <a:rPr lang="en-US" dirty="0"/>
                  <a:t>1 register, 1 </a:t>
                </a:r>
                <a:r>
                  <a:rPr lang="en-US" dirty="0" err="1"/>
                  <a:t>mult</a:t>
                </a:r>
                <a:r>
                  <a:rPr lang="en-US" dirty="0"/>
                  <a:t>, 2 adders = 8 ns</a:t>
                </a:r>
              </a:p>
              <a:p>
                <a:r>
                  <a:rPr lang="en-US" dirty="0"/>
                  <a:t>Path 1 is critical </a:t>
                </a:r>
              </a:p>
              <a:p>
                <a:r>
                  <a:rPr lang="en-US" dirty="0"/>
                  <a:t>Max clock frequency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𝑛𝑠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=83</m:t>
                    </m:r>
                  </m:oMath>
                </a14:m>
                <a:r>
                  <a:rPr lang="en-US" dirty="0"/>
                  <a:t> MHz</a:t>
                </a:r>
              </a:p>
              <a:p>
                <a:r>
                  <a:rPr lang="en-US" dirty="0"/>
                  <a:t>Would </a:t>
                </a:r>
                <a:r>
                  <a:rPr lang="en-US" dirty="0">
                    <a:solidFill>
                      <a:srgbClr val="FF0000"/>
                    </a:solidFill>
                  </a:rPr>
                  <a:t>fail timing </a:t>
                </a:r>
                <a:r>
                  <a:rPr lang="en-US" dirty="0"/>
                  <a:t>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MHz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EF3B3E-B8D7-F21E-CD8F-53C070E03A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20028" y="1539277"/>
                <a:ext cx="5029060" cy="4329817"/>
              </a:xfrm>
              <a:blipFill>
                <a:blip r:embed="rId2"/>
                <a:stretch>
                  <a:fillRect l="-2909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661ED-ACB6-1F1B-7341-4BFDA341A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E8A388-7D9A-964A-6E24-A30F124C1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95" y="3518335"/>
            <a:ext cx="4878705" cy="25120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6">
                <a:extLst>
                  <a:ext uri="{FF2B5EF4-FFF2-40B4-BE49-F238E27FC236}">
                    <a16:creationId xmlns:a16="http://schemas.microsoft.com/office/drawing/2014/main" id="{D0809D2E-1732-FB1C-B5B2-470369B4616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33947551"/>
                  </p:ext>
                </p:extLst>
              </p:nvPr>
            </p:nvGraphicFramePr>
            <p:xfrm>
              <a:off x="1320559" y="1539277"/>
              <a:ext cx="4267255" cy="22423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76425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390830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block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 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Register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𝑟𝑒𝑔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 1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170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𝑚𝑢𝑙𝑡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= 4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𝑎𝑑𝑑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b="0" dirty="0"/>
                            <a:t>1.5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Path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1+4+4+1.5+1.5 = 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Path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1+4+1.5+1.5=8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51623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6">
                <a:extLst>
                  <a:ext uri="{FF2B5EF4-FFF2-40B4-BE49-F238E27FC236}">
                    <a16:creationId xmlns:a16="http://schemas.microsoft.com/office/drawing/2014/main" id="{D0809D2E-1732-FB1C-B5B2-470369B4616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33947551"/>
                  </p:ext>
                </p:extLst>
              </p:nvPr>
            </p:nvGraphicFramePr>
            <p:xfrm>
              <a:off x="1320559" y="1539277"/>
              <a:ext cx="4267255" cy="22423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76425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390830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block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 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8811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Register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8626" t="-103125" r="-1018" b="-4046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170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8626" t="-213115" r="-1018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8626" t="-313115" r="-1018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Path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1+4+4+1.5+1.5 = 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Path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1+4+1.5+1.5=8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51623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504265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3B4F9-E779-590A-C8ED-63B7616F1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Two Cycle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50DFC-FB98-979E-4E4F-99F0FBA1C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improve throughput by breaking computation over two cycles</a:t>
            </a:r>
          </a:p>
          <a:p>
            <a:r>
              <a:rPr lang="en-US" dirty="0"/>
              <a:t>Register two intermediate terms: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lin_term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w1*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w0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5234D-CAB4-024E-EF1D-840B21D1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9E648D-5421-41D3-24F2-423FFF956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027" y="2604069"/>
            <a:ext cx="4385213" cy="27146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2F5FBB-9813-2E90-5E91-D9D54F972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56" y="3086100"/>
            <a:ext cx="5635271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1345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39BBA-A50E-FE84-C290-1308077A3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Stages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2673EF-ACCC-0796-B3DB-87EB7711CF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Design is processed in three stages = 2 cycles</a:t>
                </a:r>
              </a:p>
              <a:p>
                <a:r>
                  <a:rPr lang="en-US" dirty="0"/>
                  <a:t>Stage 0</a:t>
                </a:r>
              </a:p>
              <a:p>
                <a:pPr lvl="1"/>
                <a:r>
                  <a:rPr lang="en-US" dirty="0"/>
                  <a:t>Register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xreg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US" dirty="0"/>
                  <a:t>Stage 1:  Compute and register:</a:t>
                </a:r>
              </a:p>
              <a:p>
                <a:pPr lvl="1"/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xsq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xreg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*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xreg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lvl="1"/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lin_term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w1*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xreg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+ w0</a:t>
                </a:r>
              </a:p>
              <a:p>
                <a:r>
                  <a:rPr lang="en-US" dirty="0"/>
                  <a:t>Stage 2: Compute output</a:t>
                </a:r>
              </a:p>
              <a:p>
                <a:pPr lvl="1"/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y = w2*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xsq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+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lin_term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2673EF-ACCC-0796-B3DB-87EB7711CF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D5EA0-8335-E815-2F77-A4824334C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413C95-29D4-0DDB-81C3-4DC2051BF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906" y="1771988"/>
            <a:ext cx="4385213" cy="271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3591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7722C-C37C-3D3F-B9ED-542572540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D81B0E-BD91-1BD5-AEC9-BE67CA90A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823" y="4035500"/>
            <a:ext cx="4389679" cy="20700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4181E1-CA7D-8DCE-4EE2-F499B7C5F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Path with Three Stages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01DD4D-9432-C6BA-7C88-A938908D40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20028" y="1539277"/>
                <a:ext cx="5029060" cy="432981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Measure paths from register to register</a:t>
                </a:r>
              </a:p>
              <a:p>
                <a:r>
                  <a:rPr lang="en-US" dirty="0"/>
                  <a:t>Path 1: 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x,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x_reg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xsq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dirty="0"/>
                  <a:t>input</a:t>
                </a:r>
              </a:p>
              <a:p>
                <a:pPr lvl="1"/>
                <a:r>
                  <a:rPr lang="en-US" dirty="0"/>
                  <a:t>1 register, 1 </a:t>
                </a:r>
                <a:r>
                  <a:rPr lang="en-US" dirty="0" err="1"/>
                  <a:t>mult</a:t>
                </a:r>
                <a:r>
                  <a:rPr lang="en-US" dirty="0"/>
                  <a:t> = 5 ns</a:t>
                </a:r>
              </a:p>
              <a:p>
                <a:r>
                  <a:rPr lang="en-US" dirty="0"/>
                  <a:t>Path 2: 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x,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x_reg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w1_x,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lin_x</a:t>
                </a:r>
                <a:r>
                  <a:rPr lang="en-US" dirty="0"/>
                  <a:t> input</a:t>
                </a:r>
              </a:p>
              <a:p>
                <a:pPr lvl="1"/>
                <a:r>
                  <a:rPr lang="en-US" dirty="0"/>
                  <a:t>1 register, 1 </a:t>
                </a:r>
                <a:r>
                  <a:rPr lang="en-US" dirty="0" err="1"/>
                  <a:t>mult</a:t>
                </a:r>
                <a:r>
                  <a:rPr lang="en-US" dirty="0"/>
                  <a:t>, 1 add = 6.5 ns</a:t>
                </a:r>
              </a:p>
              <a:p>
                <a:r>
                  <a:rPr lang="en-US" dirty="0"/>
                  <a:t>Path 3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: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xsq_reg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lin_x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w2_xsq, y</a:t>
                </a:r>
              </a:p>
              <a:p>
                <a:pPr lvl="1"/>
                <a:r>
                  <a:rPr lang="en-US" dirty="0"/>
                  <a:t>1 register, 1 </a:t>
                </a:r>
                <a:r>
                  <a:rPr lang="en-US" dirty="0" err="1"/>
                  <a:t>mult</a:t>
                </a:r>
                <a:r>
                  <a:rPr lang="en-US" dirty="0"/>
                  <a:t>, 1 add = 6.5 ns </a:t>
                </a:r>
              </a:p>
              <a:p>
                <a:r>
                  <a:rPr lang="en-US" dirty="0"/>
                  <a:t>Critical path delay = 6.5 ns</a:t>
                </a:r>
              </a:p>
              <a:p>
                <a:r>
                  <a:rPr lang="en-US" dirty="0"/>
                  <a:t>Max </a:t>
                </a:r>
                <a:r>
                  <a:rPr lang="en-US" dirty="0" err="1"/>
                  <a:t>freq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6.5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≈153</m:t>
                    </m:r>
                  </m:oMath>
                </a14:m>
                <a:r>
                  <a:rPr lang="en-US" b="0" dirty="0"/>
                  <a:t> MHz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01DD4D-9432-C6BA-7C88-A938908D40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20028" y="1539277"/>
                <a:ext cx="5029060" cy="4329817"/>
              </a:xfrm>
              <a:blipFill>
                <a:blip r:embed="rId3"/>
                <a:stretch>
                  <a:fillRect l="-2909" t="-1549" r="-2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072DF-A5C9-274B-B44A-30ABBB1F3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6">
                <a:extLst>
                  <a:ext uri="{FF2B5EF4-FFF2-40B4-BE49-F238E27FC236}">
                    <a16:creationId xmlns:a16="http://schemas.microsoft.com/office/drawing/2014/main" id="{88C38444-713B-9C0E-7BE6-AC8C593AD61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329909816"/>
                  </p:ext>
                </p:extLst>
              </p:nvPr>
            </p:nvGraphicFramePr>
            <p:xfrm>
              <a:off x="1320559" y="1539277"/>
              <a:ext cx="4267255" cy="26131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76425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390830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block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 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Register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𝑟𝑒𝑔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 1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170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𝑚𝑢𝑙𝑡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= 4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𝑎𝑑𝑑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b="0" dirty="0"/>
                            <a:t>1.5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Path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1+4=5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Path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1+4+1.5=6.5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51623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Path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1+4+1.5=6.5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57946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6">
                <a:extLst>
                  <a:ext uri="{FF2B5EF4-FFF2-40B4-BE49-F238E27FC236}">
                    <a16:creationId xmlns:a16="http://schemas.microsoft.com/office/drawing/2014/main" id="{88C38444-713B-9C0E-7BE6-AC8C593AD61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329909816"/>
                  </p:ext>
                </p:extLst>
              </p:nvPr>
            </p:nvGraphicFramePr>
            <p:xfrm>
              <a:off x="1320559" y="1539277"/>
              <a:ext cx="4267255" cy="26131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76425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390830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block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 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8811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Register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8626" t="-103125" r="-1018" b="-4984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170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8626" t="-213115" r="-1018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8626" t="-313115" r="-1018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Path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1+4=5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Path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1+4+1.5=6.5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51623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Path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1+4+1.5=6.5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57946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366784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7C07C-EB0B-97B4-859D-2F689E2CE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Cycle Timing Diagram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C86380-5297-40CD-2A67-625F22E27F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6225" y="1539277"/>
                <a:ext cx="3259454" cy="4329817"/>
              </a:xfrm>
            </p:spPr>
            <p:txBody>
              <a:bodyPr/>
              <a:lstStyle/>
              <a:p>
                <a:r>
                  <a:rPr lang="en-US" dirty="0"/>
                  <a:t>Example with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=[4,−7,5]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inputs 10, -4, 8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C86380-5297-40CD-2A67-625F22E27F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6225" y="1539277"/>
                <a:ext cx="3259454" cy="4329817"/>
              </a:xfrm>
              <a:blipFill>
                <a:blip r:embed="rId2"/>
                <a:stretch>
                  <a:fillRect l="-4486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3CCF7-5743-CF44-E716-EC09CD1C7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B012A9-BBEC-7F31-30C4-5DD516347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4" y="2021595"/>
            <a:ext cx="7291388" cy="301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46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216A1-8BB4-A975-14A1-78201A4AF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Latency, Throughput and Pipelining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7C4090-076C-FFCA-0064-AC011E5D91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that we run at our design at 100 MHz clock</a:t>
                </a:r>
              </a:p>
              <a:p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Latency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Suppose input is valid on rising edge of clock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 output is valid before rising edge of clock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Latency = 2 clock cycles = 20 ns</a:t>
                </a:r>
              </a:p>
              <a:p>
                <a:pPr lvl="1"/>
                <a:endParaRPr lang="en-US" dirty="0"/>
              </a:p>
              <a:p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Throughput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Circuit can take a new input each cycle</a:t>
                </a:r>
              </a:p>
              <a:p>
                <a:pPr lvl="1"/>
                <a:r>
                  <a:rPr lang="en-US" dirty="0"/>
                  <a:t>Throughput = 1 input / cycle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MHz</a:t>
                </a:r>
              </a:p>
              <a:p>
                <a:r>
                  <a:rPr lang="en-US" dirty="0"/>
                  <a:t>Process is called a pipeline</a:t>
                </a:r>
              </a:p>
              <a:p>
                <a:pPr lvl="1"/>
                <a:r>
                  <a:rPr lang="en-US" dirty="0"/>
                  <a:t>Circuit is processing multiple inputs</a:t>
                </a:r>
                <a:br>
                  <a:rPr lang="en-US" dirty="0"/>
                </a:br>
                <a:r>
                  <a:rPr lang="en-US" dirty="0"/>
                  <a:t>at the same time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7C4090-076C-FFCA-0064-AC011E5D91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A09E3-9481-B9AE-2A2B-7BEACEB3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402F70-DD93-3CBB-DD10-6025493B0C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329"/>
          <a:stretch>
            <a:fillRect/>
          </a:stretch>
        </p:blipFill>
        <p:spPr>
          <a:xfrm>
            <a:off x="5429592" y="3069963"/>
            <a:ext cx="6099199" cy="301159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499CF7F-004A-5C71-61E1-5C2DD396E2E6}"/>
              </a:ext>
            </a:extLst>
          </p:cNvPr>
          <p:cNvCxnSpPr>
            <a:cxnSpLocks/>
          </p:cNvCxnSpPr>
          <p:nvPr/>
        </p:nvCxnSpPr>
        <p:spPr>
          <a:xfrm>
            <a:off x="7355241" y="3583096"/>
            <a:ext cx="2247900" cy="1890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654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A6320-0BB0-59C0-96B5-D8F6F19B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Comparison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8DE64FD1-E8B6-43E8-490A-FC65782DB21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75800077"/>
                  </p:ext>
                </p:extLst>
              </p:nvPr>
            </p:nvGraphicFramePr>
            <p:xfrm>
              <a:off x="1096963" y="1539875"/>
              <a:ext cx="10058397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52799">
                      <a:extLst>
                        <a:ext uri="{9D8B030D-6E8A-4147-A177-3AD203B41FA5}">
                          <a16:colId xmlns:a16="http://schemas.microsoft.com/office/drawing/2014/main" val="2164064030"/>
                        </a:ext>
                      </a:extLst>
                    </a:gridCol>
                    <a:gridCol w="3352799">
                      <a:extLst>
                        <a:ext uri="{9D8B030D-6E8A-4147-A177-3AD203B41FA5}">
                          <a16:colId xmlns:a16="http://schemas.microsoft.com/office/drawing/2014/main" val="1511334170"/>
                        </a:ext>
                      </a:extLst>
                    </a:gridCol>
                    <a:gridCol w="3352799">
                      <a:extLst>
                        <a:ext uri="{9D8B030D-6E8A-4147-A177-3AD203B41FA5}">
                          <a16:colId xmlns:a16="http://schemas.microsoft.com/office/drawing/2014/main" val="193149238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Single Cycle Design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Two Cycle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34869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Critical path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 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6.5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47008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clock frequency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en-US" dirty="0"/>
                            <a:t> 80 MHz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en-US" dirty="0"/>
                            <a:t> 150 MHz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05552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throughput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80 MHz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150 MHz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65142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Latency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cycle = 12 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 cycles = 13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85107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8DE64FD1-E8B6-43E8-490A-FC65782DB21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75800077"/>
                  </p:ext>
                </p:extLst>
              </p:nvPr>
            </p:nvGraphicFramePr>
            <p:xfrm>
              <a:off x="1096963" y="1539875"/>
              <a:ext cx="10058397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52799">
                      <a:extLst>
                        <a:ext uri="{9D8B030D-6E8A-4147-A177-3AD203B41FA5}">
                          <a16:colId xmlns:a16="http://schemas.microsoft.com/office/drawing/2014/main" val="2164064030"/>
                        </a:ext>
                      </a:extLst>
                    </a:gridCol>
                    <a:gridCol w="3352799">
                      <a:extLst>
                        <a:ext uri="{9D8B030D-6E8A-4147-A177-3AD203B41FA5}">
                          <a16:colId xmlns:a16="http://schemas.microsoft.com/office/drawing/2014/main" val="1511334170"/>
                        </a:ext>
                      </a:extLst>
                    </a:gridCol>
                    <a:gridCol w="3352799">
                      <a:extLst>
                        <a:ext uri="{9D8B030D-6E8A-4147-A177-3AD203B41FA5}">
                          <a16:colId xmlns:a16="http://schemas.microsoft.com/office/drawing/2014/main" val="193149238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Single Cycle Design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Two Cycle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34869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Critical path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 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6.5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47008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clock frequency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208197" r="-100726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64" t="-208197" r="-909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05552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throughput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80 MHz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150 MHz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65142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Latency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cycle = 12 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 cycles = 13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85107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F55EB-0A0C-8FAC-45AF-A3B48484E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49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9A15382-EAA1-95BB-DECE-0659165C35A3}"/>
              </a:ext>
            </a:extLst>
          </p:cNvPr>
          <p:cNvSpPr/>
          <p:nvPr/>
        </p:nvSpPr>
        <p:spPr>
          <a:xfrm>
            <a:off x="1274031" y="4111308"/>
            <a:ext cx="9881329" cy="11423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i="1" dirty="0">
                <a:solidFill>
                  <a:schemeClr val="accent1"/>
                </a:solidFill>
              </a:rPr>
              <a:t>Pipelining benefit:  </a:t>
            </a:r>
            <a:br>
              <a:rPr lang="en-US" sz="2400" i="1" dirty="0">
                <a:solidFill>
                  <a:schemeClr val="accent1"/>
                </a:solidFill>
              </a:rPr>
            </a:br>
            <a:r>
              <a:rPr lang="en-US" sz="2400" i="1" dirty="0">
                <a:solidFill>
                  <a:schemeClr val="accent1"/>
                </a:solidFill>
              </a:rPr>
              <a:t>For small increase in latency, we dramatically improve throughput</a:t>
            </a:r>
          </a:p>
        </p:txBody>
      </p:sp>
    </p:spTree>
    <p:extLst>
      <p:ext uri="{BB962C8B-B14F-4D97-AF65-F5344CB8AC3E}">
        <p14:creationId xmlns:p14="http://schemas.microsoft.com/office/powerpoint/2010/main" val="18261117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28622-738F-3F6F-E1A4-2C9AD3624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C1B25-58FF-FFE9-937B-2B1667E6E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242EA-07B3-3317-84F8-84C51F010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Combinational Logic</a:t>
            </a:r>
          </a:p>
          <a:p>
            <a:r>
              <a:rPr lang="en-US" sz="2400" dirty="0"/>
              <a:t>Timing Diagrams for Combinational Logic</a:t>
            </a:r>
          </a:p>
          <a:p>
            <a:r>
              <a:rPr lang="en-US" sz="2400" dirty="0"/>
              <a:t>Registers, Clocks and Sequential Logic</a:t>
            </a:r>
          </a:p>
          <a:p>
            <a:r>
              <a:rPr lang="en-US" sz="2400" dirty="0"/>
              <a:t>Simulating and Synthesizing Simple Modules in </a:t>
            </a:r>
            <a:r>
              <a:rPr lang="en-US" sz="2400" dirty="0" err="1"/>
              <a:t>Vivado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032FD-E7D7-2959-649F-1957AEEB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50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462AA2A-0BB2-8384-7AE3-222069C8D958}"/>
              </a:ext>
            </a:extLst>
          </p:cNvPr>
          <p:cNvSpPr/>
          <p:nvPr/>
        </p:nvSpPr>
        <p:spPr>
          <a:xfrm>
            <a:off x="402527" y="2993897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474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ECF6-7BEA-C3E4-BFEE-DD9023C3E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Development 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9CCD8-9CEB-A3B2-04C7-BD5D71989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51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43B5EA-41F2-95F6-09BD-3ACA1A405A69}"/>
              </a:ext>
            </a:extLst>
          </p:cNvPr>
          <p:cNvSpPr/>
          <p:nvPr/>
        </p:nvSpPr>
        <p:spPr>
          <a:xfrm>
            <a:off x="978361" y="1692534"/>
            <a:ext cx="1238588" cy="8372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Design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F65526-2536-C4AD-F7CC-739AA826338D}"/>
              </a:ext>
            </a:extLst>
          </p:cNvPr>
          <p:cNvSpPr/>
          <p:nvPr/>
        </p:nvSpPr>
        <p:spPr>
          <a:xfrm>
            <a:off x="2404729" y="1692533"/>
            <a:ext cx="1619588" cy="8372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Functional simulation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C5ED7A9-0FE8-09EE-BD5A-51C62D4C9B4B}"/>
              </a:ext>
            </a:extLst>
          </p:cNvPr>
          <p:cNvSpPr/>
          <p:nvPr/>
        </p:nvSpPr>
        <p:spPr>
          <a:xfrm>
            <a:off x="4355313" y="1684851"/>
            <a:ext cx="1619588" cy="8372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Synthesis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1CDF1B-A7D2-772D-D0B1-40BA5CF26836}"/>
              </a:ext>
            </a:extLst>
          </p:cNvPr>
          <p:cNvSpPr/>
          <p:nvPr/>
        </p:nvSpPr>
        <p:spPr>
          <a:xfrm>
            <a:off x="6162681" y="1692532"/>
            <a:ext cx="1619588" cy="8372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Timing Simulation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32A7BD-93CB-3172-E74C-71A97B736D65}"/>
              </a:ext>
            </a:extLst>
          </p:cNvPr>
          <p:cNvSpPr/>
          <p:nvPr/>
        </p:nvSpPr>
        <p:spPr>
          <a:xfrm>
            <a:off x="7970049" y="1692532"/>
            <a:ext cx="1619588" cy="8372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Generate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bitstream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8FE2D17-D7EA-E826-9EDC-95E3743EAAB6}"/>
              </a:ext>
            </a:extLst>
          </p:cNvPr>
          <p:cNvSpPr/>
          <p:nvPr/>
        </p:nvSpPr>
        <p:spPr>
          <a:xfrm>
            <a:off x="9849025" y="1666083"/>
            <a:ext cx="1619588" cy="8372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FPGA evaluation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7ED9E1B0-D407-C33F-9F7F-5C13F17A3B8D}"/>
              </a:ext>
            </a:extLst>
          </p:cNvPr>
          <p:cNvSpPr/>
          <p:nvPr/>
        </p:nvSpPr>
        <p:spPr>
          <a:xfrm rot="16200000">
            <a:off x="2251099" y="1512837"/>
            <a:ext cx="557627" cy="3103102"/>
          </a:xfrm>
          <a:prstGeom prst="leftBrac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BFCADF-036B-2B47-E571-6BF3EFD402F9}"/>
              </a:ext>
            </a:extLst>
          </p:cNvPr>
          <p:cNvSpPr txBox="1"/>
          <p:nvPr/>
        </p:nvSpPr>
        <p:spPr>
          <a:xfrm>
            <a:off x="1525406" y="3680462"/>
            <a:ext cx="200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Covered in this unit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137EBC-0DC0-45EE-BEEE-3B189CDBD4B3}"/>
              </a:ext>
            </a:extLst>
          </p:cNvPr>
          <p:cNvSpPr txBox="1"/>
          <p:nvPr/>
        </p:nvSpPr>
        <p:spPr>
          <a:xfrm>
            <a:off x="4888929" y="3608894"/>
            <a:ext cx="2475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Provided in documents in github.io page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68224D3B-A299-34F7-BC8C-39BDF3334669}"/>
              </a:ext>
            </a:extLst>
          </p:cNvPr>
          <p:cNvSpPr/>
          <p:nvPr/>
        </p:nvSpPr>
        <p:spPr>
          <a:xfrm rot="16200000">
            <a:off x="5817187" y="1374105"/>
            <a:ext cx="557627" cy="3430528"/>
          </a:xfrm>
          <a:prstGeom prst="leftBrac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242618-2CB4-0276-498A-9978DBC2E758}"/>
              </a:ext>
            </a:extLst>
          </p:cNvPr>
          <p:cNvSpPr txBox="1"/>
          <p:nvPr/>
        </p:nvSpPr>
        <p:spPr>
          <a:xfrm>
            <a:off x="8091011" y="3541962"/>
            <a:ext cx="35160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covered for this unit</a:t>
            </a:r>
            <a:br>
              <a:rPr lang="en-US" dirty="0"/>
            </a:br>
            <a:r>
              <a:rPr lang="en-US" dirty="0"/>
              <a:t>Covered in later units with Vitis HLS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976E05BD-E25E-2382-6A9F-DBD3552C03AC}"/>
              </a:ext>
            </a:extLst>
          </p:cNvPr>
          <p:cNvSpPr/>
          <p:nvPr/>
        </p:nvSpPr>
        <p:spPr>
          <a:xfrm rot="16200000">
            <a:off x="9474536" y="1406172"/>
            <a:ext cx="557627" cy="3430528"/>
          </a:xfrm>
          <a:prstGeom prst="leftBrac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81C65F5-E4B0-7B24-B3BA-042A6E813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4916058"/>
            <a:ext cx="10058400" cy="953036"/>
          </a:xfrm>
        </p:spPr>
        <p:txBody>
          <a:bodyPr/>
          <a:lstStyle/>
          <a:p>
            <a:r>
              <a:rPr lang="en-US" dirty="0"/>
              <a:t>We only show the first two steps</a:t>
            </a:r>
          </a:p>
        </p:txBody>
      </p:sp>
    </p:spTree>
    <p:extLst>
      <p:ext uri="{BB962C8B-B14F-4D97-AF65-F5344CB8AC3E}">
        <p14:creationId xmlns:p14="http://schemas.microsoft.com/office/powerpoint/2010/main" val="3070016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1A9B3-149C-0506-A1C5-9850C836C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Linear+ReLU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64632-4835-EC8B-3EFC-34BFB5C3E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code in </a:t>
            </a:r>
            <a:r>
              <a:rPr lang="en-US" dirty="0" err="1">
                <a:hlinkClick r:id="rId2"/>
              </a:rPr>
              <a:t>github</a:t>
            </a:r>
            <a:r>
              <a:rPr lang="en-US" dirty="0">
                <a:hlinkClick r:id="rId2"/>
              </a:rPr>
              <a:t> repo</a:t>
            </a:r>
            <a:endParaRPr lang="en-US" dirty="0"/>
          </a:p>
          <a:p>
            <a:r>
              <a:rPr lang="en-US" dirty="0"/>
              <a:t>We test code on the right</a:t>
            </a:r>
          </a:p>
          <a:p>
            <a:r>
              <a:rPr lang="en-US" dirty="0"/>
              <a:t>Similar to discussed</a:t>
            </a:r>
          </a:p>
          <a:p>
            <a:r>
              <a:rPr lang="en-US" dirty="0"/>
              <a:t>Main difference:</a:t>
            </a:r>
          </a:p>
          <a:p>
            <a:pPr lvl="1"/>
            <a:r>
              <a:rPr lang="en-US" dirty="0"/>
              <a:t>Module in test uses 16-bit integer</a:t>
            </a:r>
          </a:p>
          <a:p>
            <a:pPr lvl="1"/>
            <a:r>
              <a:rPr lang="en-US" dirty="0"/>
              <a:t>Code before used int = 32 bit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B3F44-F483-C1FD-6D5A-AB4A4B892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968B09-1AA0-31EC-044F-E8BA5D149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078" y="1625034"/>
            <a:ext cx="5997556" cy="255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3094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F40FE-E115-4CD6-C427-D44491FD0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3C873-C628-5DF7-FD56-CB826D2D6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set of test inputs</a:t>
            </a:r>
          </a:p>
          <a:p>
            <a:endParaRPr lang="en-US" dirty="0"/>
          </a:p>
          <a:p>
            <a:r>
              <a:rPr lang="en-US" dirty="0"/>
              <a:t>Loop through inputs</a:t>
            </a:r>
          </a:p>
          <a:p>
            <a:r>
              <a:rPr lang="en-US" dirty="0"/>
              <a:t>Put one new input each clock cycle</a:t>
            </a:r>
          </a:p>
          <a:p>
            <a:r>
              <a:rPr lang="en-US" dirty="0"/>
              <a:t>Testbench uses an initial construct</a:t>
            </a:r>
          </a:p>
          <a:p>
            <a:pPr lvl="1"/>
            <a:r>
              <a:rPr lang="en-US" dirty="0"/>
              <a:t>Enables sequential set of events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AE09C-305C-D94C-85CE-1B3305B0B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63CBDD-DD10-0D68-AAA4-429819C48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289" y="611546"/>
            <a:ext cx="3962530" cy="1643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05CD8D-4092-30BD-C2FF-E84C900D1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110" y="2407215"/>
            <a:ext cx="4467455" cy="42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0213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4B08F-7261-1C9D-1C1F-DA4964FC5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89BD-8F90-85BE-A7D8-438869491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Testbench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13A6F-D239-E6A9-56B6-9D4A65E83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Testbench</a:t>
            </a:r>
            <a:r>
              <a:rPr lang="en-US" dirty="0"/>
              <a:t>: a module to test the module</a:t>
            </a:r>
          </a:p>
          <a:p>
            <a:pPr lvl="1"/>
            <a:r>
              <a:rPr lang="en-US" dirty="0"/>
              <a:t>Will not be synthesized</a:t>
            </a:r>
          </a:p>
          <a:p>
            <a:pPr lvl="1"/>
            <a:r>
              <a:rPr lang="en-US" dirty="0"/>
              <a:t>Can have un-synthesizable constructs</a:t>
            </a:r>
          </a:p>
          <a:p>
            <a:pPr lvl="1"/>
            <a:r>
              <a:rPr lang="en-US" dirty="0"/>
              <a:t>Ex: Read / write from file</a:t>
            </a:r>
          </a:p>
          <a:p>
            <a:endParaRPr lang="en-US" dirty="0"/>
          </a:p>
          <a:p>
            <a:r>
              <a:rPr lang="en-US" dirty="0"/>
              <a:t>Create a clock</a:t>
            </a:r>
          </a:p>
          <a:p>
            <a:endParaRPr lang="en-US" dirty="0"/>
          </a:p>
          <a:p>
            <a:r>
              <a:rPr lang="en-US" dirty="0"/>
              <a:t>Instantiate an instance of module to test</a:t>
            </a:r>
          </a:p>
          <a:p>
            <a:pPr lvl="1"/>
            <a:r>
              <a:rPr lang="en-US" dirty="0"/>
              <a:t>Called the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DUT</a:t>
            </a:r>
            <a:r>
              <a:rPr lang="en-US" dirty="0"/>
              <a:t> =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device under test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Connect DUT to testbench signals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3069E-778C-47B5-25E1-B32A1CC08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DB4A1B-225B-4154-6B27-4491D52AE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324" y="3066886"/>
            <a:ext cx="3602314" cy="30522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53708C-C900-4921-D75F-C6C8BC6E2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583" y="515575"/>
            <a:ext cx="3131223" cy="226779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E88EB95-EB80-0D3F-E0CE-53ECB54A1EA2}"/>
              </a:ext>
            </a:extLst>
          </p:cNvPr>
          <p:cNvCxnSpPr/>
          <p:nvPr/>
        </p:nvCxnSpPr>
        <p:spPr>
          <a:xfrm>
            <a:off x="5429250" y="1876425"/>
            <a:ext cx="12906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9B6E42-5885-CD78-0381-71857BA73B03}"/>
              </a:ext>
            </a:extLst>
          </p:cNvPr>
          <p:cNvCxnSpPr>
            <a:cxnSpLocks/>
          </p:cNvCxnSpPr>
          <p:nvPr/>
        </p:nvCxnSpPr>
        <p:spPr>
          <a:xfrm flipV="1">
            <a:off x="2738438" y="3471863"/>
            <a:ext cx="4038600" cy="126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4384257-470F-CA45-8BC1-A963CD9E8A7C}"/>
              </a:ext>
            </a:extLst>
          </p:cNvPr>
          <p:cNvCxnSpPr>
            <a:cxnSpLocks/>
          </p:cNvCxnSpPr>
          <p:nvPr/>
        </p:nvCxnSpPr>
        <p:spPr>
          <a:xfrm flipV="1">
            <a:off x="5359677" y="4619625"/>
            <a:ext cx="1183999" cy="104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6345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EC1F-55F6-3760-8555-3B9C98699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ACD34-D2EF-ED4F-BC32-052E61EF7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show how to run from the command-line</a:t>
            </a:r>
          </a:p>
          <a:p>
            <a:pPr lvl="1"/>
            <a:r>
              <a:rPr lang="en-US" dirty="0"/>
              <a:t>A </a:t>
            </a:r>
            <a:r>
              <a:rPr lang="en-US" dirty="0" err="1"/>
              <a:t>Vivado</a:t>
            </a:r>
            <a:r>
              <a:rPr lang="en-US" dirty="0"/>
              <a:t> GUI option is also available</a:t>
            </a:r>
          </a:p>
          <a:p>
            <a:pPr lvl="1"/>
            <a:r>
              <a:rPr lang="en-US" dirty="0"/>
              <a:t>But command-line is more flexible and automatable</a:t>
            </a:r>
          </a:p>
          <a:p>
            <a:r>
              <a:rPr lang="en-US" dirty="0"/>
              <a:t>Start a virtual environment with </a:t>
            </a:r>
            <a:r>
              <a:rPr lang="en-US" dirty="0" err="1"/>
              <a:t>xilinxutils</a:t>
            </a:r>
            <a:endParaRPr lang="en-US" dirty="0"/>
          </a:p>
          <a:p>
            <a:pPr lvl="1"/>
            <a:r>
              <a:rPr lang="en-US" dirty="0" err="1"/>
              <a:t>Xilinxutils</a:t>
            </a:r>
            <a:r>
              <a:rPr lang="en-US" dirty="0"/>
              <a:t>:  Python package provided in the course repo</a:t>
            </a:r>
          </a:p>
          <a:p>
            <a:r>
              <a:rPr lang="en-US" dirty="0"/>
              <a:t>Run command</a:t>
            </a:r>
          </a:p>
          <a:p>
            <a:r>
              <a:rPr lang="en-US" dirty="0"/>
              <a:t>Command is equivalent to</a:t>
            </a:r>
          </a:p>
          <a:p>
            <a:pPr lvl="1"/>
            <a:r>
              <a:rPr lang="en-US" dirty="0" err="1"/>
              <a:t>sv_sim</a:t>
            </a:r>
            <a:r>
              <a:rPr lang="en-US" dirty="0"/>
              <a:t> is a short-cut</a:t>
            </a:r>
            <a:br>
              <a:rPr lang="en-US" dirty="0"/>
            </a:b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A2057-3F08-B56C-4E49-989F31106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4BD7B6-AB86-D2F7-15B2-F47228FCA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1" y="4688764"/>
            <a:ext cx="6522879" cy="11803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693625-F116-7501-D564-814470400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801" y="3429000"/>
            <a:ext cx="6715216" cy="79732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FE39A3C-D656-A293-E6B5-D2E61CF05193}"/>
              </a:ext>
            </a:extLst>
          </p:cNvPr>
          <p:cNvCxnSpPr/>
          <p:nvPr/>
        </p:nvCxnSpPr>
        <p:spPr>
          <a:xfrm>
            <a:off x="3029964" y="3598083"/>
            <a:ext cx="1325610" cy="106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ECDCC34-CB1B-5C03-323D-1F82132B240A}"/>
              </a:ext>
            </a:extLst>
          </p:cNvPr>
          <p:cNvCxnSpPr>
            <a:endCxn id="6" idx="1"/>
          </p:cNvCxnSpPr>
          <p:nvPr/>
        </p:nvCxnSpPr>
        <p:spPr>
          <a:xfrm>
            <a:off x="3538538" y="4357688"/>
            <a:ext cx="1094263" cy="1038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4382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B042B-188C-A389-9F5C-E12AF93E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the VCD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EEBDB-8E5B-5926-89C3-A144C4492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Simulation produces a VCD file:  Value Change Dump</a:t>
            </a:r>
          </a:p>
          <a:p>
            <a:pPr lvl="1"/>
            <a:r>
              <a:rPr lang="en-US" dirty="0"/>
              <a:t>File with value-change points of all the signals</a:t>
            </a:r>
          </a:p>
          <a:p>
            <a:r>
              <a:rPr lang="en-US" dirty="0"/>
              <a:t>VCD can be parsed in a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r>
              <a:rPr lang="en-US" dirty="0"/>
              <a:t>Use </a:t>
            </a:r>
            <a:r>
              <a:rPr lang="en-US" dirty="0" err="1"/>
              <a:t>Xilinxutils</a:t>
            </a:r>
            <a:r>
              <a:rPr lang="en-US" dirty="0"/>
              <a:t> to:</a:t>
            </a:r>
          </a:p>
          <a:p>
            <a:pPr lvl="1"/>
            <a:r>
              <a:rPr lang="en-US" dirty="0"/>
              <a:t>Parse the VCD file</a:t>
            </a:r>
          </a:p>
          <a:p>
            <a:pPr lvl="1"/>
            <a:r>
              <a:rPr lang="en-US" dirty="0"/>
              <a:t>Visualize the timing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04073-DBA2-0BE5-D0E3-D6ECB15A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516333-CF11-19FA-FF85-E9419D2AE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040" y="2020937"/>
            <a:ext cx="4838323" cy="192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4496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8E84-B10D-851B-80A5-8505F49A4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D18B4-2A36-E46A-B2D2-50D1FD79E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575" y="1539277"/>
            <a:ext cx="9949105" cy="4329817"/>
          </a:xfrm>
        </p:spPr>
        <p:txBody>
          <a:bodyPr/>
          <a:lstStyle/>
          <a:p>
            <a:r>
              <a:rPr lang="en-US" dirty="0"/>
              <a:t>Matches expected value output</a:t>
            </a:r>
          </a:p>
          <a:p>
            <a:r>
              <a:rPr lang="en-US" dirty="0"/>
              <a:t>Produces an idealized timing diagram</a:t>
            </a:r>
          </a:p>
          <a:p>
            <a:pPr lvl="1"/>
            <a:r>
              <a:rPr lang="en-US" dirty="0"/>
              <a:t>Timing simulation requires synthesis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55320-6480-8903-34D9-AC8897639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8DED5F-ABBC-45AF-0E92-78E2DC8DD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783409"/>
            <a:ext cx="7567612" cy="323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7343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7B532-DF83-F8BA-70D3-02AB1CE22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3E86C-98C2-89F0-07B8-5E381B122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in </a:t>
            </a:r>
            <a:r>
              <a:rPr lang="en-US" dirty="0" err="1"/>
              <a:t>github</a:t>
            </a:r>
            <a:r>
              <a:rPr lang="en-US" dirty="0"/>
              <a:t> repo</a:t>
            </a:r>
          </a:p>
          <a:p>
            <a:r>
              <a:rPr lang="en-US" dirty="0"/>
              <a:t>We use 16-bit integers with wraparound</a:t>
            </a:r>
          </a:p>
          <a:p>
            <a:r>
              <a:rPr lang="en-US" dirty="0"/>
              <a:t>Process is similar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30512-FB08-423E-0F91-2F54ED59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28627F-E1D0-C827-A7F9-FAB4C1593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802" y="988906"/>
            <a:ext cx="5058035" cy="467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249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0F9B0-81CE-4400-A782-C70B64996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Timing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CBC2D-80A2-B6B0-25B1-7C308DA79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see two cycle latency and pipelining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E6E06-391A-7A33-04AE-60FDB67C9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696D0D-B552-1E7F-83D4-6D836E44B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10" y="2447925"/>
            <a:ext cx="10251870" cy="342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3047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7474</TotalTime>
  <Words>2703</Words>
  <Application>Microsoft Office PowerPoint</Application>
  <PresentationFormat>Widescreen</PresentationFormat>
  <Paragraphs>584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Arial</vt:lpstr>
      <vt:lpstr>Calibri</vt:lpstr>
      <vt:lpstr>Cambria Math</vt:lpstr>
      <vt:lpstr>Courier New</vt:lpstr>
      <vt:lpstr>Wingdings</vt:lpstr>
      <vt:lpstr>Retrospect</vt:lpstr>
      <vt:lpstr>Unit 1  Basic Digital Logic</vt:lpstr>
      <vt:lpstr>Learning Objectives</vt:lpstr>
      <vt:lpstr>Outline</vt:lpstr>
      <vt:lpstr>Simple Example:  ReLU + Linear</vt:lpstr>
      <vt:lpstr>SystemVerilog Description</vt:lpstr>
      <vt:lpstr>Module Components in SV</vt:lpstr>
      <vt:lpstr>System Verilog vs Verilog</vt:lpstr>
      <vt:lpstr>Synthesis</vt:lpstr>
      <vt:lpstr>Implementation Depends on the Target</vt:lpstr>
      <vt:lpstr>Block Diagram</vt:lpstr>
      <vt:lpstr>Outline</vt:lpstr>
      <vt:lpstr>Timing Diagrams</vt:lpstr>
      <vt:lpstr>Binary Signals</vt:lpstr>
      <vt:lpstr>Undefined Logic Value:  ‘X’ </vt:lpstr>
      <vt:lpstr>Undefined Regions Illustrated</vt:lpstr>
      <vt:lpstr>Value-Change Points</vt:lpstr>
      <vt:lpstr>Timing Diagram</vt:lpstr>
      <vt:lpstr>Propagation Delays</vt:lpstr>
      <vt:lpstr>Drawing Timing Diagrams in Python</vt:lpstr>
      <vt:lpstr>Propagation Delays of a Series</vt:lpstr>
      <vt:lpstr>Example Total Propagation Delay</vt:lpstr>
      <vt:lpstr>Example Timing Over Multiple Inputs</vt:lpstr>
      <vt:lpstr>Typical Propagation Delays:  Low-End FPGA</vt:lpstr>
      <vt:lpstr>Typical Propagation Delays:  ASIC</vt:lpstr>
      <vt:lpstr>Critical Path</vt:lpstr>
      <vt:lpstr>Critical Path Example</vt:lpstr>
      <vt:lpstr>Delay Depends on Implementation</vt:lpstr>
      <vt:lpstr>Outline</vt:lpstr>
      <vt:lpstr>Limitations of Combinational Logic</vt:lpstr>
      <vt:lpstr>Synchronous (Sequential) Logic</vt:lpstr>
      <vt:lpstr>Clock Signal</vt:lpstr>
      <vt:lpstr>Synchronous Logic</vt:lpstr>
      <vt:lpstr>Register</vt:lpstr>
      <vt:lpstr>Register</vt:lpstr>
      <vt:lpstr>Making the Module Synchronous </vt:lpstr>
      <vt:lpstr>System Verilog Main Body</vt:lpstr>
      <vt:lpstr>Synchronous Block Diagram</vt:lpstr>
      <vt:lpstr>Synchronous Timing Diagram</vt:lpstr>
      <vt:lpstr>Maximum Clock Frequency</vt:lpstr>
      <vt:lpstr>ReLU+Linear Example</vt:lpstr>
      <vt:lpstr>Max Clock Frequency Example</vt:lpstr>
      <vt:lpstr>A More Complex Example</vt:lpstr>
      <vt:lpstr>Finding the Critical Path</vt:lpstr>
      <vt:lpstr>A Two Cycle Design</vt:lpstr>
      <vt:lpstr>Three Stages</vt:lpstr>
      <vt:lpstr>Critical Path with Three Stages</vt:lpstr>
      <vt:lpstr>Two Cycle Timing Diagram</vt:lpstr>
      <vt:lpstr>Latency, Throughput and Pipelining</vt:lpstr>
      <vt:lpstr>Performance Comparison</vt:lpstr>
      <vt:lpstr>Outline</vt:lpstr>
      <vt:lpstr>FPGA Development Flow</vt:lpstr>
      <vt:lpstr>Linear+ReLU Example</vt:lpstr>
      <vt:lpstr>Test Vectors</vt:lpstr>
      <vt:lpstr>Testbench Declaration</vt:lpstr>
      <vt:lpstr>Run Simulation</vt:lpstr>
      <vt:lpstr>Parsing the VCD File</vt:lpstr>
      <vt:lpstr>Timing Diagram</vt:lpstr>
      <vt:lpstr>Quadratic Example</vt:lpstr>
      <vt:lpstr>Quadratic Timing Diagram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447</cp:revision>
  <cp:lastPrinted>2018-09-04T19:00:14Z</cp:lastPrinted>
  <dcterms:created xsi:type="dcterms:W3CDTF">2015-03-22T11:15:32Z</dcterms:created>
  <dcterms:modified xsi:type="dcterms:W3CDTF">2026-01-13T21:02:54Z</dcterms:modified>
</cp:coreProperties>
</file>
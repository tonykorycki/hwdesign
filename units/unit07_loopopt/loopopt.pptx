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8" r:id="rId2"/>
    <p:sldId id="271" r:id="rId3"/>
    <p:sldId id="407" r:id="rId4"/>
    <p:sldId id="312" r:id="rId5"/>
    <p:sldId id="315" r:id="rId6"/>
    <p:sldId id="369" r:id="rId7"/>
    <p:sldId id="370" r:id="rId8"/>
    <p:sldId id="371" r:id="rId9"/>
    <p:sldId id="372" r:id="rId10"/>
    <p:sldId id="320" r:id="rId11"/>
    <p:sldId id="321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4" r:id="rId23"/>
    <p:sldId id="383" r:id="rId24"/>
    <p:sldId id="386" r:id="rId25"/>
    <p:sldId id="387" r:id="rId26"/>
    <p:sldId id="388" r:id="rId27"/>
    <p:sldId id="389" r:id="rId28"/>
    <p:sldId id="390" r:id="rId29"/>
    <p:sldId id="385" r:id="rId30"/>
    <p:sldId id="391" r:id="rId31"/>
    <p:sldId id="392" r:id="rId32"/>
    <p:sldId id="394" r:id="rId33"/>
    <p:sldId id="395" r:id="rId34"/>
    <p:sldId id="393" r:id="rId35"/>
    <p:sldId id="396" r:id="rId36"/>
    <p:sldId id="397" r:id="rId37"/>
    <p:sldId id="398" r:id="rId38"/>
    <p:sldId id="399" r:id="rId39"/>
    <p:sldId id="400" r:id="rId40"/>
    <p:sldId id="401" r:id="rId41"/>
    <p:sldId id="402" r:id="rId42"/>
    <p:sldId id="403" r:id="rId43"/>
    <p:sldId id="404" r:id="rId44"/>
    <p:sldId id="405" r:id="rId45"/>
    <p:sldId id="406" r:id="rId46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0F8E0"/>
    <a:srgbClr val="92278F"/>
    <a:srgbClr val="CADEB2"/>
    <a:srgbClr val="C9D3BD"/>
    <a:srgbClr val="FBF9FB"/>
    <a:srgbClr val="EAE5EB"/>
    <a:srgbClr val="CCFF99"/>
    <a:srgbClr val="E3DFF7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6 </a:t>
            </a:r>
            <a:br>
              <a:rPr lang="en-US" sz="6600" dirty="0"/>
            </a:br>
            <a:r>
              <a:rPr lang="en-US" sz="6600" dirty="0"/>
              <a:t>Loop Optimization and Pipelining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Manually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pipeline</a:t>
            </a:r>
            <a:r>
              <a:rPr lang="en-US" dirty="0"/>
              <a:t> simple sequential modules in System Verilog</a:t>
            </a:r>
          </a:p>
          <a:p>
            <a:r>
              <a:rPr lang="en-US" dirty="0"/>
              <a:t>Measure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initiation interval</a:t>
            </a:r>
            <a:r>
              <a:rPr lang="en-US" dirty="0"/>
              <a:t>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latency</a:t>
            </a:r>
            <a:r>
              <a:rPr lang="en-US" dirty="0"/>
              <a:t>, and total latency</a:t>
            </a:r>
          </a:p>
          <a:p>
            <a:r>
              <a:rPr lang="en-US" dirty="0"/>
              <a:t>Control auto-pipelining in Vitis HLS</a:t>
            </a:r>
          </a:p>
          <a:p>
            <a:r>
              <a:rPr lang="en-US" dirty="0"/>
              <a:t>Extract resource and pipelining data from Vitis HLS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synthesis reports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Unroll</a:t>
            </a:r>
            <a:r>
              <a:rPr lang="en-US" dirty="0"/>
              <a:t> loops in Vitis HLS</a:t>
            </a:r>
          </a:p>
          <a:p>
            <a:r>
              <a:rPr lang="en-US" dirty="0"/>
              <a:t>Mitigate memory bottlenecks in unrolled loops with:</a:t>
            </a:r>
          </a:p>
          <a:p>
            <a:pPr lvl="1"/>
            <a:r>
              <a:rPr lang="en-US" dirty="0"/>
              <a:t>Increased memory bit width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Memory partitioning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648C-F24B-3E02-A196-A8D9BF9D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797F-7CD8-AC18-0AAD-460CDF2A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D2F2-F951-798B-1A8B-5156FDEA8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Pipelining in </a:t>
            </a:r>
            <a:r>
              <a:rPr lang="en-US" sz="2400" dirty="0" err="1"/>
              <a:t>SystemVerilog</a:t>
            </a:r>
            <a:endParaRPr lang="en-US" sz="2400" dirty="0"/>
          </a:p>
          <a:p>
            <a:r>
              <a:rPr lang="en-US" sz="2400" dirty="0"/>
              <a:t>Loop Pipelining in Vitis HLS </a:t>
            </a:r>
          </a:p>
          <a:p>
            <a:r>
              <a:rPr lang="en-US" sz="2400" dirty="0"/>
              <a:t>Loop Unrolling and Memory Constraints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1135-692F-4813-D146-AA10C9E6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8FBEDAB-E7B9-4460-DC0B-6E34A4CE33F8}"/>
              </a:ext>
            </a:extLst>
          </p:cNvPr>
          <p:cNvSpPr/>
          <p:nvPr/>
        </p:nvSpPr>
        <p:spPr>
          <a:xfrm>
            <a:off x="392264" y="14478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(from previous unit)</a:t>
                </a:r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  <a:p>
                <a:r>
                  <a:rPr lang="en-US" dirty="0"/>
                  <a:t>Marked multiplier units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CB3689-9345-9818-6567-DB05B146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53" y="3458280"/>
            <a:ext cx="5472241" cy="2855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20F9E-1368-9BB3-20F6-C4D8679DE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706" y="1985927"/>
            <a:ext cx="3839156" cy="240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25CC-3FAE-1C38-5338-4F54381D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Critical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F3B3E-B8D7-F21E-CD8F-53C070E03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028" y="1539277"/>
            <a:ext cx="5029060" cy="4329817"/>
          </a:xfrm>
        </p:spPr>
        <p:txBody>
          <a:bodyPr/>
          <a:lstStyle/>
          <a:p>
            <a:r>
              <a:rPr lang="en-US" dirty="0"/>
              <a:t>Consider implementation with times in table</a:t>
            </a:r>
          </a:p>
          <a:p>
            <a:r>
              <a:rPr lang="en-US" dirty="0"/>
              <a:t>Find critical path</a:t>
            </a:r>
          </a:p>
          <a:p>
            <a:pPr lvl="1"/>
            <a:r>
              <a:rPr lang="en-US" dirty="0"/>
              <a:t>Not including </a:t>
            </a:r>
            <a:r>
              <a:rPr lang="en-US" dirty="0" err="1"/>
              <a:t>clk</a:t>
            </a:r>
            <a:r>
              <a:rPr lang="en-US" dirty="0"/>
              <a:t>-Q and setup time</a:t>
            </a:r>
          </a:p>
          <a:p>
            <a:r>
              <a:rPr lang="en-US" dirty="0"/>
              <a:t>Two paths:</a:t>
            </a:r>
          </a:p>
          <a:p>
            <a:r>
              <a:rPr lang="en-US" dirty="0"/>
              <a:t>Path 1:  x, </a:t>
            </a:r>
            <a:r>
              <a:rPr lang="en-US" dirty="0" err="1"/>
              <a:t>x_reg</a:t>
            </a:r>
            <a:r>
              <a:rPr lang="en-US" dirty="0"/>
              <a:t>, xsq_w2, y</a:t>
            </a:r>
          </a:p>
          <a:p>
            <a:pPr lvl="1"/>
            <a:r>
              <a:rPr lang="en-US" dirty="0"/>
              <a:t>2 </a:t>
            </a:r>
            <a:r>
              <a:rPr lang="en-US" dirty="0" err="1"/>
              <a:t>mults</a:t>
            </a:r>
            <a:r>
              <a:rPr lang="en-US" dirty="0"/>
              <a:t>, 2 adders = 8.5 ns</a:t>
            </a:r>
          </a:p>
          <a:p>
            <a:r>
              <a:rPr lang="en-US" dirty="0"/>
              <a:t>Path 2:  x, </a:t>
            </a:r>
            <a:r>
              <a:rPr lang="en-US" dirty="0" err="1"/>
              <a:t>x_reg</a:t>
            </a:r>
            <a:r>
              <a:rPr lang="en-US" dirty="0"/>
              <a:t>, x_w1, y</a:t>
            </a:r>
          </a:p>
          <a:p>
            <a:pPr lvl="1"/>
            <a:r>
              <a:rPr lang="en-US" dirty="0"/>
              <a:t>1 register, 1 </a:t>
            </a:r>
            <a:r>
              <a:rPr lang="en-US" dirty="0" err="1"/>
              <a:t>mult</a:t>
            </a:r>
            <a:r>
              <a:rPr lang="en-US" dirty="0"/>
              <a:t>, 2 adders = 5.5 ns</a:t>
            </a:r>
          </a:p>
          <a:p>
            <a:r>
              <a:rPr lang="en-US" dirty="0"/>
              <a:t>Path 1 is critical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661ED-ACB6-1F1B-7341-4BFDA341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8A388-7D9A-964A-6E24-A30F124C1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" y="3518335"/>
            <a:ext cx="4878705" cy="2512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28926154"/>
                  </p:ext>
                </p:extLst>
              </p:nvPr>
            </p:nvGraphicFramePr>
            <p:xfrm>
              <a:off x="1320559" y="1539277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3+3+1+1 = 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3+1+1=5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28926154"/>
                  </p:ext>
                </p:extLst>
              </p:nvPr>
            </p:nvGraphicFramePr>
            <p:xfrm>
              <a:off x="1320559" y="1539277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26" t="-108197" r="-101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26" t="-208197" r="-101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3+3+1+1 = 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3+1+1=5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042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1756-9B9C-BB13-E360-A2BE997D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1522E-5711-B32D-449C-2F901F2AB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05046" y="5215867"/>
                <a:ext cx="5950633" cy="653227"/>
              </a:xfrm>
            </p:spPr>
            <p:txBody>
              <a:bodyPr/>
              <a:lstStyle/>
              <a:p>
                <a:r>
                  <a:rPr lang="en-US" dirty="0"/>
                  <a:t>Timing diagram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ns (100 MHz)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1522E-5711-B32D-449C-2F901F2AB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5046" y="5215867"/>
                <a:ext cx="5950633" cy="653227"/>
              </a:xfrm>
              <a:blipFill>
                <a:blip r:embed="rId2"/>
                <a:stretch>
                  <a:fillRect l="-2459" t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059D-AFB9-2411-3A99-29842B31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4D8726-E503-889C-578D-8A869711D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085" y="1877986"/>
            <a:ext cx="7960900" cy="3066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8934DC-3C90-727A-8021-BCDA3F8BB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20" y="3633646"/>
            <a:ext cx="3917995" cy="204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3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9B8F-8227-BFD3-FC96-EB192739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Multiplier Utilization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651D81-F04F-1B4D-6D72-2EA6DCBEF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5578" y="1539277"/>
                <a:ext cx="5680101" cy="4329817"/>
              </a:xfrm>
            </p:spPr>
            <p:txBody>
              <a:bodyPr/>
              <a:lstStyle/>
              <a:p>
                <a:r>
                  <a:rPr lang="en-US" dirty="0"/>
                  <a:t>When are the multipliers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busy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Consider multiplier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Input is </a:t>
                </a:r>
                <a:r>
                  <a:rPr lang="en-US" dirty="0" err="1"/>
                  <a:t>xreg</a:t>
                </a:r>
                <a:r>
                  <a:rPr lang="en-US" dirty="0"/>
                  <a:t> available 0.5 ns after clock edge</a:t>
                </a:r>
              </a:p>
              <a:p>
                <a:pPr lvl="1"/>
                <a:r>
                  <a:rPr lang="en-US" dirty="0"/>
                  <a:t>Max PD for multiplier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𝑚𝑢𝑙𝑡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ns</a:t>
                </a:r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busy for [0.5, 3.5] ns in each interval</a:t>
                </a:r>
              </a:p>
              <a:p>
                <a:r>
                  <a:rPr lang="en-US" dirty="0"/>
                  <a:t>Rest of the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idle</a:t>
                </a:r>
              </a:p>
              <a:p>
                <a:pPr lvl="1"/>
                <a:r>
                  <a:rPr lang="en-US" dirty="0"/>
                  <a:t>Not being used.  “Waiting” for next input</a:t>
                </a:r>
              </a:p>
              <a:p>
                <a:r>
                  <a:rPr lang="en-US" dirty="0"/>
                  <a:t>Fraction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utilization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utilization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Busy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=30%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651D81-F04F-1B4D-6D72-2EA6DCBEF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5578" y="1539277"/>
                <a:ext cx="5680101" cy="4329817"/>
              </a:xfrm>
              <a:blipFill>
                <a:blip r:embed="rId2"/>
                <a:stretch>
                  <a:fillRect l="-257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BBE6A-F7D6-9064-DB54-CBE21734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DFEEB-BB13-3AD5-1658-68402CEC4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86" y="2404973"/>
            <a:ext cx="4779340" cy="24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9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F2B3AC-8F6D-3C8D-7BAD-A1736451E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2" y="1462774"/>
            <a:ext cx="7628368" cy="3923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CE9A48-C746-A910-3272-5CDEACBD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Utilization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FD60-9990-84ED-CFCC-5EDF882F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72B651F-F5EA-27FB-1460-1D7CF2962F60}"/>
              </a:ext>
            </a:extLst>
          </p:cNvPr>
          <p:cNvSpPr/>
          <p:nvPr/>
        </p:nvSpPr>
        <p:spPr>
          <a:xfrm>
            <a:off x="8224909" y="3873324"/>
            <a:ext cx="334742" cy="119575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3E91C-600A-9D38-7D21-29C96117036E}"/>
              </a:ext>
            </a:extLst>
          </p:cNvPr>
          <p:cNvSpPr txBox="1"/>
          <p:nvPr/>
        </p:nvSpPr>
        <p:spPr>
          <a:xfrm>
            <a:off x="8906267" y="3873324"/>
            <a:ext cx="2032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</a:rPr>
              <a:t>Each multiplier busy only once in clock period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B2CE0B-0F2C-52AB-DB0C-EC0BD5C204E5}"/>
              </a:ext>
            </a:extLst>
          </p:cNvPr>
          <p:cNvCxnSpPr>
            <a:cxnSpLocks/>
          </p:cNvCxnSpPr>
          <p:nvPr/>
        </p:nvCxnSpPr>
        <p:spPr>
          <a:xfrm>
            <a:off x="2992081" y="4359460"/>
            <a:ext cx="0" cy="14293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B1A3C-2E16-C195-F310-0D6029B2FF81}"/>
              </a:ext>
            </a:extLst>
          </p:cNvPr>
          <p:cNvCxnSpPr>
            <a:cxnSpLocks/>
          </p:cNvCxnSpPr>
          <p:nvPr/>
        </p:nvCxnSpPr>
        <p:spPr>
          <a:xfrm>
            <a:off x="3511714" y="4378509"/>
            <a:ext cx="0" cy="13912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397B2D-0B6A-9733-FF6D-44ECEFD71188}"/>
              </a:ext>
            </a:extLst>
          </p:cNvPr>
          <p:cNvCxnSpPr/>
          <p:nvPr/>
        </p:nvCxnSpPr>
        <p:spPr>
          <a:xfrm>
            <a:off x="2207696" y="5552075"/>
            <a:ext cx="784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213F81-D010-CFC7-C317-1AF3DC1C198E}"/>
              </a:ext>
            </a:extLst>
          </p:cNvPr>
          <p:cNvCxnSpPr>
            <a:cxnSpLocks/>
          </p:cNvCxnSpPr>
          <p:nvPr/>
        </p:nvCxnSpPr>
        <p:spPr>
          <a:xfrm flipH="1">
            <a:off x="3511714" y="5552075"/>
            <a:ext cx="537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D447B5-9644-72A0-E733-D83518D4AB78}"/>
                  </a:ext>
                </a:extLst>
              </p:cNvPr>
              <p:cNvSpPr txBox="1"/>
              <p:nvPr/>
            </p:nvSpPr>
            <p:spPr>
              <a:xfrm>
                <a:off x="781455" y="5369698"/>
                <a:ext cx="17770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 busy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D447B5-9644-72A0-E733-D83518D4A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55" y="5369698"/>
                <a:ext cx="1777040" cy="400110"/>
              </a:xfrm>
              <a:prstGeom prst="rect">
                <a:avLst/>
              </a:prstGeom>
              <a:blipFill>
                <a:blip r:embed="rId3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155633-6E32-EB88-3711-C76C89D6F23B}"/>
              </a:ext>
            </a:extLst>
          </p:cNvPr>
          <p:cNvCxnSpPr>
            <a:cxnSpLocks/>
          </p:cNvCxnSpPr>
          <p:nvPr/>
        </p:nvCxnSpPr>
        <p:spPr>
          <a:xfrm>
            <a:off x="5200618" y="4187703"/>
            <a:ext cx="0" cy="14293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52E424-77A2-6134-4C83-E73C44BAE3FD}"/>
              </a:ext>
            </a:extLst>
          </p:cNvPr>
          <p:cNvCxnSpPr>
            <a:cxnSpLocks/>
          </p:cNvCxnSpPr>
          <p:nvPr/>
        </p:nvCxnSpPr>
        <p:spPr>
          <a:xfrm>
            <a:off x="5705095" y="4206752"/>
            <a:ext cx="0" cy="13912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1E19F6-6533-FA8C-51FC-C9AAE6D0B4E7}"/>
              </a:ext>
            </a:extLst>
          </p:cNvPr>
          <p:cNvCxnSpPr/>
          <p:nvPr/>
        </p:nvCxnSpPr>
        <p:spPr>
          <a:xfrm>
            <a:off x="4416233" y="5380318"/>
            <a:ext cx="784385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6CD5FF-4781-CE25-1919-089434CC2CF2}"/>
              </a:ext>
            </a:extLst>
          </p:cNvPr>
          <p:cNvCxnSpPr>
            <a:cxnSpLocks/>
          </p:cNvCxnSpPr>
          <p:nvPr/>
        </p:nvCxnSpPr>
        <p:spPr>
          <a:xfrm flipH="1">
            <a:off x="5720251" y="5380318"/>
            <a:ext cx="537722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683328-645A-8BA3-7876-2889FE014804}"/>
                  </a:ext>
                </a:extLst>
              </p:cNvPr>
              <p:cNvSpPr txBox="1"/>
              <p:nvPr/>
            </p:nvSpPr>
            <p:spPr>
              <a:xfrm>
                <a:off x="5858706" y="5511643"/>
                <a:ext cx="17770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accent5">
                        <a:lumMod val="50000"/>
                      </a:schemeClr>
                    </a:solidFill>
                  </a:rPr>
                  <a:t> busy</a:t>
                </a:r>
                <a:endParaRPr lang="en-US" sz="2000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683328-645A-8BA3-7876-2889FE014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706" y="5511643"/>
                <a:ext cx="1777040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07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A53D-CBAF-4383-0C61-9CCD488D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Utilization with Single Cycle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F2778-A644-AF03-1129-2BCB6A87A5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5247949" cy="4329817"/>
              </a:xfrm>
            </p:spPr>
            <p:txBody>
              <a:bodyPr/>
              <a:lstStyle/>
              <a:p>
                <a:r>
                  <a:rPr lang="en-US" dirty="0"/>
                  <a:t>From previous slide:</a:t>
                </a:r>
              </a:p>
              <a:p>
                <a:pPr lvl="1"/>
                <a:r>
                  <a:rPr lang="en-US" dirty="0"/>
                  <a:t>Critical path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Two multipliers + two adders</a:t>
                </a:r>
              </a:p>
              <a:p>
                <a:r>
                  <a:rPr lang="en-US" dirty="0"/>
                  <a:t>To close timing, assume parameters to right:</a:t>
                </a:r>
              </a:p>
              <a:p>
                <a:pPr lvl="1"/>
                <a:r>
                  <a:rPr lang="en-US" dirty="0"/>
                  <a:t>Find min clock period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=9.5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ns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Each </a:t>
                </a:r>
                <a:r>
                  <a:rPr lang="en-US" dirty="0" err="1"/>
                  <a:t>multipier</a:t>
                </a:r>
                <a:r>
                  <a:rPr lang="en-US" dirty="0"/>
                  <a:t> is busy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𝑚𝑢𝑙𝑡</m:t>
                        </m:r>
                      </m:sub>
                    </m:sSub>
                  </m:oMath>
                </a14:m>
                <a:r>
                  <a:rPr lang="en-US" dirty="0"/>
                  <a:t> per clock period</a:t>
                </a:r>
              </a:p>
              <a:p>
                <a:r>
                  <a:rPr lang="en-US" dirty="0"/>
                  <a:t>Best utilization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𝑈𝑡𝑖𝑖𝑧𝑎𝑡𝑖𝑜𝑛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𝑚𝑢𝑙𝑡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9.5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≈0.31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F2778-A644-AF03-1129-2BCB6A87A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5247949" cy="4329817"/>
              </a:xfrm>
              <a:blipFill>
                <a:blip r:embed="rId2"/>
                <a:stretch>
                  <a:fillRect l="-278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10FFF-93CC-83ED-2135-0C3F1BBE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5A9BB9FC-96AA-DEA8-E930-68680C205E5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39055013"/>
                  </p:ext>
                </p:extLst>
              </p:nvPr>
            </p:nvGraphicFramePr>
            <p:xfrm>
              <a:off x="6436165" y="1599900"/>
              <a:ext cx="5077192" cy="28955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3269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473923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Item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(</a:t>
                          </a:r>
                          <a:r>
                            <a:rPr lang="en-US" dirty="0" err="1"/>
                            <a:t>clk</a:t>
                          </a:r>
                          <a:r>
                            <a:rPr lang="en-US" dirty="0"/>
                            <a:t>-Q) delay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 0.5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set up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𝑠𝑒𝑡𝑢𝑝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 1 ns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5163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Crtitcal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path delay</a:t>
                          </a:r>
                          <a:br>
                            <a:rPr lang="en-US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(in combinational logic)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3+3+1+1 = 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Min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8.5+0.5+1= 9.5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5A9BB9FC-96AA-DEA8-E930-68680C205E5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39055013"/>
                  </p:ext>
                </p:extLst>
              </p:nvPr>
            </p:nvGraphicFramePr>
            <p:xfrm>
              <a:off x="6436165" y="1599900"/>
              <a:ext cx="5077192" cy="28955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3269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473923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Item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8512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(</a:t>
                          </a:r>
                          <a:r>
                            <a:rPr lang="en-US" dirty="0" err="1"/>
                            <a:t>clk</a:t>
                          </a:r>
                          <a:r>
                            <a:rPr lang="en-US" dirty="0"/>
                            <a:t>-Q) delay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104762" r="-985" b="-582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211475" r="-985" b="-5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311475" r="-985" b="-4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set up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392188" r="-985" b="-282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5163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Crtitcal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path delay</a:t>
                          </a:r>
                          <a:br>
                            <a:rPr lang="en-US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(in combinational logic)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300000" r="-985" b="-7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4" t="-688525" r="-9579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688525" r="-985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2743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improve throughput by breaking computation over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9BBA-A50E-FE84-C290-1308077A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Design is processed in three stages = 2 cycles</a:t>
                </a:r>
              </a:p>
              <a:p>
                <a:r>
                  <a:rPr lang="en-US" dirty="0"/>
                  <a:t>Stage 0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dirty="0"/>
                  <a:t>Stage 1:  Compute and register:</a:t>
                </a: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*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w1*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w0</a:t>
                </a:r>
              </a:p>
              <a:p>
                <a:r>
                  <a:rPr lang="en-US" dirty="0"/>
                  <a:t>Stage 2: Compute output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= w2*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5EA0-8335-E815-2F77-A4824334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13C95-29D4-0DDB-81C3-4DC2051B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906" y="1771988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5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1647-563F-100C-FA3C-8463A466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Timing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158F-671C-6F4F-7A35-B8A7ED52B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562" y="1539277"/>
            <a:ext cx="3027118" cy="4329817"/>
          </a:xfrm>
        </p:spPr>
        <p:txBody>
          <a:bodyPr/>
          <a:lstStyle/>
          <a:p>
            <a:r>
              <a:rPr lang="en-US" dirty="0"/>
              <a:t>Processing via a “pipeline”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90F5B-B22A-3515-BFF2-B387E8AA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1D3D20-4EBE-54E2-6C29-D3A3664F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367918"/>
            <a:ext cx="7926484" cy="3307903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0D6C6086-85EE-3A46-0D5D-083CBA222ECF}"/>
              </a:ext>
            </a:extLst>
          </p:cNvPr>
          <p:cNvSpPr/>
          <p:nvPr/>
        </p:nvSpPr>
        <p:spPr>
          <a:xfrm>
            <a:off x="7926485" y="4405286"/>
            <a:ext cx="328375" cy="93154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74A54-2090-D03A-E74D-71301146DD63}"/>
              </a:ext>
            </a:extLst>
          </p:cNvPr>
          <p:cNvSpPr txBox="1"/>
          <p:nvPr/>
        </p:nvSpPr>
        <p:spPr>
          <a:xfrm>
            <a:off x="8330300" y="4303060"/>
            <a:ext cx="2032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</a:rPr>
              <a:t>Multipliers working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614683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CB0-43D0-6222-A503-A386B0C2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F520833-0DDB-E574-9892-0310C79735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20892044"/>
                  </p:ext>
                </p:extLst>
              </p:nvPr>
            </p:nvGraphicFramePr>
            <p:xfrm>
              <a:off x="1096963" y="1539875"/>
              <a:ext cx="9561856" cy="33536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0464">
                      <a:extLst>
                        <a:ext uri="{9D8B030D-6E8A-4147-A177-3AD203B41FA5}">
                          <a16:colId xmlns:a16="http://schemas.microsoft.com/office/drawing/2014/main" val="4283726672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1721545586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817107790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2854138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1286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+ Setup time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𝑠𝑒𝑡𝑢𝑝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279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944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319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 PD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3+3+1+1=8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3+1=4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0218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clock period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88808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105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181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4206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 9.5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 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667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utilization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𝑚𝑢𝑙𝑡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𝑐𝑙𝑘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5548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F520833-0DDB-E574-9892-0310C79735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20892044"/>
                  </p:ext>
                </p:extLst>
              </p:nvPr>
            </p:nvGraphicFramePr>
            <p:xfrm>
              <a:off x="1096963" y="1539875"/>
              <a:ext cx="9561856" cy="33536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0464">
                      <a:extLst>
                        <a:ext uri="{9D8B030D-6E8A-4147-A177-3AD203B41FA5}">
                          <a16:colId xmlns:a16="http://schemas.microsoft.com/office/drawing/2014/main" val="4283726672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1721545586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817107790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2854138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1286386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+ Setup time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103125" r="-201276" b="-832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279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216667" r="-201276" b="-78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944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311475" r="-201276" b="-6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319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 PD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411475" r="-201276" b="-5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3+3+1+1=8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3+1=4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0218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clock period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511475" r="-201276" b="-4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88808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611475" r="-201276" b="-3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105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181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4206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711475" r="-100763" b="-2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765" t="-711475" r="-1020" b="-275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2667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utilization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811475" r="-201276" b="-1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55483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63B21-6AD1-BEC4-CF4E-CABD18A3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EFC69C-D2AC-986B-149E-695975A857BD}"/>
              </a:ext>
            </a:extLst>
          </p:cNvPr>
          <p:cNvSpPr/>
          <p:nvPr/>
        </p:nvSpPr>
        <p:spPr>
          <a:xfrm>
            <a:off x="2035677" y="5106625"/>
            <a:ext cx="7674139" cy="5910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Pipelining:  Higher throughput via better utilization</a:t>
            </a:r>
          </a:p>
        </p:txBody>
      </p:sp>
    </p:spTree>
    <p:extLst>
      <p:ext uri="{BB962C8B-B14F-4D97-AF65-F5344CB8AC3E}">
        <p14:creationId xmlns:p14="http://schemas.microsoft.com/office/powerpoint/2010/main" val="1142098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CEE4-99F6-3AF0-8B56-013CF247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Pipelining for a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EDB67-C14E-C49D-9E83-DF398E52E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124" y="1539278"/>
            <a:ext cx="4820555" cy="7007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Insert registers on each stage</a:t>
            </a:r>
          </a:p>
          <a:p>
            <a:r>
              <a:rPr lang="en-US" dirty="0"/>
              <a:t>Use suffixes s0, s1, s2 to indicate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E856A-4507-F13C-87A1-C1A31B06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D8E77B-742B-78BC-CB54-59BDCA89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801" y="2323638"/>
            <a:ext cx="4257894" cy="8382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CF15E7-FB16-1926-7DE5-314D97A85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796" y="4366641"/>
            <a:ext cx="6096313" cy="800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AF5928-610F-E7BB-ECB4-2415849C5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488" y="1699872"/>
            <a:ext cx="2969849" cy="17954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17E679-9053-6D21-84C2-2ADBD38D3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488" y="3729652"/>
            <a:ext cx="3148867" cy="179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69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0B58-1263-1E5C-267F-3C063FC9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Cycle-by-Cycle Timing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8A72CBC-93B8-E649-C6D3-4F05D12956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83759057"/>
                  </p:ext>
                </p:extLst>
              </p:nvPr>
            </p:nvGraphicFramePr>
            <p:xfrm>
              <a:off x="1096962" y="153987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8A72CBC-93B8-E649-C6D3-4F05D12956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83759057"/>
                  </p:ext>
                </p:extLst>
              </p:nvPr>
            </p:nvGraphicFramePr>
            <p:xfrm>
              <a:off x="1096962" y="153987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1595" t="-8197" r="-507975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2208" t="-8197" r="-437662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308197" r="-287356" b="-4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408197" r="-287356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408197" r="-152525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408197" r="-1684" b="-3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508197" r="-287356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508197" r="-152525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508197" r="-1684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608197" r="-287356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608197" r="-152525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608197" r="-1684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708197" r="-152525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708197" r="-1684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3A39B-FBCC-2605-4CFE-21E2CEDC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0C46A-53E1-8B8B-8611-F525CA8A5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06" y="5072913"/>
            <a:ext cx="6096313" cy="800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FBADE1-1773-176D-F7AA-09DB149BC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579" y="1893132"/>
            <a:ext cx="3148867" cy="179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4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5DB8-033F-093D-FA97-3FFC29F2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8A806-AB02-1E04-C943-4BCAD31283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Initiation Interval </a:t>
                </a:r>
                <a:r>
                  <a:rPr lang="en-US" dirty="0"/>
                  <a:t>(II)</a:t>
                </a:r>
              </a:p>
              <a:p>
                <a:pPr lvl="1"/>
                <a:r>
                  <a:rPr lang="en-US" dirty="0"/>
                  <a:t>Minimum number cycles between the start of two inputs entering the pipeline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Latency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Number of cycles between an input and when output is available</a:t>
                </a:r>
              </a:p>
              <a:p>
                <a:pPr lvl="1"/>
                <a:r>
                  <a:rPr lang="en-US" dirty="0"/>
                  <a:t>If input is available before end of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output available before end of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Equal to number of stages between registered inputs</a:t>
                </a:r>
                <a:endParaRPr lang="en-US" b="0" dirty="0"/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Number of samples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Number of consecutive input samples 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Total processing time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8A806-AB02-1E04-C943-4BCAD3128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6443A-0431-DBDB-350B-F5ED36EE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011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089E-D46F-7B2A-D599-0CABEAD2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9541-29EC-D93D-4D85-A90149C1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Terminology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96A9179-BAC8-E9E6-A2F8-83D326F0A78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1199844"/>
                  </p:ext>
                </p:extLst>
              </p:nvPr>
            </p:nvGraphicFramePr>
            <p:xfrm>
              <a:off x="4794978" y="151461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96A9179-BAC8-E9E6-A2F8-83D326F0A78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1199844"/>
                  </p:ext>
                </p:extLst>
              </p:nvPr>
            </p:nvGraphicFramePr>
            <p:xfrm>
              <a:off x="4794978" y="151461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1595" t="-8197" r="-507362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2208" t="-8197" r="-437013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308197" r="-286782" b="-4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408197" r="-286782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408197" r="-152020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408197" r="-1347" b="-3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508197" r="-286782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508197" r="-152020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508197" r="-1347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608197" r="-286782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608197" r="-152020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608197" r="-1347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708197" r="-15202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708197" r="-1347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FDC54-6F80-0F40-B76B-A5CEBE7D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8D461-41CA-2783-BB79-18412B64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06" y="5072913"/>
            <a:ext cx="6096313" cy="80014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83F9A5-52B9-1C01-C929-7F543F443C6C}"/>
              </a:ext>
            </a:extLst>
          </p:cNvPr>
          <p:cNvCxnSpPr>
            <a:cxnSpLocks/>
          </p:cNvCxnSpPr>
          <p:nvPr/>
        </p:nvCxnSpPr>
        <p:spPr>
          <a:xfrm>
            <a:off x="2485552" y="1995514"/>
            <a:ext cx="206118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00D2B8-9E88-5A85-53C7-ECA901B26A4A}"/>
              </a:ext>
            </a:extLst>
          </p:cNvPr>
          <p:cNvCxnSpPr>
            <a:cxnSpLocks/>
          </p:cNvCxnSpPr>
          <p:nvPr/>
        </p:nvCxnSpPr>
        <p:spPr>
          <a:xfrm>
            <a:off x="4023519" y="2435874"/>
            <a:ext cx="52322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9A1084-AC17-9642-DD5F-792B1968AAE5}"/>
              </a:ext>
            </a:extLst>
          </p:cNvPr>
          <p:cNvCxnSpPr/>
          <p:nvPr/>
        </p:nvCxnSpPr>
        <p:spPr>
          <a:xfrm>
            <a:off x="4334559" y="1995514"/>
            <a:ext cx="0" cy="44457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70C36A-919B-D87F-7D09-BDD81A5C9D67}"/>
                  </a:ext>
                </a:extLst>
              </p:cNvPr>
              <p:cNvSpPr txBox="1"/>
              <p:nvPr/>
            </p:nvSpPr>
            <p:spPr>
              <a:xfrm>
                <a:off x="3431798" y="2070753"/>
                <a:ext cx="1081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70C36A-919B-D87F-7D09-BDD81A5C9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98" y="2070753"/>
                <a:ext cx="108111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3C4774-D6E9-8600-50C5-F0CEFBB4DC07}"/>
              </a:ext>
            </a:extLst>
          </p:cNvPr>
          <p:cNvCxnSpPr>
            <a:cxnSpLocks/>
          </p:cNvCxnSpPr>
          <p:nvPr/>
        </p:nvCxnSpPr>
        <p:spPr>
          <a:xfrm>
            <a:off x="2419877" y="3245026"/>
            <a:ext cx="21268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FBA2D1-4077-7F5A-EC79-517C05777749}"/>
              </a:ext>
            </a:extLst>
          </p:cNvPr>
          <p:cNvCxnSpPr>
            <a:cxnSpLocks/>
          </p:cNvCxnSpPr>
          <p:nvPr/>
        </p:nvCxnSpPr>
        <p:spPr>
          <a:xfrm>
            <a:off x="2971379" y="1991304"/>
            <a:ext cx="0" cy="1211622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0D53E2-6562-B8C9-A4D1-7CCEFD6E5B5F}"/>
                  </a:ext>
                </a:extLst>
              </p:cNvPr>
              <p:cNvSpPr txBox="1"/>
              <p:nvPr/>
            </p:nvSpPr>
            <p:spPr>
              <a:xfrm>
                <a:off x="2028203" y="2490495"/>
                <a:ext cx="1081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0D53E2-6562-B8C9-A4D1-7CCEFD6E5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203" y="2490495"/>
                <a:ext cx="10811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4874515-A291-6188-51FA-0A637EFCA7A6}"/>
              </a:ext>
            </a:extLst>
          </p:cNvPr>
          <p:cNvSpPr txBox="1">
            <a:spLocks/>
          </p:cNvSpPr>
          <p:nvPr/>
        </p:nvSpPr>
        <p:spPr>
          <a:xfrm>
            <a:off x="747686" y="4605474"/>
            <a:ext cx="4820555" cy="700732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registers on each stage</a:t>
            </a:r>
          </a:p>
          <a:p>
            <a:r>
              <a:rPr lang="en-US"/>
              <a:t>Use suffixes s0, s1, s2 to indicate stage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302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E31A-6E5C-1CE4-72BD-0F23F1DB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with Multiple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5E0A8-2A7D-C3B0-C848-7D7CEF52F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Now consider a more complex example with multiple paths</a:t>
            </a:r>
          </a:p>
          <a:p>
            <a:r>
              <a:rPr lang="en-US" sz="2400" dirty="0"/>
              <a:t>How do we pipeline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1608-A4E5-224F-A0A6-9D04444D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5A494-64E0-59E3-CB9C-75EABB1A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25" y="2220156"/>
            <a:ext cx="3802060" cy="2804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FAFEE2-C5E9-7028-364F-E236092D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748419"/>
            <a:ext cx="6090507" cy="235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55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2D1C-AF3F-168F-88CE-2CD33750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D13A-4056-1F84-77B5-699D49BF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Pipelining: Identify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2B687-838F-33E7-7F8E-703FBEF44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567" y="1539277"/>
            <a:ext cx="4937239" cy="4329817"/>
          </a:xfrm>
        </p:spPr>
        <p:txBody>
          <a:bodyPr>
            <a:normAutofit/>
          </a:bodyPr>
          <a:lstStyle/>
          <a:p>
            <a:r>
              <a:rPr lang="en-US" sz="2400" dirty="0"/>
              <a:t>First, we draw the stages</a:t>
            </a:r>
          </a:p>
          <a:p>
            <a:pPr lvl="1"/>
            <a:r>
              <a:rPr lang="en-US" sz="2200" dirty="0"/>
              <a:t>Shown in the vertical lines</a:t>
            </a:r>
          </a:p>
          <a:p>
            <a:r>
              <a:rPr lang="en-US" sz="2400" dirty="0"/>
              <a:t>Stage 0:  Inputs to registers</a:t>
            </a:r>
          </a:p>
          <a:p>
            <a:pPr lvl="1"/>
            <a:r>
              <a:rPr lang="en-US" sz="2200" dirty="0"/>
              <a:t>This stage will exist in non-pipeline code</a:t>
            </a:r>
          </a:p>
          <a:p>
            <a:r>
              <a:rPr lang="en-US" sz="2400" dirty="0"/>
              <a:t>Stage 1, 2, …</a:t>
            </a:r>
          </a:p>
          <a:p>
            <a:pPr lvl="1"/>
            <a:r>
              <a:rPr lang="en-US" sz="2200" dirty="0"/>
              <a:t>Will end where we will put registers</a:t>
            </a:r>
          </a:p>
          <a:p>
            <a:pPr lvl="1"/>
            <a:r>
              <a:rPr lang="en-US" sz="2200" dirty="0"/>
              <a:t>Ensure that each stage can be computed in sufficient time</a:t>
            </a:r>
          </a:p>
          <a:p>
            <a:r>
              <a:rPr lang="en-US" sz="2400" dirty="0"/>
              <a:t>Output stage is combinational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AEA9A-ABD6-81FB-8C1B-1EBA14E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89CA2C-8D0F-1EF6-65D6-DCCEA9C28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9" y="2612017"/>
            <a:ext cx="6090507" cy="235761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999941-54C8-4D25-5D1A-E308751A67F4}"/>
              </a:ext>
            </a:extLst>
          </p:cNvPr>
          <p:cNvCxnSpPr/>
          <p:nvPr/>
        </p:nvCxnSpPr>
        <p:spPr>
          <a:xfrm>
            <a:off x="1846736" y="2612017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E5EF08-2288-9AFB-34D6-8884487148CF}"/>
              </a:ext>
            </a:extLst>
          </p:cNvPr>
          <p:cNvCxnSpPr/>
          <p:nvPr/>
        </p:nvCxnSpPr>
        <p:spPr>
          <a:xfrm>
            <a:off x="3469249" y="2581956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58E124-9B1D-E54E-816C-A6B89BFACCE1}"/>
              </a:ext>
            </a:extLst>
          </p:cNvPr>
          <p:cNvCxnSpPr/>
          <p:nvPr/>
        </p:nvCxnSpPr>
        <p:spPr>
          <a:xfrm>
            <a:off x="4601724" y="2551894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10C96D-E4BF-8EC7-C992-06094F0F09D3}"/>
              </a:ext>
            </a:extLst>
          </p:cNvPr>
          <p:cNvSpPr txBox="1"/>
          <p:nvPr/>
        </p:nvSpPr>
        <p:spPr>
          <a:xfrm>
            <a:off x="2276099" y="2397290"/>
            <a:ext cx="86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C4933-972C-7447-EC01-30D7AE5421E5}"/>
              </a:ext>
            </a:extLst>
          </p:cNvPr>
          <p:cNvSpPr txBox="1"/>
          <p:nvPr/>
        </p:nvSpPr>
        <p:spPr>
          <a:xfrm>
            <a:off x="820773" y="2427351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7FFE6-E214-3A3C-B6E8-C27D0969AB2D}"/>
              </a:ext>
            </a:extLst>
          </p:cNvPr>
          <p:cNvSpPr txBox="1"/>
          <p:nvPr/>
        </p:nvSpPr>
        <p:spPr>
          <a:xfrm>
            <a:off x="3678348" y="2397290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38625B-1A03-9AE8-021A-F8CF3B426227}"/>
              </a:ext>
            </a:extLst>
          </p:cNvPr>
          <p:cNvSpPr txBox="1"/>
          <p:nvPr/>
        </p:nvSpPr>
        <p:spPr>
          <a:xfrm>
            <a:off x="4783716" y="2367228"/>
            <a:ext cx="1556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Combinational</a:t>
            </a:r>
          </a:p>
        </p:txBody>
      </p:sp>
    </p:spTree>
    <p:extLst>
      <p:ext uri="{BB962C8B-B14F-4D97-AF65-F5344CB8AC3E}">
        <p14:creationId xmlns:p14="http://schemas.microsoft.com/office/powerpoint/2010/main" val="287771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2CA0-54DF-B178-4166-6226EAAB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77F6-46D4-8104-F160-D8AAD6FE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Pipelining: Register 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8058-D871-8364-4301-EECB80D2E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567" y="1539277"/>
            <a:ext cx="4937239" cy="4329817"/>
          </a:xfrm>
        </p:spPr>
        <p:txBody>
          <a:bodyPr>
            <a:normAutofit/>
          </a:bodyPr>
          <a:lstStyle/>
          <a:p>
            <a:r>
              <a:rPr lang="en-US" sz="2400" dirty="0"/>
              <a:t>Place registers at stage crossing</a:t>
            </a:r>
          </a:p>
          <a:p>
            <a:r>
              <a:rPr lang="en-US" sz="2400" dirty="0"/>
              <a:t>Shown in blue circles</a:t>
            </a:r>
          </a:p>
          <a:p>
            <a:r>
              <a:rPr lang="en-US" sz="2400" dirty="0"/>
              <a:t>Note:  Need register even when</a:t>
            </a:r>
            <a:endParaRPr lang="en-US" sz="2200" dirty="0"/>
          </a:p>
          <a:p>
            <a:pPr lvl="1"/>
            <a:r>
              <a:rPr lang="en-US" sz="2200"/>
              <a:t>Signal </a:t>
            </a:r>
            <a:r>
              <a:rPr lang="en-US" sz="2200" dirty="0"/>
              <a:t>is just a pass 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AE59C-8A12-5714-A846-F4368DFB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C1CFFA-83D8-D860-56F7-E6141B56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9" y="2612017"/>
            <a:ext cx="6090507" cy="235761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179C77-0284-308B-03F0-AD1717FFEDBD}"/>
              </a:ext>
            </a:extLst>
          </p:cNvPr>
          <p:cNvCxnSpPr/>
          <p:nvPr/>
        </p:nvCxnSpPr>
        <p:spPr>
          <a:xfrm>
            <a:off x="1846736" y="2612017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F3A73A-2712-D2D3-E258-00F3EEA11593}"/>
              </a:ext>
            </a:extLst>
          </p:cNvPr>
          <p:cNvCxnSpPr/>
          <p:nvPr/>
        </p:nvCxnSpPr>
        <p:spPr>
          <a:xfrm>
            <a:off x="3469249" y="2581956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3C099D-0709-082D-2CF7-5772926333A4}"/>
              </a:ext>
            </a:extLst>
          </p:cNvPr>
          <p:cNvCxnSpPr/>
          <p:nvPr/>
        </p:nvCxnSpPr>
        <p:spPr>
          <a:xfrm>
            <a:off x="4601724" y="2551894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EE14C9-860A-0C2A-8A2B-E3E725C6F3FB}"/>
              </a:ext>
            </a:extLst>
          </p:cNvPr>
          <p:cNvSpPr txBox="1"/>
          <p:nvPr/>
        </p:nvSpPr>
        <p:spPr>
          <a:xfrm>
            <a:off x="2276099" y="2397289"/>
            <a:ext cx="86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4CE0B-ABF4-4090-0F11-D40A481D1827}"/>
              </a:ext>
            </a:extLst>
          </p:cNvPr>
          <p:cNvSpPr txBox="1"/>
          <p:nvPr/>
        </p:nvSpPr>
        <p:spPr>
          <a:xfrm>
            <a:off x="820773" y="2397289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8BBC2-7CB5-1A62-7B0A-5F159102FB4F}"/>
              </a:ext>
            </a:extLst>
          </p:cNvPr>
          <p:cNvSpPr txBox="1"/>
          <p:nvPr/>
        </p:nvSpPr>
        <p:spPr>
          <a:xfrm>
            <a:off x="3598203" y="2397289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BD62C1-3C36-AADB-C485-45D987DAE72A}"/>
              </a:ext>
            </a:extLst>
          </p:cNvPr>
          <p:cNvSpPr txBox="1"/>
          <p:nvPr/>
        </p:nvSpPr>
        <p:spPr>
          <a:xfrm>
            <a:off x="4783716" y="2397289"/>
            <a:ext cx="1556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Combinational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83C70C-E7DD-F48E-2939-6A8C89AE71C9}"/>
              </a:ext>
            </a:extLst>
          </p:cNvPr>
          <p:cNvSpPr/>
          <p:nvPr/>
        </p:nvSpPr>
        <p:spPr>
          <a:xfrm>
            <a:off x="3263549" y="2736560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0A67BD-BF5B-F4D3-6AF6-C0791A04C6A4}"/>
              </a:ext>
            </a:extLst>
          </p:cNvPr>
          <p:cNvSpPr/>
          <p:nvPr/>
        </p:nvSpPr>
        <p:spPr>
          <a:xfrm>
            <a:off x="3263549" y="3382777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2A19A9-82D4-437F-DD5F-0FCE9D1C2F27}"/>
              </a:ext>
            </a:extLst>
          </p:cNvPr>
          <p:cNvSpPr/>
          <p:nvPr/>
        </p:nvSpPr>
        <p:spPr>
          <a:xfrm>
            <a:off x="3296335" y="4316227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411E40-337E-6F70-D72E-72D09789D705}"/>
              </a:ext>
            </a:extLst>
          </p:cNvPr>
          <p:cNvSpPr/>
          <p:nvPr/>
        </p:nvSpPr>
        <p:spPr>
          <a:xfrm>
            <a:off x="4392102" y="4316227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ED2ABF5-5DA9-B156-D6BA-36ECB84FDF5A}"/>
              </a:ext>
            </a:extLst>
          </p:cNvPr>
          <p:cNvSpPr/>
          <p:nvPr/>
        </p:nvSpPr>
        <p:spPr>
          <a:xfrm>
            <a:off x="4424692" y="3356758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7F6F38-C671-A369-AA4B-A47C8485A0AB}"/>
              </a:ext>
            </a:extLst>
          </p:cNvPr>
          <p:cNvSpPr/>
          <p:nvPr/>
        </p:nvSpPr>
        <p:spPr>
          <a:xfrm>
            <a:off x="6570120" y="4387665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9F851-B5B0-BFE2-4239-D2E2DBAF2204}"/>
              </a:ext>
            </a:extLst>
          </p:cNvPr>
          <p:cNvSpPr txBox="1"/>
          <p:nvPr/>
        </p:nvSpPr>
        <p:spPr>
          <a:xfrm>
            <a:off x="6992998" y="4387665"/>
            <a:ext cx="2023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Register locations</a:t>
            </a:r>
          </a:p>
        </p:txBody>
      </p:sp>
    </p:spTree>
    <p:extLst>
      <p:ext uri="{BB962C8B-B14F-4D97-AF65-F5344CB8AC3E}">
        <p14:creationId xmlns:p14="http://schemas.microsoft.com/office/powerpoint/2010/main" val="2576750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6C18-B2B2-1EBD-5852-02604345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Pipelined Diagram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B800C-5EE2-DD10-6DD2-D9E692A7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3756FA-0309-5656-9507-7CA94D3A2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501" y="2140391"/>
            <a:ext cx="3856400" cy="31179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2695FD-EB5D-51E3-3922-AA0D00584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3" y="2326580"/>
            <a:ext cx="7490608" cy="25787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DC4126-E1C2-D7ED-2885-638C9518D6EE}"/>
              </a:ext>
            </a:extLst>
          </p:cNvPr>
          <p:cNvSpPr txBox="1"/>
          <p:nvPr/>
        </p:nvSpPr>
        <p:spPr>
          <a:xfrm>
            <a:off x="2154194" y="5345027"/>
            <a:ext cx="86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A54FFA-E2FF-BEC8-C00A-F401BA9A4575}"/>
              </a:ext>
            </a:extLst>
          </p:cNvPr>
          <p:cNvSpPr txBox="1"/>
          <p:nvPr/>
        </p:nvSpPr>
        <p:spPr>
          <a:xfrm>
            <a:off x="405857" y="5386874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13A5A-764E-C4F1-DE20-3593552CED97}"/>
              </a:ext>
            </a:extLst>
          </p:cNvPr>
          <p:cNvSpPr txBox="1"/>
          <p:nvPr/>
        </p:nvSpPr>
        <p:spPr>
          <a:xfrm>
            <a:off x="4238454" y="5350079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C77325-866E-07CB-2DC4-9FFE284E4AF3}"/>
              </a:ext>
            </a:extLst>
          </p:cNvPr>
          <p:cNvCxnSpPr/>
          <p:nvPr/>
        </p:nvCxnSpPr>
        <p:spPr>
          <a:xfrm>
            <a:off x="3680294" y="2373893"/>
            <a:ext cx="0" cy="2954215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249469-8907-5550-C094-3D1207AED6BA}"/>
              </a:ext>
            </a:extLst>
          </p:cNvPr>
          <p:cNvCxnSpPr/>
          <p:nvPr/>
        </p:nvCxnSpPr>
        <p:spPr>
          <a:xfrm>
            <a:off x="1534064" y="2373893"/>
            <a:ext cx="0" cy="2954215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07F53D-8508-D1CA-6643-30CE9DE8AB69}"/>
              </a:ext>
            </a:extLst>
          </p:cNvPr>
          <p:cNvCxnSpPr/>
          <p:nvPr/>
        </p:nvCxnSpPr>
        <p:spPr>
          <a:xfrm>
            <a:off x="5823998" y="2326580"/>
            <a:ext cx="0" cy="2954215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65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626F-5E40-2741-553D-6AE4E3EF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Accesses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B6C3-8117-6642-392D-14C16DE7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reads and writes:</a:t>
            </a:r>
          </a:p>
          <a:p>
            <a:pPr lvl="1"/>
            <a:r>
              <a:rPr lang="en-US" dirty="0"/>
              <a:t>Generally take at least on cycle delay</a:t>
            </a:r>
          </a:p>
          <a:p>
            <a:pPr lvl="1"/>
            <a:r>
              <a:rPr lang="en-US" dirty="0"/>
              <a:t>Hardware provides an address</a:t>
            </a:r>
          </a:p>
          <a:p>
            <a:pPr lvl="1"/>
            <a:r>
              <a:rPr lang="en-US" dirty="0"/>
              <a:t>Memory location fetched with an address decoder</a:t>
            </a:r>
          </a:p>
          <a:p>
            <a:r>
              <a:rPr lang="en-US" dirty="0"/>
              <a:t>Pipelining must account for this delay</a:t>
            </a:r>
          </a:p>
          <a:p>
            <a:r>
              <a:rPr lang="en-US" dirty="0"/>
              <a:t>Example to the right:</a:t>
            </a:r>
          </a:p>
          <a:p>
            <a:pPr lvl="1"/>
            <a:r>
              <a:rPr lang="en-US" dirty="0"/>
              <a:t>Takes elementwise product</a:t>
            </a:r>
          </a:p>
          <a:p>
            <a:pPr lvl="1"/>
            <a:r>
              <a:rPr lang="en-US" dirty="0"/>
              <a:t>Load, product, and store are on separate cycles</a:t>
            </a:r>
          </a:p>
          <a:p>
            <a:r>
              <a:rPr lang="en-US" dirty="0"/>
              <a:t>Note the pipeline flush</a:t>
            </a:r>
          </a:p>
          <a:p>
            <a:pPr lvl="1"/>
            <a:r>
              <a:rPr lang="en-US" dirty="0"/>
              <a:t>Tail of the pipeline for stages 1, 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18D3A-51FE-0AB6-9D66-65CDF92C6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F01D69-B6F7-09E5-C21E-90ECAA3C1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196" y="441739"/>
            <a:ext cx="5024808" cy="61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05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73DB-FC68-9DC5-17B3-8D921AF56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21B6-40A2-539F-E1DE-F747FC13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E866-69C6-E9F1-3298-649BAEE5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Pipelining in </a:t>
            </a:r>
            <a:r>
              <a:rPr lang="en-US" sz="2400" dirty="0" err="1"/>
              <a:t>SystemVerilog</a:t>
            </a:r>
            <a:endParaRPr lang="en-US" sz="2400" dirty="0"/>
          </a:p>
          <a:p>
            <a:r>
              <a:rPr lang="en-US" sz="2400" dirty="0"/>
              <a:t>Loop Pipelining in Vitis HLS </a:t>
            </a:r>
          </a:p>
          <a:p>
            <a:r>
              <a:rPr lang="en-US" sz="2400" dirty="0"/>
              <a:t>Loop Unrolling and Memory Constraints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79534-5143-CB62-2708-F6E01E1A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D47FE3B-F00F-7CB2-8AF5-A57A21956C37}"/>
              </a:ext>
            </a:extLst>
          </p:cNvPr>
          <p:cNvSpPr/>
          <p:nvPr/>
        </p:nvSpPr>
        <p:spPr>
          <a:xfrm>
            <a:off x="398614" y="19939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1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A8AC-3F04-F413-8E6C-F39428C4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Vitis HLS?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24329-415A-0FC7-71C0-3D713ABF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789" y="2870686"/>
            <a:ext cx="4820889" cy="3050145"/>
          </a:xfrm>
        </p:spPr>
        <p:txBody>
          <a:bodyPr/>
          <a:lstStyle/>
          <a:p>
            <a:r>
              <a:rPr lang="en-US" dirty="0"/>
              <a:t> Manual pipelining in System Verilog:</a:t>
            </a:r>
          </a:p>
          <a:p>
            <a:pPr lvl="1"/>
            <a:r>
              <a:rPr lang="en-US" dirty="0"/>
              <a:t>Tedious</a:t>
            </a:r>
          </a:p>
          <a:p>
            <a:pPr lvl="1"/>
            <a:r>
              <a:rPr lang="en-US" dirty="0"/>
              <a:t>Prone to mistakes</a:t>
            </a:r>
          </a:p>
          <a:p>
            <a:pPr lvl="1"/>
            <a:r>
              <a:rPr lang="en-US" dirty="0"/>
              <a:t>Hard to optimize schedule</a:t>
            </a:r>
          </a:p>
          <a:p>
            <a:pPr lvl="1"/>
            <a:r>
              <a:rPr lang="en-US" dirty="0"/>
              <a:t>Need to re-optimize on each technology</a:t>
            </a:r>
          </a:p>
          <a:p>
            <a:r>
              <a:rPr lang="en-US" dirty="0"/>
              <a:t>Vitis HLS C++</a:t>
            </a:r>
          </a:p>
          <a:p>
            <a:pPr lvl="1"/>
            <a:r>
              <a:rPr lang="en-US" dirty="0"/>
              <a:t>Fully automated pipelining </a:t>
            </a:r>
          </a:p>
          <a:p>
            <a:pPr lvl="1"/>
            <a:r>
              <a:rPr lang="en-US" dirty="0"/>
              <a:t>High-level description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A96F6-C145-CB38-0099-FE41B2F5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396FF-81F1-9B3D-AB94-D85337E44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917" y="1471361"/>
            <a:ext cx="3865151" cy="1335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BCD681-70F9-A1BF-1BB0-64F55D722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49" y="1536408"/>
            <a:ext cx="3843406" cy="468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83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B-7B2C-FDA7-093C-B2DF2599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Loop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308EC-D52E-1140-7709-ACA9BA427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 over cubic polynomial</a:t>
            </a:r>
          </a:p>
          <a:p>
            <a:r>
              <a:rPr lang="en-US" dirty="0"/>
              <a:t>Implemented with </a:t>
            </a:r>
            <a:r>
              <a:rPr lang="en-US" dirty="0" err="1"/>
              <a:t>Horners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Bottom right</a:t>
            </a:r>
          </a:p>
          <a:p>
            <a:r>
              <a:rPr lang="en-US" dirty="0"/>
              <a:t>Each iteration involves</a:t>
            </a:r>
          </a:p>
          <a:p>
            <a:pPr lvl="1"/>
            <a:r>
              <a:rPr lang="en-US" dirty="0"/>
              <a:t>One load from the array</a:t>
            </a:r>
          </a:p>
          <a:p>
            <a:pPr lvl="1"/>
            <a:r>
              <a:rPr lang="en-US" dirty="0"/>
              <a:t>Three multiplications</a:t>
            </a:r>
          </a:p>
          <a:p>
            <a:pPr lvl="1"/>
            <a:r>
              <a:rPr lang="en-US" dirty="0"/>
              <a:t>Three adds</a:t>
            </a:r>
          </a:p>
          <a:p>
            <a:pPr lvl="1"/>
            <a:r>
              <a:rPr lang="en-US" dirty="0"/>
              <a:t>One store</a:t>
            </a:r>
          </a:p>
          <a:p>
            <a:r>
              <a:rPr lang="en-US" dirty="0"/>
              <a:t>We will implement in floating point FP32</a:t>
            </a:r>
          </a:p>
          <a:p>
            <a:pPr lvl="1"/>
            <a:r>
              <a:rPr lang="en-US" dirty="0"/>
              <a:t>These are themselves pipelined </a:t>
            </a:r>
          </a:p>
          <a:p>
            <a:r>
              <a:rPr lang="en-US" dirty="0"/>
              <a:t>Would be hard to implement manually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80DD-BB89-6C9E-2442-0E9245A1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4FCF60-A21C-16CF-0608-6F293CCB1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931" y="3168883"/>
            <a:ext cx="3786220" cy="27377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275803-6C78-1EF7-C9C5-F6F574DC1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03" y="1663512"/>
            <a:ext cx="6601841" cy="138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6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52BD-EA63-E693-8B79-8DD8A6A3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B893-9B36-459A-F2D9-795711FAA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8465" y="1539277"/>
            <a:ext cx="4163475" cy="4329817"/>
          </a:xfrm>
        </p:spPr>
        <p:txBody>
          <a:bodyPr/>
          <a:lstStyle/>
          <a:p>
            <a:r>
              <a:rPr lang="en-US" dirty="0"/>
              <a:t>Similar protocol to previous unit</a:t>
            </a:r>
          </a:p>
          <a:p>
            <a:r>
              <a:rPr lang="en-US" dirty="0"/>
              <a:t>Processing in blocks</a:t>
            </a:r>
          </a:p>
          <a:p>
            <a:r>
              <a:rPr lang="en-US" dirty="0"/>
              <a:t>Coefficients sent in a header</a:t>
            </a:r>
          </a:p>
          <a:p>
            <a:r>
              <a:rPr lang="en-US" dirty="0"/>
              <a:t>Followed by data</a:t>
            </a:r>
          </a:p>
          <a:p>
            <a:r>
              <a:rPr lang="en-US" dirty="0"/>
              <a:t>Transaction ID </a:t>
            </a:r>
          </a:p>
          <a:p>
            <a:pPr lvl="1"/>
            <a:r>
              <a:rPr lang="en-US" dirty="0"/>
              <a:t>Used to ensure synchronization</a:t>
            </a:r>
          </a:p>
          <a:p>
            <a:pPr lvl="1"/>
            <a:r>
              <a:rPr lang="en-US" dirty="0"/>
              <a:t>Robust to dropped packets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F07A5-E41A-31DA-9730-291FE654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7F0C7-1A79-447E-51B2-8B7455C9AA8C}"/>
              </a:ext>
            </a:extLst>
          </p:cNvPr>
          <p:cNvSpPr/>
          <p:nvPr/>
        </p:nvSpPr>
        <p:spPr>
          <a:xfrm>
            <a:off x="1895106" y="2172617"/>
            <a:ext cx="191659" cy="36497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417DF2-C02F-AE66-1477-4C65263A76E8}"/>
              </a:ext>
            </a:extLst>
          </p:cNvPr>
          <p:cNvSpPr/>
          <p:nvPr/>
        </p:nvSpPr>
        <p:spPr>
          <a:xfrm>
            <a:off x="5395544" y="2205955"/>
            <a:ext cx="110697" cy="3663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23299-1193-AA44-0914-7A844D968FDC}"/>
              </a:ext>
            </a:extLst>
          </p:cNvPr>
          <p:cNvSpPr txBox="1"/>
          <p:nvPr/>
        </p:nvSpPr>
        <p:spPr>
          <a:xfrm>
            <a:off x="469017" y="3306506"/>
            <a:ext cx="1134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Testbench</a:t>
            </a:r>
            <a:br>
              <a:rPr lang="en-US" dirty="0"/>
            </a:br>
            <a:r>
              <a:rPr lang="en-US" dirty="0"/>
              <a:t>or 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9AAFD2-C713-DCF3-6CA8-53F1D53679E7}"/>
              </a:ext>
            </a:extLst>
          </p:cNvPr>
          <p:cNvCxnSpPr/>
          <p:nvPr/>
        </p:nvCxnSpPr>
        <p:spPr>
          <a:xfrm>
            <a:off x="2042745" y="2572668"/>
            <a:ext cx="335279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2DE13BA-6C95-FAC3-2A8B-7DEE3F9DC9EC}"/>
              </a:ext>
            </a:extLst>
          </p:cNvPr>
          <p:cNvSpPr txBox="1"/>
          <p:nvPr/>
        </p:nvSpPr>
        <p:spPr>
          <a:xfrm>
            <a:off x="2303683" y="1904658"/>
            <a:ext cx="2031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CmdHdr</a:t>
            </a:r>
            <a:r>
              <a:rPr lang="en-US" sz="1600" dirty="0"/>
              <a:t>:  Coefficients</a:t>
            </a:r>
            <a:br>
              <a:rPr lang="en-US" sz="1600" dirty="0"/>
            </a:br>
            <a:r>
              <a:rPr lang="en-US" sz="1600" dirty="0"/>
              <a:t>num samples, trans 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BA56A2-8482-D54A-5125-5FDCA2C7F52E}"/>
                  </a:ext>
                </a:extLst>
              </p:cNvPr>
              <p:cNvSpPr txBox="1"/>
              <p:nvPr/>
            </p:nvSpPr>
            <p:spPr>
              <a:xfrm>
                <a:off x="2183456" y="3219113"/>
                <a:ext cx="23818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SampDatIn:  Values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BA56A2-8482-D54A-5125-5FDCA2C7F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456" y="3219113"/>
                <a:ext cx="2381806" cy="338554"/>
              </a:xfrm>
              <a:prstGeom prst="rect">
                <a:avLst/>
              </a:prstGeom>
              <a:blipFill>
                <a:blip r:embed="rId2"/>
                <a:stretch>
                  <a:fillRect l="-1279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C016FB-B01D-D22E-030E-60FF33B26AEB}"/>
              </a:ext>
            </a:extLst>
          </p:cNvPr>
          <p:cNvCxnSpPr/>
          <p:nvPr/>
        </p:nvCxnSpPr>
        <p:spPr>
          <a:xfrm>
            <a:off x="2009405" y="3582965"/>
            <a:ext cx="335279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248D1E-9602-918F-2D86-61D5CC1FF459}"/>
              </a:ext>
            </a:extLst>
          </p:cNvPr>
          <p:cNvSpPr/>
          <p:nvPr/>
        </p:nvSpPr>
        <p:spPr>
          <a:xfrm>
            <a:off x="4907814" y="3688848"/>
            <a:ext cx="2302921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Perform polynomial 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82B4E7-5D1B-237D-C494-2D3772789F6B}"/>
              </a:ext>
            </a:extLst>
          </p:cNvPr>
          <p:cNvCxnSpPr>
            <a:cxnSpLocks/>
          </p:cNvCxnSpPr>
          <p:nvPr/>
        </p:nvCxnSpPr>
        <p:spPr>
          <a:xfrm flipH="1">
            <a:off x="1992737" y="2990058"/>
            <a:ext cx="3386137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2B521D9-BA68-BAAB-6550-E4FE3BE70215}"/>
              </a:ext>
            </a:extLst>
          </p:cNvPr>
          <p:cNvSpPr txBox="1"/>
          <p:nvPr/>
        </p:nvSpPr>
        <p:spPr>
          <a:xfrm>
            <a:off x="2373810" y="2615855"/>
            <a:ext cx="156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RespFtr</a:t>
            </a:r>
            <a:r>
              <a:rPr lang="en-US" sz="1600" dirty="0"/>
              <a:t>:  </a:t>
            </a:r>
            <a:r>
              <a:rPr lang="en-US" sz="1600" dirty="0" err="1"/>
              <a:t>TransId</a:t>
            </a:r>
            <a:endParaRPr lang="en-US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E071F3-DFEB-3CF4-40AB-EC84F10785B9}"/>
              </a:ext>
            </a:extLst>
          </p:cNvPr>
          <p:cNvCxnSpPr>
            <a:cxnSpLocks/>
          </p:cNvCxnSpPr>
          <p:nvPr/>
        </p:nvCxnSpPr>
        <p:spPr>
          <a:xfrm flipH="1">
            <a:off x="1985595" y="4664999"/>
            <a:ext cx="3386137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29D856-CC4F-1B2A-2640-8327BDF48A29}"/>
                  </a:ext>
                </a:extLst>
              </p:cNvPr>
              <p:cNvSpPr txBox="1"/>
              <p:nvPr/>
            </p:nvSpPr>
            <p:spPr>
              <a:xfrm>
                <a:off x="2177254" y="4273032"/>
                <a:ext cx="24166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SampDataOut:  Values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29D856-CC4F-1B2A-2640-8327BDF48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254" y="4273032"/>
                <a:ext cx="2416687" cy="338554"/>
              </a:xfrm>
              <a:prstGeom prst="rect">
                <a:avLst/>
              </a:prstGeom>
              <a:blipFill>
                <a:blip r:embed="rId3"/>
                <a:stretch>
                  <a:fillRect l="-1259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DDC399-30B8-34D4-A3BC-7D089C1D8F1D}"/>
              </a:ext>
            </a:extLst>
          </p:cNvPr>
          <p:cNvCxnSpPr>
            <a:cxnSpLocks/>
          </p:cNvCxnSpPr>
          <p:nvPr/>
        </p:nvCxnSpPr>
        <p:spPr>
          <a:xfrm flipH="1">
            <a:off x="1952257" y="5325429"/>
            <a:ext cx="3386137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C56A0F8-B703-E51D-0186-E709266BECE2}"/>
              </a:ext>
            </a:extLst>
          </p:cNvPr>
          <p:cNvSpPr txBox="1"/>
          <p:nvPr/>
        </p:nvSpPr>
        <p:spPr>
          <a:xfrm>
            <a:off x="2143916" y="4933462"/>
            <a:ext cx="27638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RespFtr</a:t>
            </a:r>
            <a:r>
              <a:rPr lang="en-US" sz="1600" dirty="0"/>
              <a:t>:  Error Code, num read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9650F-1FE5-C186-C593-840E3A842651}"/>
              </a:ext>
            </a:extLst>
          </p:cNvPr>
          <p:cNvSpPr txBox="1"/>
          <p:nvPr/>
        </p:nvSpPr>
        <p:spPr>
          <a:xfrm>
            <a:off x="5663818" y="2785132"/>
            <a:ext cx="1223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Vitis kernel</a:t>
            </a:r>
          </a:p>
        </p:txBody>
      </p:sp>
    </p:spTree>
    <p:extLst>
      <p:ext uri="{BB962C8B-B14F-4D97-AF65-F5344CB8AC3E}">
        <p14:creationId xmlns:p14="http://schemas.microsoft.com/office/powerpoint/2010/main" val="1719226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B0A6-9099-6948-3FCA-D2A9A488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6015-62E4-0ED1-A123-89695C748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xilinxutils</a:t>
            </a:r>
            <a:r>
              <a:rPr lang="en-US" dirty="0"/>
              <a:t> package</a:t>
            </a:r>
          </a:p>
          <a:p>
            <a:r>
              <a:rPr lang="en-US" dirty="0"/>
              <a:t>Define data structures in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D6B6-9F7C-C9D6-A2A9-2FBD5D13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41DA7-3CC0-FCAD-9E4E-EA4D752A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744" y="1434749"/>
            <a:ext cx="4905481" cy="2119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368F30-1E60-7C38-5F9A-B79427A53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19590"/>
            <a:ext cx="4001482" cy="29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12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444C-4C38-0CF7-1C9D-5E64914E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Python Golden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C6AC4-316A-5C57-9E58-E4D63DB2F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Golden model</a:t>
            </a:r>
          </a:p>
          <a:p>
            <a:r>
              <a:rPr lang="en-US" dirty="0"/>
              <a:t>Simulates the same messages</a:t>
            </a:r>
          </a:p>
          <a:p>
            <a:r>
              <a:rPr lang="en-US" dirty="0"/>
              <a:t>Runs python polynomial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8749E-FA99-0036-8FD0-75C9B510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EADD3-F2CE-0DB9-8020-3916272ED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051" y="1457513"/>
            <a:ext cx="4447191" cy="479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26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D688-12BF-4CF6-905E-43FE8029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Golden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A6EC4-6FDA-8C9A-9569-4D8318592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Golden model</a:t>
            </a:r>
          </a:p>
          <a:p>
            <a:r>
              <a:rPr lang="en-US" dirty="0"/>
              <a:t>Generate:</a:t>
            </a:r>
          </a:p>
          <a:p>
            <a:pPr lvl="1"/>
            <a:r>
              <a:rPr lang="en-US" dirty="0"/>
              <a:t>Inputs</a:t>
            </a:r>
          </a:p>
          <a:p>
            <a:pPr lvl="1"/>
            <a:r>
              <a:rPr lang="en-US" dirty="0"/>
              <a:t>Expected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3F7D5-A643-D933-1D6B-AA690484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9D24E9-5636-87E9-8FA4-CFA0B88F6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556844"/>
            <a:ext cx="8581993" cy="1367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277F7-8D3B-F499-1CF0-D3A7C2178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119" y="1238766"/>
            <a:ext cx="5083350" cy="40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65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CB2F-8E75-A6B8-AA11-E717F8AE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Auto-Generate the Header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41635-9B51-2AC8-5CB6-81D2A99E8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class, we generate a header file</a:t>
            </a:r>
          </a:p>
          <a:p>
            <a:r>
              <a:rPr lang="en-US" dirty="0"/>
              <a:t>Header files include:</a:t>
            </a:r>
          </a:p>
          <a:p>
            <a:pPr lvl="1"/>
            <a:r>
              <a:rPr lang="en-US" dirty="0"/>
              <a:t>Fields in the data structure</a:t>
            </a:r>
          </a:p>
          <a:p>
            <a:pPr lvl="1"/>
            <a:r>
              <a:rPr lang="en-US" dirty="0"/>
              <a:t>Methods for serializing and deserializing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407D6-9C40-AEE9-778A-291DCB112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E78B62-5A50-519D-B01F-14D38018F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282" y="1539277"/>
            <a:ext cx="4634998" cy="434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29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60B6-351D-F718-3F41-B8ECF170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Kernel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9E44-35C1-4DC4-CE90-C0450D29A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8" y="1539277"/>
            <a:ext cx="4704361" cy="4329817"/>
          </a:xfrm>
        </p:spPr>
        <p:txBody>
          <a:bodyPr/>
          <a:lstStyle/>
          <a:p>
            <a:r>
              <a:rPr lang="en-US" dirty="0"/>
              <a:t>Use array:</a:t>
            </a:r>
          </a:p>
          <a:p>
            <a:pPr lvl="1"/>
            <a:r>
              <a:rPr lang="en-US" dirty="0"/>
              <a:t>Load to array, compute, write array to stream</a:t>
            </a:r>
          </a:p>
          <a:p>
            <a:pPr lvl="1"/>
            <a:r>
              <a:rPr lang="en-US" dirty="0"/>
              <a:t>Computationally, adds an extra step</a:t>
            </a:r>
          </a:p>
          <a:p>
            <a:pPr lvl="1"/>
            <a:r>
              <a:rPr lang="en-US" dirty="0"/>
              <a:t>But allows easy loop optimization analysis</a:t>
            </a:r>
          </a:p>
          <a:p>
            <a:r>
              <a:rPr lang="en-US" dirty="0"/>
              <a:t>Main loop is very simple</a:t>
            </a:r>
          </a:p>
          <a:p>
            <a:r>
              <a:rPr lang="en-US" dirty="0"/>
              <a:t>Note pragma HLS PIPELINE II=1</a:t>
            </a:r>
          </a:p>
          <a:p>
            <a:pPr lvl="1"/>
            <a:r>
              <a:rPr lang="en-US" dirty="0"/>
              <a:t>Indicates to Vitis to try to pipeline this loop</a:t>
            </a:r>
          </a:p>
          <a:p>
            <a:pPr lvl="1"/>
            <a:r>
              <a:rPr lang="en-US" dirty="0"/>
              <a:t>Try to find a schedule with II=1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0FDBE-2160-B28C-1DD8-0A247D0E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69CAE-0677-20AF-B429-69CEE822B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7" y="1710363"/>
            <a:ext cx="5252455" cy="44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9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915C-C035-0732-904D-45807924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B887-9242-9A26-0D6B-ADA9EBF1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Vitis 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6F18-AA44-647F-53D6-06DEC6C7F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C-simulation</a:t>
            </a:r>
          </a:p>
          <a:p>
            <a:pPr lvl="1"/>
            <a:r>
              <a:rPr lang="en-US" dirty="0"/>
              <a:t>Performs functional validation</a:t>
            </a:r>
          </a:p>
          <a:p>
            <a:r>
              <a:rPr lang="en-US" dirty="0"/>
              <a:t>Run C-synthesis</a:t>
            </a:r>
          </a:p>
          <a:p>
            <a:pPr lvl="1"/>
            <a:r>
              <a:rPr lang="en-US" dirty="0"/>
              <a:t>Performs pipelining</a:t>
            </a:r>
          </a:p>
          <a:p>
            <a:pPr lvl="1"/>
            <a:r>
              <a:rPr lang="en-US" dirty="0"/>
              <a:t>Mapping of functions to resources</a:t>
            </a:r>
          </a:p>
          <a:p>
            <a:r>
              <a:rPr lang="en-US" dirty="0"/>
              <a:t>File to right:  TCL script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35447-8A13-D5B4-196B-62817189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FFA07-2F09-1623-451F-A88F7C7F4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982" y="359390"/>
            <a:ext cx="4899197" cy="545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48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1AF2-DBB2-0FE2-048C-FCC8E4B5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50B1-4C82-D28B-FF74-A9FD37AF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3CE0A-7EF6-ABD0-B7A5-E092BAA04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Vitis loop optimization results stored in XML file</a:t>
            </a:r>
          </a:p>
          <a:p>
            <a:r>
              <a:rPr lang="en-US" dirty="0"/>
              <a:t>Can parse results in </a:t>
            </a:r>
            <a:r>
              <a:rPr lang="en-US" dirty="0" err="1"/>
              <a:t>xilinxutils</a:t>
            </a:r>
            <a:r>
              <a:rPr lang="en-US" dirty="0"/>
              <a:t> </a:t>
            </a:r>
            <a:r>
              <a:rPr lang="en-US" dirty="0" err="1"/>
              <a:t>CsynthParser</a:t>
            </a:r>
            <a:endParaRPr lang="en-US" dirty="0"/>
          </a:p>
          <a:p>
            <a:r>
              <a:rPr lang="en-US" dirty="0"/>
              <a:t>Allows easy automation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01CB5-2028-746B-A36E-C1F65FF6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40892-4D32-2A11-B13D-AA3891AD6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0" y="2010634"/>
            <a:ext cx="5092664" cy="338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36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828-4C8F-714A-25A5-B2ED2F75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18A5-E366-147F-F306-1355E00EB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Main processing loop</a:t>
            </a:r>
          </a:p>
          <a:p>
            <a:pPr lvl="1"/>
            <a:r>
              <a:rPr lang="en-US" sz="2400" dirty="0"/>
              <a:t>Obtains II=1</a:t>
            </a:r>
          </a:p>
          <a:p>
            <a:pPr lvl="1"/>
            <a:r>
              <a:rPr lang="en-US" sz="2400" dirty="0"/>
              <a:t>High latency L=30</a:t>
            </a:r>
          </a:p>
          <a:p>
            <a:pPr lvl="1"/>
            <a:r>
              <a:rPr lang="en-US" sz="2400" dirty="0"/>
              <a:t>Needed for many FP32 multiplies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A89E9-1C7B-48CF-08F0-F2E6FE0F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C39433-CD62-95BB-E3B0-64AD0D9CE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870372"/>
            <a:ext cx="5648341" cy="30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19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12B8-971F-C064-0E0E-8DAAAB68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Carry Dependency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A2492-FCA1-012A-D88A-3F3724E7B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Not all loops can be pipelined</a:t>
                </a:r>
              </a:p>
              <a:p>
                <a:r>
                  <a:rPr lang="en-US" sz="2400" dirty="0"/>
                  <a:t>Consider merge sort</a:t>
                </a:r>
              </a:p>
              <a:p>
                <a:pPr lvl="1"/>
                <a:r>
                  <a:rPr lang="en-US" sz="2200" dirty="0"/>
                  <a:t>Given two sorted lists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Find a merged sorted list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r>
                  <a:rPr lang="en-US" sz="2400" dirty="0"/>
                  <a:t>Algorithm:</a:t>
                </a:r>
              </a:p>
              <a:p>
                <a:pPr lvl="1"/>
                <a:r>
                  <a:rPr lang="en-US" sz="2200" dirty="0"/>
                  <a:t>C code to the right</a:t>
                </a:r>
              </a:p>
              <a:p>
                <a:pPr lvl="1"/>
                <a:r>
                  <a:rPr lang="en-US" sz="2200" dirty="0"/>
                  <a:t>Compare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Places smaller one on list</a:t>
                </a:r>
              </a:p>
              <a:p>
                <a:pPr lvl="1"/>
                <a:r>
                  <a:rPr lang="en-US" sz="2200" dirty="0"/>
                  <a:t>Increments counter for the selected element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A2492-FCA1-012A-D88A-3F3724E7B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24F72-E889-36FB-B0EE-6E852232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9B3FFB-DDEC-03E0-E862-8700A47A1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08" y="1771988"/>
            <a:ext cx="5045681" cy="364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96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5337-6806-8898-7C21-DF306013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C7F0-1452-63B6-BC7A-CC156830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7605325-CB8F-79AC-455D-011860781E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527265"/>
                  </p:ext>
                </p:extLst>
              </p:nvPr>
            </p:nvGraphicFramePr>
            <p:xfrm>
              <a:off x="8125306" y="1771506"/>
              <a:ext cx="2969414" cy="1478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4707">
                      <a:extLst>
                        <a:ext uri="{9D8B030D-6E8A-4147-A177-3AD203B41FA5}">
                          <a16:colId xmlns:a16="http://schemas.microsoft.com/office/drawing/2014/main" val="1087884957"/>
                        </a:ext>
                      </a:extLst>
                    </a:gridCol>
                    <a:gridCol w="1484707">
                      <a:extLst>
                        <a:ext uri="{9D8B030D-6E8A-4147-A177-3AD203B41FA5}">
                          <a16:colId xmlns:a16="http://schemas.microsoft.com/office/drawing/2014/main" val="314772034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724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67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918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8759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7605325-CB8F-79AC-455D-011860781E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527265"/>
                  </p:ext>
                </p:extLst>
              </p:nvPr>
            </p:nvGraphicFramePr>
            <p:xfrm>
              <a:off x="8125306" y="1771506"/>
              <a:ext cx="2969414" cy="1478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4707">
                      <a:extLst>
                        <a:ext uri="{9D8B030D-6E8A-4147-A177-3AD203B41FA5}">
                          <a16:colId xmlns:a16="http://schemas.microsoft.com/office/drawing/2014/main" val="1087884957"/>
                        </a:ext>
                      </a:extLst>
                    </a:gridCol>
                    <a:gridCol w="1484707">
                      <a:extLst>
                        <a:ext uri="{9D8B030D-6E8A-4147-A177-3AD203B41FA5}">
                          <a16:colId xmlns:a16="http://schemas.microsoft.com/office/drawing/2014/main" val="314772034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0" t="-1667" r="-102049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10" t="-1667" r="-2049" b="-3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724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67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918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8759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8D72D87-B8CE-2A87-BF21-3EE4512881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179023"/>
                  </p:ext>
                </p:extLst>
              </p:nvPr>
            </p:nvGraphicFramePr>
            <p:xfrm>
              <a:off x="1006458" y="1770469"/>
              <a:ext cx="577324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2207">
                      <a:extLst>
                        <a:ext uri="{9D8B030D-6E8A-4147-A177-3AD203B41FA5}">
                          <a16:colId xmlns:a16="http://schemas.microsoft.com/office/drawing/2014/main" val="3422338162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2947596319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432115000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750638946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201722914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14729739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48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678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0459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895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234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502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1906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8D72D87-B8CE-2A87-BF21-3EE4512881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179023"/>
                  </p:ext>
                </p:extLst>
              </p:nvPr>
            </p:nvGraphicFramePr>
            <p:xfrm>
              <a:off x="1006458" y="1770469"/>
              <a:ext cx="577324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2207">
                      <a:extLst>
                        <a:ext uri="{9D8B030D-6E8A-4147-A177-3AD203B41FA5}">
                          <a16:colId xmlns:a16="http://schemas.microsoft.com/office/drawing/2014/main" val="3422338162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2947596319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432115000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750638946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201722914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14729739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1639" r="-5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33" t="-1639" r="-4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33" t="-1639" r="-3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33" t="-1639" r="-2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633" t="-1639" r="-1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633" t="-1639" r="-2532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48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678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0459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895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234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502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1906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8880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EA27-8FCA-A341-2C5C-1E6CCBF5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Limit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2590F-A10C-98FD-4DCF-15E1BD00D5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50309" cy="4329817"/>
              </a:xfrm>
            </p:spPr>
            <p:txBody>
              <a:bodyPr/>
              <a:lstStyle/>
              <a:p>
                <a:r>
                  <a:rPr lang="en-US" dirty="0"/>
                  <a:t>Consider main loop body needed to the right</a:t>
                </a:r>
              </a:p>
              <a:p>
                <a:r>
                  <a:rPr lang="en-US" dirty="0"/>
                  <a:t>Stage 0 of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Depends on stage 1 completion 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  Since addresses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updated</a:t>
                </a:r>
              </a:p>
              <a:p>
                <a:r>
                  <a:rPr lang="en-US" dirty="0"/>
                  <a:t>Implication:  Each iteration will need:</a:t>
                </a:r>
              </a:p>
              <a:p>
                <a:pPr lvl="1"/>
                <a:r>
                  <a:rPr lang="en-US" dirty="0"/>
                  <a:t>Stage 0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Stage 1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Stage 0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Minimum II=2</a:t>
                </a:r>
              </a:p>
              <a:p>
                <a:r>
                  <a:rPr lang="en-US" dirty="0"/>
                  <a:t>Called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loop carry dependency</a:t>
                </a: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2590F-A10C-98FD-4DCF-15E1BD00D5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50309" cy="4329817"/>
              </a:xfrm>
              <a:blipFill>
                <a:blip r:embed="rId2"/>
                <a:stretch>
                  <a:fillRect l="-226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240E6-BAB3-193C-B6DF-D797A361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8B3646-3B0A-1CBA-3F44-EAD578AD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547" y="862706"/>
            <a:ext cx="2672369" cy="46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43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97F7-E4CF-F24B-2071-ED27F9BE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D770-B8AE-6930-F996-6C8A8FD7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5D28D-4D4C-CF30-6EDA-FF8C0C862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Pipelining in </a:t>
            </a:r>
            <a:r>
              <a:rPr lang="en-US" sz="2400" dirty="0" err="1"/>
              <a:t>SystemVerilog</a:t>
            </a:r>
            <a:endParaRPr lang="en-US" sz="2400" dirty="0"/>
          </a:p>
          <a:p>
            <a:r>
              <a:rPr lang="en-US" sz="2400" dirty="0"/>
              <a:t>Loop Pipelining in Vitis HLS </a:t>
            </a:r>
          </a:p>
          <a:p>
            <a:r>
              <a:rPr lang="en-US" sz="2400" dirty="0"/>
              <a:t>Loop Unrolling and Memory Constraints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F7B2-51B9-CE49-7E23-32F772B0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9CA5B5B-1864-BBE1-8671-8B9842B14618}"/>
              </a:ext>
            </a:extLst>
          </p:cNvPr>
          <p:cNvSpPr/>
          <p:nvPr/>
        </p:nvSpPr>
        <p:spPr>
          <a:xfrm>
            <a:off x="378407" y="250419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04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7F38-9872-5807-D0AC-B812A4A0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19E3-7393-5EA5-2EA6-D3F7B22A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Simple idea:  Repeat processing in each cycle</a:t>
            </a:r>
          </a:p>
          <a:p>
            <a:r>
              <a:rPr lang="en-US" sz="2400" dirty="0"/>
              <a:t>Unroll by 2</a:t>
            </a:r>
          </a:p>
          <a:p>
            <a:pPr lvl="1"/>
            <a:r>
              <a:rPr lang="en-US" sz="2200" dirty="0"/>
              <a:t>Need half the number of iterations</a:t>
            </a:r>
          </a:p>
          <a:p>
            <a:pPr lvl="1"/>
            <a:r>
              <a:rPr lang="en-US" sz="2200" dirty="0"/>
              <a:t>But double the logic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B66DB-9B86-DC44-02E6-201EAE5A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369FA-B673-538E-C72C-51FA0D709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748" y="2063273"/>
            <a:ext cx="4541088" cy="35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35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D300-8BB9-EE2B-7903-D2A70A69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in Vitis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Can be done with a simple pragma</a:t>
                </a:r>
              </a:p>
              <a:p>
                <a:r>
                  <a:rPr lang="en-US" sz="2400" dirty="0"/>
                  <a:t>No need to manually unroll!</a:t>
                </a:r>
              </a:p>
              <a:p>
                <a:r>
                  <a:rPr lang="en-US" sz="2400" dirty="0"/>
                  <a:t>Handles cases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en-US" sz="2400" dirty="0"/>
                  <a:t>is not divisible by unroll factor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  <a:blipFill>
                <a:blip r:embed="rId2"/>
                <a:stretch>
                  <a:fillRect l="-1697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E725-5BD2-E980-A2F1-2A8E0CD7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8C19E-6919-1DDA-28AE-E8115AA17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29" y="3429000"/>
            <a:ext cx="3908597" cy="1669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CDB722-0F46-43C6-0B65-AB1BA11A4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268" y="3421611"/>
            <a:ext cx="3656286" cy="1595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4CB35B-3414-E6FB-7DB0-01B16F752F7E}"/>
              </a:ext>
            </a:extLst>
          </p:cNvPr>
          <p:cNvSpPr txBox="1"/>
          <p:nvPr/>
        </p:nvSpPr>
        <p:spPr>
          <a:xfrm>
            <a:off x="6126480" y="374358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364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8C6A-107C-547D-948C-E252E74F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Bottleneck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M</a:t>
                </a:r>
                <a:r>
                  <a:rPr lang="en-US" sz="2200" dirty="0"/>
                  <a:t>emory bottleneck</a:t>
                </a:r>
              </a:p>
              <a:p>
                <a:pPr lvl="1"/>
                <a:r>
                  <a:rPr lang="en-US" sz="2000" dirty="0"/>
                  <a:t>Loop unrolling is often limited by memory accesses</a:t>
                </a:r>
              </a:p>
              <a:p>
                <a:r>
                  <a:rPr lang="en-US" sz="2200" dirty="0"/>
                  <a:t>Consider vector multiply SV code</a:t>
                </a:r>
              </a:p>
              <a:p>
                <a:r>
                  <a:rPr lang="en-US" sz="2200" dirty="0"/>
                  <a:t>Stage 0 needs:</a:t>
                </a:r>
              </a:p>
              <a:p>
                <a:pPr lvl="1"/>
                <a:r>
                  <a:rPr lang="en-US" sz="2000" dirty="0"/>
                  <a:t>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200" dirty="0"/>
                  <a:t>Stage 2 needs:</a:t>
                </a:r>
              </a:p>
              <a:p>
                <a:pPr lvl="1"/>
                <a:r>
                  <a:rPr lang="en-US" sz="2000" dirty="0"/>
                  <a:t>Two writes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  <a:blipFill>
                <a:blip r:embed="rId2"/>
                <a:stretch>
                  <a:fillRect l="-2944" t="-1972" r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3FF70-FE1C-DD4C-36AD-58DA6D6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69AC2-BD2D-0ED2-8148-2993E57CE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163827"/>
            <a:ext cx="4025484" cy="352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112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B79-FFC3-595F-8968-0538F2D6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Port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CE66-05B0-0988-A504-15417A7A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52103" cy="4329817"/>
          </a:xfrm>
        </p:spPr>
        <p:txBody>
          <a:bodyPr/>
          <a:lstStyle/>
          <a:p>
            <a:r>
              <a:rPr lang="en-US" dirty="0"/>
              <a:t>Recall memory architecture from Unit 4</a:t>
            </a:r>
          </a:p>
          <a:p>
            <a:r>
              <a:rPr lang="en-US" dirty="0"/>
              <a:t>Basic memories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single port</a:t>
            </a:r>
          </a:p>
          <a:p>
            <a:r>
              <a:rPr lang="en-US" dirty="0"/>
              <a:t>There is a single address decoder</a:t>
            </a:r>
          </a:p>
          <a:p>
            <a:r>
              <a:rPr lang="en-US" dirty="0"/>
              <a:t>Can read / write one word in a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E6E6-6B92-A8F4-9F2A-4DA28053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49341-5BE5-7D32-D16D-11A8ADA5298B}"/>
              </a:ext>
            </a:extLst>
          </p:cNvPr>
          <p:cNvSpPr/>
          <p:nvPr/>
        </p:nvSpPr>
        <p:spPr>
          <a:xfrm>
            <a:off x="9704107" y="2575829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085F4-A645-E101-8C4A-DC452FCE6F6E}"/>
              </a:ext>
            </a:extLst>
          </p:cNvPr>
          <p:cNvSpPr/>
          <p:nvPr/>
        </p:nvSpPr>
        <p:spPr>
          <a:xfrm>
            <a:off x="7481412" y="3069792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5B6015-0D73-54FA-AFCF-562D968601F9}"/>
              </a:ext>
            </a:extLst>
          </p:cNvPr>
          <p:cNvSpPr/>
          <p:nvPr/>
        </p:nvSpPr>
        <p:spPr>
          <a:xfrm>
            <a:off x="11367048" y="2436377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C1EB41-0F8E-C3AA-B8E1-F616056DC234}"/>
              </a:ext>
            </a:extLst>
          </p:cNvPr>
          <p:cNvSpPr/>
          <p:nvPr/>
        </p:nvSpPr>
        <p:spPr>
          <a:xfrm>
            <a:off x="9713872" y="3166646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/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input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bits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blipFill>
                <a:blip r:embed="rId2"/>
                <a:stretch>
                  <a:fillRect l="-2283" t="-3125" r="-91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5E1734-DAAF-2224-B18A-B0DABB448493}"/>
              </a:ext>
            </a:extLst>
          </p:cNvPr>
          <p:cNvCxnSpPr>
            <a:cxnSpLocks/>
          </p:cNvCxnSpPr>
          <p:nvPr/>
        </p:nvCxnSpPr>
        <p:spPr>
          <a:xfrm flipH="1">
            <a:off x="8945666" y="2743781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91F4D9-7265-36AD-C4AB-6B69D3E6CAFB}"/>
              </a:ext>
            </a:extLst>
          </p:cNvPr>
          <p:cNvCxnSpPr/>
          <p:nvPr/>
        </p:nvCxnSpPr>
        <p:spPr>
          <a:xfrm>
            <a:off x="6749259" y="3463987"/>
            <a:ext cx="738563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/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</a:t>
                </a:r>
                <a:b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decoder</a:t>
                </a:r>
                <a:br>
                  <a:rPr lang="en-US" sz="1600" dirty="0"/>
                </a:br>
                <a:r>
                  <a:rPr lang="en-US" sz="1600" dirty="0"/>
                  <a:t>Selects one of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blipFill>
                <a:blip r:embed="rId3"/>
                <a:stretch>
                  <a:fillRect l="-2252" t="-1705" r="-901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/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blipFill>
                <a:blip r:embed="rId4"/>
                <a:stretch>
                  <a:fillRect t="-5357" r="-203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/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/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73E6B12-A295-5F9A-C2F6-1A9A77AB8409}"/>
              </a:ext>
            </a:extLst>
          </p:cNvPr>
          <p:cNvGrpSpPr/>
          <p:nvPr/>
        </p:nvGrpSpPr>
        <p:grpSpPr>
          <a:xfrm>
            <a:off x="8969428" y="2575829"/>
            <a:ext cx="2397325" cy="296148"/>
            <a:chOff x="3167386" y="2308781"/>
            <a:chExt cx="2397325" cy="296148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3DD3E9E-8852-078F-A606-1A3C7B0697F9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0D667E-B18C-0E99-2D0A-F8AAA5401919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A7658F1-EAB6-9F3D-47A1-EA9EBB979190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FE26795-C050-2628-4638-484C7B977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4F1D3A-1BA3-082F-36D8-C8245D07CAC9}"/>
              </a:ext>
            </a:extLst>
          </p:cNvPr>
          <p:cNvCxnSpPr/>
          <p:nvPr/>
        </p:nvCxnSpPr>
        <p:spPr>
          <a:xfrm>
            <a:off x="8974222" y="3335915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F9EDD96-0DEC-74A9-677B-E83F76559CB7}"/>
              </a:ext>
            </a:extLst>
          </p:cNvPr>
          <p:cNvSpPr/>
          <p:nvPr/>
        </p:nvSpPr>
        <p:spPr>
          <a:xfrm>
            <a:off x="9711958" y="3172170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8479F0-E014-0010-9B95-3D0D0219DE10}"/>
              </a:ext>
            </a:extLst>
          </p:cNvPr>
          <p:cNvCxnSpPr/>
          <p:nvPr/>
        </p:nvCxnSpPr>
        <p:spPr>
          <a:xfrm>
            <a:off x="10632984" y="3371199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4A68C2-364E-0602-A642-60387C90E5E5}"/>
              </a:ext>
            </a:extLst>
          </p:cNvPr>
          <p:cNvCxnSpPr>
            <a:cxnSpLocks/>
          </p:cNvCxnSpPr>
          <p:nvPr/>
        </p:nvCxnSpPr>
        <p:spPr>
          <a:xfrm flipH="1">
            <a:off x="10632984" y="3269492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EFCDA1-BF4F-0263-FF29-F0974093CBB6}"/>
              </a:ext>
            </a:extLst>
          </p:cNvPr>
          <p:cNvCxnSpPr>
            <a:cxnSpLocks/>
          </p:cNvCxnSpPr>
          <p:nvPr/>
        </p:nvCxnSpPr>
        <p:spPr>
          <a:xfrm>
            <a:off x="8395812" y="3463987"/>
            <a:ext cx="580242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999EB8-5468-2A4F-018D-4EE703E6D883}"/>
              </a:ext>
            </a:extLst>
          </p:cNvPr>
          <p:cNvCxnSpPr>
            <a:cxnSpLocks/>
          </p:cNvCxnSpPr>
          <p:nvPr/>
        </p:nvCxnSpPr>
        <p:spPr>
          <a:xfrm flipH="1">
            <a:off x="10996478" y="2436377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6A1727-B00E-C404-7E04-C4A80F625018}"/>
              </a:ext>
            </a:extLst>
          </p:cNvPr>
          <p:cNvSpPr txBox="1"/>
          <p:nvPr/>
        </p:nvSpPr>
        <p:spPr>
          <a:xfrm>
            <a:off x="11248290" y="1897185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547F62-0CEE-ACDE-48E0-FB5F9D10A398}"/>
              </a:ext>
            </a:extLst>
          </p:cNvPr>
          <p:cNvGrpSpPr/>
          <p:nvPr/>
        </p:nvGrpSpPr>
        <p:grpSpPr>
          <a:xfrm>
            <a:off x="8965544" y="2872878"/>
            <a:ext cx="2397325" cy="296148"/>
            <a:chOff x="3167386" y="2308781"/>
            <a:chExt cx="2397325" cy="296148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B26A35-5CFE-DE0B-CC24-036B9AC1C4DC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EFD280-F037-904B-D39C-39E2646F08C6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6FBF84-CD52-E7D9-6DB3-0E39F26DDE4C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BB28333-8223-1154-C750-EF5A07A0D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A4ECE2-B06E-A07A-84CB-8929A6293EE1}"/>
              </a:ext>
            </a:extLst>
          </p:cNvPr>
          <p:cNvGrpSpPr/>
          <p:nvPr/>
        </p:nvGrpSpPr>
        <p:grpSpPr>
          <a:xfrm>
            <a:off x="8952292" y="4919749"/>
            <a:ext cx="2397325" cy="296148"/>
            <a:chOff x="3167386" y="2308781"/>
            <a:chExt cx="2397325" cy="296148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4B99442-D4F6-A2CD-C914-5A437985C944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68A124-ED28-6FE0-DD53-E258595AF3E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A9A334E-596E-C2BE-BBA8-22DCF40FA1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D6B7DE6-9FE1-1FE1-8265-E5810B8D1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/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blipFill>
                <a:blip r:embed="rId7"/>
                <a:stretch>
                  <a:fillRect l="-4580" t="-3125" r="-305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4679E64-CE95-80D6-C5F7-F823B8AA333F}"/>
              </a:ext>
            </a:extLst>
          </p:cNvPr>
          <p:cNvSpPr txBox="1"/>
          <p:nvPr/>
        </p:nvSpPr>
        <p:spPr>
          <a:xfrm>
            <a:off x="10708692" y="2118911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1665932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CBC1-474F-05FC-B8A4-AD569CA3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929D-D10A-0CFF-1997-BC97C34D5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Solution 1:  Use a true multi-port RAM</a:t>
            </a:r>
            <a:endParaRPr lang="en-US" sz="2800" dirty="0"/>
          </a:p>
          <a:p>
            <a:pPr lvl="1"/>
            <a:r>
              <a:rPr lang="en-US" sz="2000" dirty="0"/>
              <a:t>Most general.  Allows read and write from any combination of addresses</a:t>
            </a:r>
          </a:p>
          <a:p>
            <a:pPr lvl="1"/>
            <a:r>
              <a:rPr lang="en-US" sz="2000" dirty="0"/>
              <a:t>Xilinx FGPA BRAMs are two port</a:t>
            </a:r>
          </a:p>
          <a:p>
            <a:pPr lvl="1"/>
            <a:r>
              <a:rPr lang="en-US" sz="2000" dirty="0"/>
              <a:t>But most costly in hardware</a:t>
            </a:r>
          </a:p>
          <a:p>
            <a:r>
              <a:rPr lang="en-US" sz="2200" dirty="0"/>
              <a:t>Solution 2:  Use a wider </a:t>
            </a:r>
            <a:r>
              <a:rPr lang="en-US" sz="2200" dirty="0" err="1"/>
              <a:t>bitwidth</a:t>
            </a:r>
            <a:endParaRPr lang="en-US" sz="2200" dirty="0"/>
          </a:p>
          <a:p>
            <a:pPr lvl="1"/>
            <a:r>
              <a:rPr lang="en-US" sz="2000" dirty="0"/>
              <a:t>Say 64 bits to read two 32 bit numbers</a:t>
            </a:r>
          </a:p>
          <a:p>
            <a:pPr lvl="1"/>
            <a:r>
              <a:rPr lang="en-US" sz="2000" dirty="0"/>
              <a:t>Works only when the accesses are contiguous</a:t>
            </a:r>
          </a:p>
          <a:p>
            <a:r>
              <a:rPr lang="en-US" sz="2200" dirty="0"/>
              <a:t>Solution 3:  Bank or partition memory</a:t>
            </a:r>
          </a:p>
          <a:p>
            <a:pPr lvl="1"/>
            <a:r>
              <a:rPr lang="en-US" sz="2000" dirty="0"/>
              <a:t>Divide memory into partitions</a:t>
            </a:r>
          </a:p>
          <a:p>
            <a:pPr lvl="1"/>
            <a:r>
              <a:rPr lang="en-US" sz="2000" dirty="0"/>
              <a:t>Each partition has its own decoder</a:t>
            </a:r>
          </a:p>
          <a:p>
            <a:pPr lvl="1"/>
            <a:r>
              <a:rPr lang="en-US" sz="2000" dirty="0"/>
              <a:t>Works if accesses can be across different partitions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E781-49AC-5338-84B1-0D8C7C1F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5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7FB3-61A6-B50E-9534-6AF651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F6AD-5636-5999-9471-9D1743F6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arbitrary read / writes </a:t>
            </a:r>
          </a:p>
          <a:p>
            <a:pPr lvl="1"/>
            <a:r>
              <a:rPr lang="en-US" dirty="0"/>
              <a:t>Except for read-write collisions to same address in same cycle</a:t>
            </a:r>
          </a:p>
          <a:p>
            <a:r>
              <a:rPr lang="en-US" dirty="0"/>
              <a:t>BRAM in FPGAs generally only support true two port</a:t>
            </a:r>
          </a:p>
          <a:p>
            <a:r>
              <a:rPr lang="en-US" dirty="0" err="1"/>
              <a:t>BMutli</a:t>
            </a:r>
            <a:r>
              <a:rPr lang="en-US" dirty="0"/>
              <a:t>-port SRAMs in ASICs are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F13-AACC-FD4B-7430-3E65E1D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B153-DBB2-A15E-0F48-C4B23DFA5623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BB559-B66A-1BB0-B08E-136C6FF2A6A9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FC34E2A-D329-5108-0782-084CF57F5788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B5F44-8FDB-45F2-93A4-94ED654DA01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DA0E1-3F86-3C36-0D5B-5E46CFB47938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B8278-F2E3-D854-1AFC-ADB23597292E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0771A-42CF-E3EA-AA84-C8D0D9FC87F3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B95FC-A484-8D98-E86C-A5FD4CC02E1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B7F16-0565-4936-34C6-BF6D73908AEA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1D045E-7543-B390-3021-7EF9C437AD30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69003A-FA05-D772-E392-D68EA34CFB55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76675-0937-7526-7887-C13F2AAD00B5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B457B-193B-3B93-0FA0-0E98725D667E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24EB7-355A-26AA-432A-3824934EC3DD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7A9D63-4F2E-CC39-85B4-DF5938E8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396" y="3234105"/>
            <a:ext cx="5097928" cy="2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1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5354-99F8-E11F-7EBE-20EFCF96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Wider Bit widths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DE095-6D76-385C-664C-0447AAF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6682D-2200-8C76-98E8-AECA24FE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850" y="1676400"/>
            <a:ext cx="4207944" cy="4152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B49397-4439-101A-EF1A-DB7697FD424E}"/>
              </a:ext>
            </a:extLst>
          </p:cNvPr>
          <p:cNvSpPr txBox="1"/>
          <p:nvPr/>
        </p:nvSpPr>
        <p:spPr>
          <a:xfrm>
            <a:off x="7712348" y="3220375"/>
            <a:ext cx="3860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Wide bit width 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Only one R/W to each array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pipeline with II=1</a:t>
            </a:r>
          </a:p>
          <a:p>
            <a:pPr marL="285750" indent="-285750">
              <a:buFontTx/>
              <a:buChar char="-"/>
            </a:pPr>
            <a:r>
              <a:rPr lang="en-US" dirty="0"/>
              <a:t>But need accesses to be contiguous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047E43-C07A-789B-4A7F-92083437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2" y="3455630"/>
            <a:ext cx="2989537" cy="1304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FE6721-2CFE-742C-FB54-2D9B4C89729D}"/>
              </a:ext>
            </a:extLst>
          </p:cNvPr>
          <p:cNvSpPr txBox="1"/>
          <p:nvPr/>
        </p:nvSpPr>
        <p:spPr>
          <a:xfrm>
            <a:off x="634128" y="1883411"/>
            <a:ext cx="3387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Narrow bit width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only one word per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bottleneck </a:t>
            </a:r>
          </a:p>
        </p:txBody>
      </p:sp>
    </p:spTree>
    <p:extLst>
      <p:ext uri="{BB962C8B-B14F-4D97-AF65-F5344CB8AC3E}">
        <p14:creationId xmlns:p14="http://schemas.microsoft.com/office/powerpoint/2010/main" val="5896631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23900</TotalTime>
  <Words>2046</Words>
  <Application>Microsoft Office PowerPoint</Application>
  <PresentationFormat>Widescreen</PresentationFormat>
  <Paragraphs>536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Cambria Math</vt:lpstr>
      <vt:lpstr>Courier New</vt:lpstr>
      <vt:lpstr>Wingdings</vt:lpstr>
      <vt:lpstr>Retrospect</vt:lpstr>
      <vt:lpstr>Unit 6  Loop Optimization and Pipelining</vt:lpstr>
      <vt:lpstr>Learning Objectives</vt:lpstr>
      <vt:lpstr>Outline</vt:lpstr>
      <vt:lpstr>Quadratic Example</vt:lpstr>
      <vt:lpstr>Finding the Critical Path</vt:lpstr>
      <vt:lpstr>Timing Diagram</vt:lpstr>
      <vt:lpstr>Multiplier Utilization</vt:lpstr>
      <vt:lpstr>Plotting the Utilization</vt:lpstr>
      <vt:lpstr>Best Utilization with Single Cycle Design</vt:lpstr>
      <vt:lpstr>A Two Cycle Design</vt:lpstr>
      <vt:lpstr>Three Stages</vt:lpstr>
      <vt:lpstr>Pipelining Timing Diagram</vt:lpstr>
      <vt:lpstr>Comparison</vt:lpstr>
      <vt:lpstr>General Pipelining for a Series</vt:lpstr>
      <vt:lpstr>Cycle-by-Cycle Timing</vt:lpstr>
      <vt:lpstr>Timing Terminology</vt:lpstr>
      <vt:lpstr>Timing Terminology Visualized</vt:lpstr>
      <vt:lpstr>Pipelining with Multiple Paths</vt:lpstr>
      <vt:lpstr>Multi-Path Pipelining: Identify Stages</vt:lpstr>
      <vt:lpstr>Multi-Path Pipelining: Register Locations</vt:lpstr>
      <vt:lpstr>Final Pipelined Diagram and Code</vt:lpstr>
      <vt:lpstr>Memory Accesses</vt:lpstr>
      <vt:lpstr>Outline</vt:lpstr>
      <vt:lpstr>Why Use Vitis HLS?</vt:lpstr>
      <vt:lpstr>Polynomial Loop Example</vt:lpstr>
      <vt:lpstr>Message Passing Protocol</vt:lpstr>
      <vt:lpstr>Define Data Structures</vt:lpstr>
      <vt:lpstr>Create a Python Golden Model</vt:lpstr>
      <vt:lpstr>Running the Golden Model</vt:lpstr>
      <vt:lpstr>Auto-Generate the Header Files</vt:lpstr>
      <vt:lpstr>Vitis Kernel Implementation</vt:lpstr>
      <vt:lpstr>Running Vitis CS</vt:lpstr>
      <vt:lpstr>Parsing the Results</vt:lpstr>
      <vt:lpstr>Pipelining Results</vt:lpstr>
      <vt:lpstr>Loop Carry Dependency </vt:lpstr>
      <vt:lpstr>Merge Sort Example</vt:lpstr>
      <vt:lpstr>Pipelining Limit</vt:lpstr>
      <vt:lpstr>Outline</vt:lpstr>
      <vt:lpstr>Loop Unrolling</vt:lpstr>
      <vt:lpstr>Loop Unrolling in Vitis</vt:lpstr>
      <vt:lpstr>Memory Bottleneck</vt:lpstr>
      <vt:lpstr>Single Port Memory</vt:lpstr>
      <vt:lpstr>Three Solutions</vt:lpstr>
      <vt:lpstr>Mutli-Port RAMs</vt:lpstr>
      <vt:lpstr>Using Wider Bit widths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752</cp:revision>
  <cp:lastPrinted>2018-09-04T19:00:14Z</cp:lastPrinted>
  <dcterms:created xsi:type="dcterms:W3CDTF">2015-03-22T11:15:32Z</dcterms:created>
  <dcterms:modified xsi:type="dcterms:W3CDTF">2026-03-31T23:53:27Z</dcterms:modified>
</cp:coreProperties>
</file>
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9"/>
  </p:notesMasterIdLst>
  <p:sldIdLst>
    <p:sldId id="258" r:id="rId2"/>
    <p:sldId id="271" r:id="rId3"/>
    <p:sldId id="371" r:id="rId4"/>
    <p:sldId id="287" r:id="rId5"/>
    <p:sldId id="276" r:id="rId6"/>
    <p:sldId id="277" r:id="rId7"/>
    <p:sldId id="290" r:id="rId8"/>
    <p:sldId id="319" r:id="rId9"/>
    <p:sldId id="336" r:id="rId10"/>
    <p:sldId id="278" r:id="rId11"/>
    <p:sldId id="280" r:id="rId12"/>
    <p:sldId id="292" r:id="rId13"/>
    <p:sldId id="340" r:id="rId14"/>
    <p:sldId id="341" r:id="rId15"/>
    <p:sldId id="342" r:id="rId16"/>
    <p:sldId id="296" r:id="rId17"/>
    <p:sldId id="293" r:id="rId18"/>
    <p:sldId id="343" r:id="rId19"/>
    <p:sldId id="294" r:id="rId20"/>
    <p:sldId id="295" r:id="rId21"/>
    <p:sldId id="344" r:id="rId22"/>
    <p:sldId id="345" r:id="rId23"/>
    <p:sldId id="346" r:id="rId24"/>
    <p:sldId id="347" r:id="rId25"/>
    <p:sldId id="348" r:id="rId26"/>
    <p:sldId id="349" r:id="rId27"/>
    <p:sldId id="350" r:id="rId28"/>
    <p:sldId id="357" r:id="rId29"/>
    <p:sldId id="297" r:id="rId30"/>
    <p:sldId id="288" r:id="rId31"/>
    <p:sldId id="358" r:id="rId32"/>
    <p:sldId id="352" r:id="rId33"/>
    <p:sldId id="359" r:id="rId34"/>
    <p:sldId id="360" r:id="rId35"/>
    <p:sldId id="361" r:id="rId36"/>
    <p:sldId id="362" r:id="rId37"/>
    <p:sldId id="364" r:id="rId38"/>
    <p:sldId id="365" r:id="rId39"/>
    <p:sldId id="367" r:id="rId40"/>
    <p:sldId id="366" r:id="rId41"/>
    <p:sldId id="368" r:id="rId42"/>
    <p:sldId id="369" r:id="rId43"/>
    <p:sldId id="370" r:id="rId44"/>
    <p:sldId id="353" r:id="rId45"/>
    <p:sldId id="354" r:id="rId46"/>
    <p:sldId id="355" r:id="rId47"/>
    <p:sldId id="303" r:id="rId48"/>
    <p:sldId id="308" r:id="rId49"/>
    <p:sldId id="309" r:id="rId50"/>
    <p:sldId id="313" r:id="rId51"/>
    <p:sldId id="314" r:id="rId52"/>
    <p:sldId id="312" r:id="rId53"/>
    <p:sldId id="315" r:id="rId54"/>
    <p:sldId id="320" r:id="rId55"/>
    <p:sldId id="321" r:id="rId56"/>
    <p:sldId id="316" r:id="rId57"/>
    <p:sldId id="322" r:id="rId58"/>
    <p:sldId id="323" r:id="rId59"/>
    <p:sldId id="324" r:id="rId60"/>
    <p:sldId id="372" r:id="rId61"/>
    <p:sldId id="317" r:id="rId62"/>
    <p:sldId id="318" r:id="rId63"/>
    <p:sldId id="373" r:id="rId64"/>
    <p:sldId id="374" r:id="rId65"/>
    <p:sldId id="375" r:id="rId66"/>
    <p:sldId id="376" r:id="rId67"/>
    <p:sldId id="333" r:id="rId68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4" d="100"/>
          <a:sy n="64" d="100"/>
        </p:scale>
        <p:origin x="28" y="2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0.png"/><Relationship Id="rId7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0.png"/><Relationship Id="rId4" Type="http://schemas.openxmlformats.org/officeDocument/2006/relationships/image" Target="../media/image30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0.png"/><Relationship Id="rId5" Type="http://schemas.openxmlformats.org/officeDocument/2006/relationships/image" Target="../media/image390.png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7" Type="http://schemas.openxmlformats.org/officeDocument/2006/relationships/image" Target="../media/image53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0.png"/><Relationship Id="rId5" Type="http://schemas.openxmlformats.org/officeDocument/2006/relationships/image" Target="../media/image68.png"/><Relationship Id="rId4" Type="http://schemas.openxmlformats.org/officeDocument/2006/relationships/image" Target="../media/image5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0.png"/><Relationship Id="rId5" Type="http://schemas.openxmlformats.org/officeDocument/2006/relationships/image" Target="../media/image520.png"/><Relationship Id="rId4" Type="http://schemas.openxmlformats.org/officeDocument/2006/relationships/image" Target="../media/image6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0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hyperlink" Target="https://sdrangan.github.io/hwdesign/support/repo/python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6 </a:t>
            </a:r>
            <a:br>
              <a:rPr lang="en-US" sz="6600" dirty="0"/>
            </a:br>
            <a:r>
              <a:rPr lang="en-US" sz="6600" dirty="0"/>
              <a:t>Timing and Critical Path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EL-GY 9463:  Introduction to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</a:t>
            </a:r>
            <a:r>
              <a:rPr lang="en-US" dirty="0">
                <a:solidFill>
                  <a:schemeClr val="accent1"/>
                </a:solidFill>
              </a:rPr>
              <a:t>undefined</a:t>
            </a:r>
            <a:r>
              <a:rPr lang="en-US" dirty="0"/>
              <a:t> and </a:t>
            </a:r>
            <a:r>
              <a:rPr lang="en-US" dirty="0">
                <a:solidFill>
                  <a:schemeClr val="accent1"/>
                </a:solidFill>
              </a:rPr>
              <a:t>stable</a:t>
            </a:r>
            <a:r>
              <a:rPr lang="en-US" dirty="0"/>
              <a:t> periods for logical signals</a:t>
            </a:r>
          </a:p>
          <a:p>
            <a:r>
              <a:rPr lang="en-US" dirty="0"/>
              <a:t>Compute the </a:t>
            </a:r>
            <a:r>
              <a:rPr lang="en-US" dirty="0">
                <a:solidFill>
                  <a:schemeClr val="accent1"/>
                </a:solidFill>
              </a:rPr>
              <a:t>maximum propagation delay </a:t>
            </a:r>
            <a:r>
              <a:rPr lang="en-US" dirty="0"/>
              <a:t>of combination logics</a:t>
            </a:r>
          </a:p>
          <a:p>
            <a:pPr lvl="1"/>
            <a:r>
              <a:rPr lang="en-US" dirty="0"/>
              <a:t>Series circuits, conditional, multi-path</a:t>
            </a:r>
          </a:p>
          <a:p>
            <a:r>
              <a:rPr lang="en-US" dirty="0"/>
              <a:t>Perform </a:t>
            </a:r>
            <a:r>
              <a:rPr lang="en-US" dirty="0">
                <a:solidFill>
                  <a:schemeClr val="accent1"/>
                </a:solidFill>
              </a:rPr>
              <a:t>static timing analysis </a:t>
            </a:r>
            <a:r>
              <a:rPr lang="en-US" dirty="0"/>
              <a:t>of sequential logic</a:t>
            </a:r>
          </a:p>
          <a:p>
            <a:pPr lvl="1"/>
            <a:r>
              <a:rPr lang="en-US" dirty="0"/>
              <a:t>Determine the </a:t>
            </a:r>
            <a:r>
              <a:rPr lang="en-US" dirty="0">
                <a:solidFill>
                  <a:schemeClr val="accent1"/>
                </a:solidFill>
              </a:rPr>
              <a:t>critical path </a:t>
            </a:r>
            <a:r>
              <a:rPr lang="en-US" dirty="0"/>
              <a:t>of a circuit</a:t>
            </a:r>
          </a:p>
          <a:p>
            <a:pPr lvl="1"/>
            <a:r>
              <a:rPr lang="en-US" dirty="0"/>
              <a:t>Determine </a:t>
            </a:r>
            <a:r>
              <a:rPr lang="en-US" dirty="0">
                <a:solidFill>
                  <a:schemeClr val="accent1"/>
                </a:solidFill>
              </a:rPr>
              <a:t>maximum frequency </a:t>
            </a:r>
            <a:r>
              <a:rPr lang="en-US" dirty="0"/>
              <a:t>and detect timing violations</a:t>
            </a:r>
          </a:p>
          <a:p>
            <a:r>
              <a:rPr lang="en-US" dirty="0"/>
              <a:t>Draw </a:t>
            </a:r>
            <a:r>
              <a:rPr lang="en-US" dirty="0">
                <a:solidFill>
                  <a:schemeClr val="accent1"/>
                </a:solidFill>
              </a:rPr>
              <a:t>timing diagrams</a:t>
            </a:r>
            <a:r>
              <a:rPr lang="en-US" dirty="0"/>
              <a:t>, both real and cycle-accurate</a:t>
            </a:r>
          </a:p>
          <a:p>
            <a:r>
              <a:rPr lang="en-US" dirty="0"/>
              <a:t>Describe timing </a:t>
            </a:r>
            <a:r>
              <a:rPr lang="en-US" dirty="0">
                <a:solidFill>
                  <a:schemeClr val="accent1"/>
                </a:solidFill>
              </a:rPr>
              <a:t>via value-change points</a:t>
            </a:r>
          </a:p>
          <a:p>
            <a:r>
              <a:rPr lang="en-US" dirty="0"/>
              <a:t>Extract </a:t>
            </a:r>
            <a:r>
              <a:rPr lang="en-US" dirty="0">
                <a:solidFill>
                  <a:schemeClr val="accent1"/>
                </a:solidFill>
              </a:rPr>
              <a:t>VCD files </a:t>
            </a:r>
            <a:r>
              <a:rPr lang="en-US" dirty="0"/>
              <a:t>from Vitis and display timing information in python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7CD32-0244-7759-C8FD-E8B3A486D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03A9E-38FF-E3BE-C4EB-094D2999E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A0428-830C-44E6-22F7-8B6346FC6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Static Timing Analysis in Combinational Logic</a:t>
            </a:r>
          </a:p>
          <a:p>
            <a:r>
              <a:rPr lang="en-US" sz="2400" dirty="0"/>
              <a:t>Static Timing Analysis in Sequential Logic</a:t>
            </a:r>
          </a:p>
          <a:p>
            <a:r>
              <a:rPr lang="en-US" sz="2400" dirty="0"/>
              <a:t>Sequential Logic Timing Diagrams</a:t>
            </a:r>
          </a:p>
          <a:p>
            <a:r>
              <a:rPr lang="en-US" sz="2400" dirty="0"/>
              <a:t>VCD Files and Timing Diagrams from Vitis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D9DE4-B075-A26F-5C8D-B162E8350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1DD6ABC-FB8E-3982-A0CA-7543FF76ACF2}"/>
              </a:ext>
            </a:extLst>
          </p:cNvPr>
          <p:cNvSpPr/>
          <p:nvPr/>
        </p:nvSpPr>
        <p:spPr>
          <a:xfrm>
            <a:off x="404044" y="1471001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94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CB82-027A-224A-7674-C98F65A25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Timing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BAE71-1459-824A-6CF9-5C16D09BF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Timing analysis:  Estimate delays through circuits</a:t>
            </a:r>
          </a:p>
          <a:p>
            <a:r>
              <a:rPr lang="en-US" sz="2400" dirty="0"/>
              <a:t>Visualize with a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timing diagram</a:t>
            </a:r>
          </a:p>
          <a:p>
            <a:r>
              <a:rPr lang="en-US" sz="2400" dirty="0"/>
              <a:t>Critical for estimating:</a:t>
            </a:r>
          </a:p>
          <a:p>
            <a:pPr lvl="1"/>
            <a:r>
              <a:rPr lang="en-US" sz="2000" dirty="0"/>
              <a:t>Clock speed, latency, throughput, …</a:t>
            </a:r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Static timing analysis</a:t>
            </a:r>
            <a:r>
              <a:rPr lang="en-US" sz="2400" dirty="0"/>
              <a:t>:</a:t>
            </a:r>
          </a:p>
          <a:p>
            <a:pPr lvl="1"/>
            <a:r>
              <a:rPr lang="en-US" sz="2200" dirty="0"/>
              <a:t>Focus on </a:t>
            </a:r>
            <a:r>
              <a: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maximum propagation delay</a:t>
            </a:r>
          </a:p>
          <a:p>
            <a:pPr lvl="1"/>
            <a:r>
              <a:rPr lang="en-US" sz="2200" dirty="0"/>
              <a:t>Timing that can be guaranteed for all inputs</a:t>
            </a:r>
          </a:p>
          <a:p>
            <a:pPr lvl="1"/>
            <a:r>
              <a:rPr lang="en-US" sz="2200" dirty="0"/>
              <a:t>Not data dependent</a:t>
            </a:r>
          </a:p>
          <a:p>
            <a:r>
              <a:rPr lang="en-US" sz="2400" dirty="0"/>
              <a:t>This analysis is conservative, but provides hard guarantees</a:t>
            </a:r>
          </a:p>
          <a:p>
            <a:r>
              <a:rPr lang="en-US" sz="2400" dirty="0"/>
              <a:t>Default analysis in industry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DA2F0-2BE0-2360-50C9-AAD684E65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E7CAD9-DA1C-0CCC-6324-71BA0E74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260"/>
          <a:stretch>
            <a:fillRect/>
          </a:stretch>
        </p:blipFill>
        <p:spPr>
          <a:xfrm>
            <a:off x="6542786" y="2117310"/>
            <a:ext cx="5353360" cy="209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38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FC5CB-9F65-A419-49E5-3548CDBEE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Signal Physically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62B15-C347-EB4E-A849-6F232BE17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To understand timing, we need to look at physical implementation of signals</a:t>
            </a:r>
          </a:p>
          <a:p>
            <a:endParaRPr lang="en-US" sz="2400" dirty="0"/>
          </a:p>
          <a:p>
            <a:r>
              <a:rPr lang="en-US" sz="2400" dirty="0"/>
              <a:t>Consider a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binary signal</a:t>
            </a:r>
            <a:r>
              <a:rPr lang="en-US" sz="2400" dirty="0"/>
              <a:t> from Unit 1</a:t>
            </a:r>
          </a:p>
          <a:p>
            <a:r>
              <a:rPr lang="en-US" sz="2400" dirty="0"/>
              <a:t>Two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logical values</a:t>
            </a:r>
            <a:r>
              <a:rPr lang="en-US" sz="2400" dirty="0"/>
              <a:t>: 0 or 1</a:t>
            </a:r>
          </a:p>
          <a:p>
            <a:endParaRPr lang="en-US" sz="2200" dirty="0"/>
          </a:p>
          <a:p>
            <a:r>
              <a:rPr lang="en-US" sz="2400" dirty="0"/>
              <a:t>What happens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physically</a:t>
            </a:r>
            <a:r>
              <a:rPr lang="en-US" sz="2400" dirty="0"/>
              <a:t>?</a:t>
            </a:r>
          </a:p>
          <a:p>
            <a:pPr lvl="1"/>
            <a:r>
              <a:rPr lang="en-US" sz="2000" dirty="0"/>
              <a:t>Typically, a voltage on a wire</a:t>
            </a:r>
          </a:p>
          <a:p>
            <a:pPr lvl="1"/>
            <a:r>
              <a:rPr lang="en-US" sz="2000" dirty="0"/>
              <a:t>Takes a continuous value</a:t>
            </a:r>
          </a:p>
          <a:p>
            <a:pPr lvl="1"/>
            <a:r>
              <a:rPr lang="en-US" sz="2000" dirty="0"/>
              <a:t>Obtain logical value by thresholding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DC28D-EA44-4E34-F2B9-86B1CF1BA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EA7D17-01BA-DCD9-B020-D4B2ABA5E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639" y="2601165"/>
            <a:ext cx="5526388" cy="250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586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B091C-616C-58B0-52FE-B50FFB118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Undefined Logic Value:  </a:t>
            </a:r>
            <a:r>
              <a:rPr lang="en-US" dirty="0">
                <a:solidFill>
                  <a:srgbClr val="FF0000"/>
                </a:solidFill>
              </a:rPr>
              <a:t>‘X’ </a:t>
            </a:r>
            <a:r>
              <a:rPr lang="en-US" dirty="0">
                <a:solidFill>
                  <a:schemeClr val="tx1"/>
                </a:solidFill>
              </a:rPr>
              <a:t>or</a:t>
            </a:r>
            <a:r>
              <a:rPr lang="en-US" dirty="0">
                <a:solidFill>
                  <a:srgbClr val="FF0000"/>
                </a:solidFill>
              </a:rPr>
              <a:t> ‘?’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50434-70A4-1E7F-DCA8-50141D013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394084" cy="4329817"/>
          </a:xfrm>
        </p:spPr>
        <p:txBody>
          <a:bodyPr>
            <a:normAutofit/>
          </a:bodyPr>
          <a:lstStyle/>
          <a:p>
            <a:r>
              <a:rPr lang="en-US" dirty="0"/>
              <a:t>Signals take time to transition</a:t>
            </a:r>
          </a:p>
          <a:p>
            <a:pPr lvl="1"/>
            <a:r>
              <a:rPr lang="en-US" sz="2000" dirty="0"/>
              <a:t>They are outputs of physical circuits</a:t>
            </a:r>
          </a:p>
          <a:p>
            <a:pPr lvl="1"/>
            <a:r>
              <a:rPr lang="en-US" sz="2000" dirty="0"/>
              <a:t>Gates, computational units, …</a:t>
            </a:r>
          </a:p>
          <a:p>
            <a:r>
              <a:rPr lang="en-US" dirty="0"/>
              <a:t>Creates an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undefined</a:t>
            </a:r>
            <a:r>
              <a:rPr lang="en-US" dirty="0"/>
              <a:t> period</a:t>
            </a:r>
          </a:p>
          <a:p>
            <a:pPr lvl="1"/>
            <a:r>
              <a:rPr lang="en-US" sz="2000" dirty="0"/>
              <a:t>Also called indeterminate, unknown, …</a:t>
            </a:r>
          </a:p>
          <a:p>
            <a:r>
              <a:rPr lang="en-US" dirty="0"/>
              <a:t>Usually denoted as </a:t>
            </a:r>
            <a:r>
              <a:rPr lang="en-US" dirty="0">
                <a:solidFill>
                  <a:srgbClr val="FF0000"/>
                </a:solidFill>
              </a:rPr>
              <a:t>X</a:t>
            </a:r>
          </a:p>
          <a:p>
            <a:pPr lvl="1"/>
            <a:r>
              <a:rPr lang="en-US" dirty="0"/>
              <a:t>We may use </a:t>
            </a:r>
            <a:r>
              <a:rPr lang="en-US" dirty="0">
                <a:solidFill>
                  <a:srgbClr val="FF0000"/>
                </a:solidFill>
              </a:rPr>
              <a:t>?</a:t>
            </a:r>
            <a:r>
              <a:rPr lang="en-US" dirty="0"/>
              <a:t> to avoid confusion with variable</a:t>
            </a:r>
          </a:p>
          <a:p>
            <a:r>
              <a:rPr lang="en-US" dirty="0"/>
              <a:t>So binary logic signals have three values:</a:t>
            </a:r>
          </a:p>
          <a:p>
            <a:pPr lvl="1"/>
            <a:r>
              <a:rPr lang="en-US" sz="2000" dirty="0"/>
              <a:t> 0, 1 and X</a:t>
            </a:r>
          </a:p>
          <a:p>
            <a:pPr lvl="1"/>
            <a:r>
              <a:rPr lang="en-US" sz="2000" dirty="0"/>
              <a:t>Will discuss a fourth value Z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B2C78-9EBE-3338-FD65-712D6453A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pic>
        <p:nvPicPr>
          <p:cNvPr id="2050" name="Picture 2" descr="Rise time and fall time indicate the length of time a signal takes to change voltage between the low level and high level">
            <a:extLst>
              <a:ext uri="{FF2B5EF4-FFF2-40B4-BE49-F238E27FC236}">
                <a16:creationId xmlns:a16="http://schemas.microsoft.com/office/drawing/2014/main" id="{F7A55619-EF33-89D1-1A47-91A9DF34C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359" y="1596142"/>
            <a:ext cx="5632844" cy="3221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0F4E29-D843-DA3C-EF40-271BA0FE05E7}"/>
              </a:ext>
            </a:extLst>
          </p:cNvPr>
          <p:cNvSpPr txBox="1"/>
          <p:nvPr/>
        </p:nvSpPr>
        <p:spPr>
          <a:xfrm>
            <a:off x="6990562" y="473867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CC8A78-5D78-C2E6-5CFF-D913EB9DB06A}"/>
              </a:ext>
            </a:extLst>
          </p:cNvPr>
          <p:cNvSpPr txBox="1"/>
          <p:nvPr/>
        </p:nvSpPr>
        <p:spPr>
          <a:xfrm>
            <a:off x="7857168" y="473863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FC2038-1D69-247D-67F7-2BDDF4ED897D}"/>
              </a:ext>
            </a:extLst>
          </p:cNvPr>
          <p:cNvSpPr txBox="1"/>
          <p:nvPr/>
        </p:nvSpPr>
        <p:spPr>
          <a:xfrm>
            <a:off x="9069579" y="473863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8DBDF4-7F05-C3D5-3427-CA90793158E9}"/>
              </a:ext>
            </a:extLst>
          </p:cNvPr>
          <p:cNvSpPr txBox="1"/>
          <p:nvPr/>
        </p:nvSpPr>
        <p:spPr>
          <a:xfrm>
            <a:off x="10098286" y="472128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CD49F1-0703-6830-ECD0-967DD841E577}"/>
              </a:ext>
            </a:extLst>
          </p:cNvPr>
          <p:cNvSpPr txBox="1"/>
          <p:nvPr/>
        </p:nvSpPr>
        <p:spPr>
          <a:xfrm>
            <a:off x="11073897" y="472128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142928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3D39C-7945-2FB1-B8A7-BEC477DAB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Undefined Regions Illustrated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D34DD-AC2B-7388-61E8-45A608CA8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2851" y="1852613"/>
            <a:ext cx="4397692" cy="3964094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Analog physical signal</a:t>
            </a:r>
          </a:p>
          <a:p>
            <a:pPr lvl="1"/>
            <a:r>
              <a:rPr lang="en-US" dirty="0"/>
              <a:t>Typically, a voltage</a:t>
            </a:r>
          </a:p>
          <a:p>
            <a:pPr lvl="1"/>
            <a:r>
              <a:rPr lang="en-US" dirty="0"/>
              <a:t>Continuous valued</a:t>
            </a:r>
          </a:p>
          <a:p>
            <a:pPr lvl="1"/>
            <a:r>
              <a:rPr lang="en-US" dirty="0"/>
              <a:t>Has finite transition periods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Digital logic signal</a:t>
            </a:r>
          </a:p>
          <a:p>
            <a:pPr lvl="1"/>
            <a:r>
              <a:rPr lang="en-US" dirty="0"/>
              <a:t>Three values  0, 1 and X</a:t>
            </a:r>
          </a:p>
          <a:p>
            <a:pPr lvl="1"/>
            <a:r>
              <a:rPr lang="en-US" dirty="0"/>
              <a:t>X value shown in gray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5CC22-1D34-C503-051E-1D764EB0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0FB92D-C1EF-A3C6-C913-EA0B226D4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12" y="1596313"/>
            <a:ext cx="5762626" cy="43091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F054AD-A7DE-9BC8-4E9B-C74FC6B8B7C5}"/>
              </a:ext>
            </a:extLst>
          </p:cNvPr>
          <p:cNvSpPr txBox="1"/>
          <p:nvPr/>
        </p:nvSpPr>
        <p:spPr>
          <a:xfrm>
            <a:off x="1861181" y="448622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916287-4760-ACBD-178B-7CC15429C073}"/>
              </a:ext>
            </a:extLst>
          </p:cNvPr>
          <p:cNvSpPr txBox="1"/>
          <p:nvPr/>
        </p:nvSpPr>
        <p:spPr>
          <a:xfrm>
            <a:off x="2723194" y="448622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152242-3DEE-C52F-7BD1-DDDD31B9C3C3}"/>
              </a:ext>
            </a:extLst>
          </p:cNvPr>
          <p:cNvSpPr txBox="1"/>
          <p:nvPr/>
        </p:nvSpPr>
        <p:spPr>
          <a:xfrm>
            <a:off x="3609149" y="448622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753A8C-6C47-711E-930E-825184024BE7}"/>
              </a:ext>
            </a:extLst>
          </p:cNvPr>
          <p:cNvSpPr txBox="1"/>
          <p:nvPr/>
        </p:nvSpPr>
        <p:spPr>
          <a:xfrm>
            <a:off x="4495104" y="449268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2BC464-B7CD-5E7E-1A9E-ACB383F362B0}"/>
              </a:ext>
            </a:extLst>
          </p:cNvPr>
          <p:cNvSpPr txBox="1"/>
          <p:nvPr/>
        </p:nvSpPr>
        <p:spPr>
          <a:xfrm>
            <a:off x="5409633" y="448622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284401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E62AD-256F-8DEC-B0AC-DCD6A0667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60511-BB91-8AA6-A88D-A86C48CD0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Stable Values and Propagation Delays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15579F-6104-AC5B-37DF-7E01387473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90626" y="1539277"/>
                <a:ext cx="9965054" cy="4329817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Stable value</a:t>
                </a:r>
                <a:r>
                  <a:rPr lang="en-US" dirty="0"/>
                  <a:t>:  Eventual value after a transition</a:t>
                </a:r>
              </a:p>
              <a:p>
                <a:pPr lvl="1"/>
                <a:r>
                  <a:rPr lang="en-US" dirty="0"/>
                  <a:t>Ex:  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transitions from 4 to 5:</a:t>
                </a:r>
              </a:p>
              <a:p>
                <a:pPr lvl="1"/>
                <a:r>
                  <a:rPr lang="en-US" dirty="0"/>
                  <a:t>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is eventually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Stable output value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endPara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Propagation delay</a:t>
                </a:r>
                <a:r>
                  <a:rPr lang="en-US" dirty="0">
                    <a:solidFill>
                      <a:schemeClr val="tx1"/>
                    </a:solidFill>
                  </a:rPr>
                  <a:t>: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Time for the output to transition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Two components:</a:t>
                </a:r>
              </a:p>
              <a:p>
                <a:pPr lvl="1"/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Logic delay</a:t>
                </a:r>
                <a:r>
                  <a:rPr lang="en-US" dirty="0">
                    <a:solidFill>
                      <a:schemeClr val="tx1"/>
                    </a:solidFill>
                  </a:rPr>
                  <a:t>:  Time for the logic gates to settle</a:t>
                </a:r>
              </a:p>
              <a:p>
                <a:pPr lvl="1"/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Routing delay</a:t>
                </a:r>
                <a:r>
                  <a:rPr lang="en-US" dirty="0">
                    <a:solidFill>
                      <a:schemeClr val="tx1"/>
                    </a:solidFill>
                  </a:rPr>
                  <a:t>:  Time to pass through wire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May be related to capacitance, current source limits </a:t>
                </a:r>
              </a:p>
              <a:p>
                <a:pPr lvl="1"/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15579F-6104-AC5B-37DF-7E01387473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90626" y="1539277"/>
                <a:ext cx="9965054" cy="4329817"/>
              </a:xfrm>
              <a:blipFill>
                <a:blip r:embed="rId2"/>
                <a:stretch>
                  <a:fillRect l="-1468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5024F-7EB5-CDA2-A375-ABCFDB855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F993C4-0BF7-944D-F0B4-E71C31097389}"/>
                  </a:ext>
                </a:extLst>
              </p:cNvPr>
              <p:cNvSpPr txBox="1"/>
              <p:nvPr/>
            </p:nvSpPr>
            <p:spPr>
              <a:xfrm>
                <a:off x="8495489" y="2503114"/>
                <a:ext cx="1397434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𝑝𝑟𝑜𝑝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ns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F993C4-0BF7-944D-F0B4-E71C31097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5489" y="2503114"/>
                <a:ext cx="1397434" cy="390748"/>
              </a:xfrm>
              <a:prstGeom prst="rect">
                <a:avLst/>
              </a:prstGeom>
              <a:blipFill>
                <a:blip r:embed="rId3"/>
                <a:stretch>
                  <a:fillRect t="-7813" r="-3057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FE3C8B4D-376D-6264-3140-6273EEE99861}"/>
              </a:ext>
            </a:extLst>
          </p:cNvPr>
          <p:cNvSpPr/>
          <p:nvPr/>
        </p:nvSpPr>
        <p:spPr>
          <a:xfrm>
            <a:off x="8891588" y="1924050"/>
            <a:ext cx="561975" cy="56197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3956B86-942C-3460-341A-65DCD66F0598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7687945" y="2205037"/>
            <a:ext cx="12036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E4644E3-D110-D9CC-B0A6-5339D0930A75}"/>
              </a:ext>
            </a:extLst>
          </p:cNvPr>
          <p:cNvCxnSpPr>
            <a:cxnSpLocks/>
          </p:cNvCxnSpPr>
          <p:nvPr/>
        </p:nvCxnSpPr>
        <p:spPr>
          <a:xfrm>
            <a:off x="9453563" y="2205037"/>
            <a:ext cx="12036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C62696-CC60-6D12-9717-701A2BB5BB22}"/>
                  </a:ext>
                </a:extLst>
              </p:cNvPr>
              <p:cNvSpPr txBox="1"/>
              <p:nvPr/>
            </p:nvSpPr>
            <p:spPr>
              <a:xfrm>
                <a:off x="7892671" y="1759863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C62696-CC60-6D12-9717-701A2BB5B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671" y="1759863"/>
                <a:ext cx="36798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A99C96-4D6C-A359-D19D-2169BCDB50A2}"/>
                  </a:ext>
                </a:extLst>
              </p:cNvPr>
              <p:cNvSpPr txBox="1"/>
              <p:nvPr/>
            </p:nvSpPr>
            <p:spPr>
              <a:xfrm>
                <a:off x="9892923" y="1729474"/>
                <a:ext cx="9161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A99C96-4D6C-A359-D19D-2169BCDB5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2923" y="1729474"/>
                <a:ext cx="916148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A1F566D2-BC96-EE60-D51B-EFB79BE666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470" b="2695"/>
          <a:stretch>
            <a:fillRect/>
          </a:stretch>
        </p:blipFill>
        <p:spPr>
          <a:xfrm>
            <a:off x="6170543" y="3339036"/>
            <a:ext cx="5928345" cy="121264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0B49DFE-64F1-5CBF-E546-D7274CBAF86B}"/>
              </a:ext>
            </a:extLst>
          </p:cNvPr>
          <p:cNvCxnSpPr>
            <a:cxnSpLocks/>
          </p:cNvCxnSpPr>
          <p:nvPr/>
        </p:nvCxnSpPr>
        <p:spPr>
          <a:xfrm>
            <a:off x="9172783" y="3489901"/>
            <a:ext cx="0" cy="176807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74072D3-554B-5025-2B56-B551CC56444C}"/>
              </a:ext>
            </a:extLst>
          </p:cNvPr>
          <p:cNvCxnSpPr>
            <a:cxnSpLocks/>
          </p:cNvCxnSpPr>
          <p:nvPr/>
        </p:nvCxnSpPr>
        <p:spPr>
          <a:xfrm>
            <a:off x="10015746" y="3912573"/>
            <a:ext cx="0" cy="134540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F674AD7-7664-422F-01CD-754D6414B06C}"/>
              </a:ext>
            </a:extLst>
          </p:cNvPr>
          <p:cNvCxnSpPr>
            <a:cxnSpLocks/>
          </p:cNvCxnSpPr>
          <p:nvPr/>
        </p:nvCxnSpPr>
        <p:spPr>
          <a:xfrm>
            <a:off x="9172783" y="4708016"/>
            <a:ext cx="842963" cy="0"/>
          </a:xfrm>
          <a:prstGeom prst="line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F8654E-451D-BA51-1053-C939550959D6}"/>
                  </a:ext>
                </a:extLst>
              </p:cNvPr>
              <p:cNvSpPr txBox="1"/>
              <p:nvPr/>
            </p:nvSpPr>
            <p:spPr>
              <a:xfrm>
                <a:off x="10185388" y="4512642"/>
                <a:ext cx="1397434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𝑝𝑟𝑜𝑝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ns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F8654E-451D-BA51-1053-C93955095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388" y="4512642"/>
                <a:ext cx="1397434" cy="390748"/>
              </a:xfrm>
              <a:prstGeom prst="rect">
                <a:avLst/>
              </a:prstGeom>
              <a:blipFill>
                <a:blip r:embed="rId7"/>
                <a:stretch>
                  <a:fillRect t="-6250" r="-3057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0394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E1F7704-FF2A-B8C7-783F-9A70FA9A5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44" y="1554279"/>
            <a:ext cx="5188172" cy="38796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046029-C6B9-F952-B6E1-4DD1D10A1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Propagation Delay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5EF7B4-4CE4-F093-7685-77B4D39BFE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10025" y="1539277"/>
                <a:ext cx="5162837" cy="4329817"/>
              </a:xfrm>
            </p:spPr>
            <p:txBody>
              <a:bodyPr/>
              <a:lstStyle/>
              <a:p>
                <a:r>
                  <a:rPr lang="en-US" dirty="0"/>
                  <a:t>Actual delays vary</a:t>
                </a:r>
              </a:p>
              <a:p>
                <a:pPr lvl="1"/>
                <a:r>
                  <a:rPr lang="en-US" dirty="0"/>
                  <a:t>Signal length, temperature, device variability</a:t>
                </a:r>
              </a:p>
              <a:p>
                <a:r>
                  <a:rPr lang="en-US" dirty="0"/>
                  <a:t>Typically use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maximum propagation delay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Timing diagrams show max propagation delay</a:t>
                </a: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  <a:r>
                  <a:rPr lang="en-US" dirty="0"/>
                  <a:t> region represents:</a:t>
                </a:r>
              </a:p>
              <a:p>
                <a:pPr lvl="1"/>
                <a:r>
                  <a:rPr lang="en-US" dirty="0"/>
                  <a:t>Region where value cannot be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guaranteed</a:t>
                </a:r>
              </a:p>
              <a:p>
                <a:pPr lvl="1"/>
                <a:r>
                  <a:rPr lang="en-US" dirty="0"/>
                  <a:t>Often stable before max delay</a:t>
                </a:r>
              </a:p>
              <a:p>
                <a:r>
                  <a:rPr lang="en-US" dirty="0"/>
                  <a:t>Max propagation delay often very conservative</a:t>
                </a:r>
              </a:p>
              <a:p>
                <a:pPr lvl="1"/>
                <a:r>
                  <a:rPr lang="en-US" dirty="0"/>
                  <a:t>Real propagation delay may be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≪ </m:t>
                    </m:r>
                  </m:oMath>
                </a14:m>
                <a:r>
                  <a:rPr lang="en-US" dirty="0"/>
                  <a:t>maximum</a:t>
                </a:r>
              </a:p>
              <a:p>
                <a:pPr lvl="1"/>
                <a:r>
                  <a:rPr lang="en-US" dirty="0"/>
                  <a:t>Violating delay is usually catastrophic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5EF7B4-4CE4-F093-7685-77B4D39BFE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10025" y="1539277"/>
                <a:ext cx="5162837" cy="4329817"/>
              </a:xfrm>
              <a:blipFill>
                <a:blip r:embed="rId3"/>
                <a:stretch>
                  <a:fillRect l="-2834" t="-1549" r="-1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9D70F-97A1-AB10-F6C7-382E5F31C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8C5B59-A92C-3BD7-065C-EE635C206A1B}"/>
              </a:ext>
            </a:extLst>
          </p:cNvPr>
          <p:cNvCxnSpPr/>
          <p:nvPr/>
        </p:nvCxnSpPr>
        <p:spPr>
          <a:xfrm>
            <a:off x="3761349" y="2032167"/>
            <a:ext cx="0" cy="3738562"/>
          </a:xfrm>
          <a:prstGeom prst="line">
            <a:avLst/>
          </a:prstGeom>
          <a:ln w="349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9726E0C-44E1-879E-D357-9BE61DFC20A0}"/>
              </a:ext>
            </a:extLst>
          </p:cNvPr>
          <p:cNvCxnSpPr/>
          <p:nvPr/>
        </p:nvCxnSpPr>
        <p:spPr>
          <a:xfrm>
            <a:off x="1680795" y="2011960"/>
            <a:ext cx="0" cy="3738562"/>
          </a:xfrm>
          <a:prstGeom prst="line">
            <a:avLst/>
          </a:prstGeom>
          <a:ln w="349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4D1CC63-5137-19DB-5A95-C0217839684B}"/>
              </a:ext>
            </a:extLst>
          </p:cNvPr>
          <p:cNvCxnSpPr>
            <a:cxnSpLocks/>
          </p:cNvCxnSpPr>
          <p:nvPr/>
        </p:nvCxnSpPr>
        <p:spPr>
          <a:xfrm>
            <a:off x="1688290" y="5547023"/>
            <a:ext cx="2073059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5F67D8-A2F3-52B7-02D3-CDCEF922BFE5}"/>
                  </a:ext>
                </a:extLst>
              </p:cNvPr>
              <p:cNvSpPr txBox="1"/>
              <p:nvPr/>
            </p:nvSpPr>
            <p:spPr>
              <a:xfrm>
                <a:off x="4316228" y="5433901"/>
                <a:ext cx="2618409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dirty="0"/>
                  <a:t>Worst-case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𝑝𝑟𝑜𝑝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 ns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5F67D8-A2F3-52B7-02D3-CDCEF922B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6228" y="5433901"/>
                <a:ext cx="2618409" cy="390748"/>
              </a:xfrm>
              <a:prstGeom prst="rect">
                <a:avLst/>
              </a:prstGeom>
              <a:blipFill>
                <a:blip r:embed="rId4"/>
                <a:stretch>
                  <a:fillRect l="-1860" t="-6250" r="-1395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38DF0605-AF99-7BEC-DFF6-810AF35FFC29}"/>
              </a:ext>
            </a:extLst>
          </p:cNvPr>
          <p:cNvSpPr txBox="1"/>
          <p:nvPr/>
        </p:nvSpPr>
        <p:spPr>
          <a:xfrm>
            <a:off x="2604225" y="409722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827318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A39AD-C4E3-E69C-1A9B-E391E0A38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in a Series Circuit:  </a:t>
            </a:r>
            <a:r>
              <a:rPr lang="en-US" dirty="0" err="1"/>
              <a:t>ReLU</a:t>
            </a:r>
            <a:r>
              <a:rPr lang="en-US" dirty="0"/>
              <a:t> + 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2C3F6B-499A-181F-3FE7-8ECCD425CF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As example, consider a more complication circuit: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 0</m:t>
                            </m:r>
                          </m:e>
                        </m:d>
                      </m:e>
                    </m:func>
                  </m:oMath>
                </a14:m>
                <a:endParaRPr lang="en-US" sz="2400" b="0" dirty="0"/>
              </a:p>
              <a:p>
                <a:pPr lvl="1"/>
                <a:r>
                  <a:rPr lang="en-US" sz="2400" dirty="0"/>
                  <a:t>Linear function + </a:t>
                </a:r>
                <a:r>
                  <a:rPr lang="en-US" sz="2400" dirty="0" err="1"/>
                  <a:t>ReLU</a:t>
                </a:r>
                <a:r>
                  <a:rPr lang="en-US" sz="2400" dirty="0"/>
                  <a:t> from Unit 2</a:t>
                </a:r>
              </a:p>
              <a:p>
                <a:pPr lvl="1"/>
                <a:r>
                  <a:rPr lang="en-US" sz="2400" dirty="0"/>
                  <a:t>Used widely in machine learning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2C3F6B-499A-181F-3FE7-8ECCD425CF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18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1B6C6-52C3-B217-47F8-F3F705812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1FFF23-8720-B06E-AFD6-9918105B9306}"/>
              </a:ext>
            </a:extLst>
          </p:cNvPr>
          <p:cNvSpPr/>
          <p:nvPr/>
        </p:nvSpPr>
        <p:spPr>
          <a:xfrm>
            <a:off x="4773792" y="3704185"/>
            <a:ext cx="1990725" cy="19573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24DBA75-1DA1-3B37-064C-D0CD4B024C95}"/>
              </a:ext>
            </a:extLst>
          </p:cNvPr>
          <p:cNvCxnSpPr/>
          <p:nvPr/>
        </p:nvCxnSpPr>
        <p:spPr>
          <a:xfrm>
            <a:off x="3268842" y="4213772"/>
            <a:ext cx="15049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D4785C0-8EA6-26C6-0F51-78BFECB37F58}"/>
              </a:ext>
            </a:extLst>
          </p:cNvPr>
          <p:cNvCxnSpPr/>
          <p:nvPr/>
        </p:nvCxnSpPr>
        <p:spPr>
          <a:xfrm>
            <a:off x="3268842" y="5071022"/>
            <a:ext cx="15049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D9C9CE2-EB87-E202-5CB2-D6E50B4E525C}"/>
              </a:ext>
            </a:extLst>
          </p:cNvPr>
          <p:cNvCxnSpPr>
            <a:cxnSpLocks/>
          </p:cNvCxnSpPr>
          <p:nvPr/>
        </p:nvCxnSpPr>
        <p:spPr>
          <a:xfrm>
            <a:off x="6764517" y="4604297"/>
            <a:ext cx="130813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B4964D-ABD3-D4C7-D031-49F37CBFB325}"/>
              </a:ext>
            </a:extLst>
          </p:cNvPr>
          <p:cNvCxnSpPr/>
          <p:nvPr/>
        </p:nvCxnSpPr>
        <p:spPr>
          <a:xfrm>
            <a:off x="3268842" y="4604297"/>
            <a:ext cx="15049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341D9E-860B-6F46-E0DA-9F572C1D64B7}"/>
                  </a:ext>
                </a:extLst>
              </p:cNvPr>
              <p:cNvSpPr txBox="1"/>
              <p:nvPr/>
            </p:nvSpPr>
            <p:spPr>
              <a:xfrm>
                <a:off x="2758356" y="3900182"/>
                <a:ext cx="46807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341D9E-860B-6F46-E0DA-9F572C1D6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356" y="3900182"/>
                <a:ext cx="46807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E02514-9A61-E838-AE54-661022887ADE}"/>
                  </a:ext>
                </a:extLst>
              </p:cNvPr>
              <p:cNvSpPr txBox="1"/>
              <p:nvPr/>
            </p:nvSpPr>
            <p:spPr>
              <a:xfrm>
                <a:off x="2758355" y="4374255"/>
                <a:ext cx="47557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E02514-9A61-E838-AE54-661022887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355" y="4374255"/>
                <a:ext cx="47557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FBA255-20E6-F6AA-0C73-8BAEC7ADB958}"/>
                  </a:ext>
                </a:extLst>
              </p:cNvPr>
              <p:cNvSpPr txBox="1"/>
              <p:nvPr/>
            </p:nvSpPr>
            <p:spPr>
              <a:xfrm>
                <a:off x="2750854" y="4858452"/>
                <a:ext cx="47557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FBA255-20E6-F6AA-0C73-8BAEC7ADB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854" y="4858452"/>
                <a:ext cx="47557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5A7343-6B2C-9B77-8B2A-57A07D1B4017}"/>
                  </a:ext>
                </a:extLst>
              </p:cNvPr>
              <p:cNvSpPr txBox="1"/>
              <p:nvPr/>
            </p:nvSpPr>
            <p:spPr>
              <a:xfrm>
                <a:off x="8121288" y="4335232"/>
                <a:ext cx="47557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5A7343-6B2C-9B77-8B2A-57A07D1B4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288" y="4335232"/>
                <a:ext cx="47557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7A75226-4D24-50E7-4529-BB8CAA71C664}"/>
              </a:ext>
            </a:extLst>
          </p:cNvPr>
          <p:cNvSpPr txBox="1"/>
          <p:nvPr/>
        </p:nvSpPr>
        <p:spPr>
          <a:xfrm>
            <a:off x="8645506" y="4387319"/>
            <a:ext cx="1681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Output port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30F934-71D4-864A-E2F6-8243F49EF94A}"/>
              </a:ext>
            </a:extLst>
          </p:cNvPr>
          <p:cNvSpPr txBox="1"/>
          <p:nvPr/>
        </p:nvSpPr>
        <p:spPr>
          <a:xfrm>
            <a:off x="1036320" y="4435810"/>
            <a:ext cx="1572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Input ports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770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8D784-9A01-55DB-D193-0DE0BF6F0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Diagram for Series Connections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B04E1-70CB-65A5-6FD8-98DF333F2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Linear + </a:t>
            </a:r>
            <a:r>
              <a:rPr lang="en-US" sz="2400" dirty="0" err="1"/>
              <a:t>ReLU</a:t>
            </a:r>
            <a:r>
              <a:rPr lang="en-US" sz="2400" dirty="0"/>
              <a:t> can be implemented as a series connection</a:t>
            </a:r>
          </a:p>
          <a:p>
            <a:pPr lvl="1"/>
            <a:r>
              <a:rPr lang="en-US" sz="2000" dirty="0"/>
              <a:t>In this case, three operations one after the other</a:t>
            </a:r>
          </a:p>
          <a:p>
            <a:r>
              <a:rPr lang="en-US" sz="2400" dirty="0"/>
              <a:t>For analysis, assume the max propagation delays in the table</a:t>
            </a:r>
          </a:p>
          <a:p>
            <a:r>
              <a:rPr lang="en-US" sz="2400" dirty="0"/>
              <a:t>Question:  What does the timing diagram look like with changes in the input?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0CB96-3F47-24B5-9142-7743E60AF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2233B5-D650-2A86-938A-F2909D3DE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0602" y="3770830"/>
            <a:ext cx="5915078" cy="18166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6">
                <a:extLst>
                  <a:ext uri="{FF2B5EF4-FFF2-40B4-BE49-F238E27FC236}">
                    <a16:creationId xmlns:a16="http://schemas.microsoft.com/office/drawing/2014/main" id="{5ABD3061-85B7-DCB1-3A2B-675BF78625E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410158776"/>
                  </p:ext>
                </p:extLst>
              </p:nvPr>
            </p:nvGraphicFramePr>
            <p:xfrm>
              <a:off x="682841" y="3856962"/>
              <a:ext cx="4267255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76425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390830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block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prop delay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𝑚𝑢𝑙𝑡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/>
                            <a:t>3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𝑎𝑑𝑑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b="0" dirty="0"/>
                            <a:t>1.5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operator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/>
                            <a:t>1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2939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𝑡𝑜𝑡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5.5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6">
                <a:extLst>
                  <a:ext uri="{FF2B5EF4-FFF2-40B4-BE49-F238E27FC236}">
                    <a16:creationId xmlns:a16="http://schemas.microsoft.com/office/drawing/2014/main" id="{5ABD3061-85B7-DCB1-3A2B-675BF78625E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410158776"/>
                  </p:ext>
                </p:extLst>
              </p:nvPr>
            </p:nvGraphicFramePr>
            <p:xfrm>
              <a:off x="682841" y="3856962"/>
              <a:ext cx="4267255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76425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390830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block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prop delay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880" t="-108197" r="-1018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880" t="-208197" r="-1018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operator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880" t="-308197" r="-1018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22939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880" t="-408197" r="-1018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3342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7DC26-E3A5-F949-2640-10973AE36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Diagram of a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39D900-5211-C173-5E2F-B28DB1479A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11756" y="1539277"/>
                <a:ext cx="4643923" cy="4329817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are invalid 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0,2</m:t>
                        </m:r>
                      </m:e>
                    </m:d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They are in a transition in this period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Signals are unknown X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Mark the unknown region with violet </a:t>
                </a:r>
                <a:r>
                  <a:rPr lang="en-US" dirty="0">
                    <a:solidFill>
                      <a:schemeClr val="accent1"/>
                    </a:solidFill>
                  </a:rPr>
                  <a:t>[0,2]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When are downstream signals stable?</a:t>
                </a:r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39D900-5211-C173-5E2F-B28DB1479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11756" y="1539277"/>
                <a:ext cx="4643923" cy="4329817"/>
              </a:xfrm>
              <a:blipFill>
                <a:blip r:embed="rId2"/>
                <a:stretch>
                  <a:fillRect l="-3150" t="-1549" r="-2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EB597-18FB-B787-CE61-5531A45D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8A6B94-9B1F-8DFC-08B1-75FC0AD23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04" y="1485247"/>
            <a:ext cx="5223507" cy="16042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AA78C7-1FF1-81FC-AC9A-28DE3651D4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38628"/>
          <a:stretch>
            <a:fillRect/>
          </a:stretch>
        </p:blipFill>
        <p:spPr>
          <a:xfrm>
            <a:off x="454330" y="3138577"/>
            <a:ext cx="5847080" cy="317569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75E04D-94E3-C9D6-BE1F-BA52707F14BF}"/>
              </a:ext>
            </a:extLst>
          </p:cNvPr>
          <p:cNvSpPr/>
          <p:nvPr/>
        </p:nvSpPr>
        <p:spPr>
          <a:xfrm>
            <a:off x="1448828" y="4481624"/>
            <a:ext cx="4852582" cy="12889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3FE259-273C-BD79-1B9B-836E974A7DB3}"/>
              </a:ext>
            </a:extLst>
          </p:cNvPr>
          <p:cNvSpPr txBox="1"/>
          <p:nvPr/>
        </p:nvSpPr>
        <p:spPr>
          <a:xfrm>
            <a:off x="4045882" y="4726422"/>
            <a:ext cx="759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5"/>
                </a:solidFill>
              </a:rPr>
              <a:t>?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049D81-6308-71DF-9B5E-402632D2E824}"/>
              </a:ext>
            </a:extLst>
          </p:cNvPr>
          <p:cNvSpPr txBox="1"/>
          <p:nvPr/>
        </p:nvSpPr>
        <p:spPr>
          <a:xfrm>
            <a:off x="1184782" y="228238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[0,2]</a:t>
            </a:r>
          </a:p>
        </p:txBody>
      </p:sp>
    </p:spTree>
    <p:extLst>
      <p:ext uri="{BB962C8B-B14F-4D97-AF65-F5344CB8AC3E}">
        <p14:creationId xmlns:p14="http://schemas.microsoft.com/office/powerpoint/2010/main" val="246643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7A0FD-BD39-7D63-5E86-4B55FCFFF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D6710-C285-AAE3-AD2D-207C0AFDA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Timing:  Initial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2579F-FCBE-FB74-0FC2-8F6F64E80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716" y="1569094"/>
            <a:ext cx="4754879" cy="432981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Start with first component (multiplier)</a:t>
            </a:r>
          </a:p>
          <a:p>
            <a:r>
              <a:rPr lang="en-US" dirty="0">
                <a:solidFill>
                  <a:schemeClr val="tx1"/>
                </a:solidFill>
              </a:rPr>
              <a:t>Inputs are invalid in </a:t>
            </a:r>
            <a:r>
              <a:rPr lang="en-US" dirty="0">
                <a:solidFill>
                  <a:schemeClr val="accent1"/>
                </a:solidFill>
              </a:rPr>
              <a:t>[0,2]</a:t>
            </a:r>
          </a:p>
          <a:p>
            <a:r>
              <a:rPr lang="en-US" dirty="0">
                <a:solidFill>
                  <a:schemeClr val="tx1"/>
                </a:solidFill>
              </a:rPr>
              <a:t>Max propagation delay of </a:t>
            </a:r>
            <a:r>
              <a:rPr lang="en-US" dirty="0" err="1">
                <a:solidFill>
                  <a:schemeClr val="tx1"/>
                </a:solidFill>
              </a:rPr>
              <a:t>mult</a:t>
            </a:r>
            <a:r>
              <a:rPr lang="en-US" dirty="0">
                <a:solidFill>
                  <a:schemeClr val="tx1"/>
                </a:solidFill>
              </a:rPr>
              <a:t> = 3 ns</a:t>
            </a:r>
          </a:p>
          <a:p>
            <a:r>
              <a:rPr lang="en-US" dirty="0" err="1">
                <a:solidFill>
                  <a:schemeClr val="tx1"/>
                </a:solidFill>
              </a:rPr>
              <a:t>Mult_out</a:t>
            </a:r>
            <a:r>
              <a:rPr lang="en-US" dirty="0">
                <a:solidFill>
                  <a:schemeClr val="tx1"/>
                </a:solidFill>
              </a:rPr>
              <a:t> is invalid from </a:t>
            </a:r>
            <a:r>
              <a:rPr lang="en-US" dirty="0">
                <a:solidFill>
                  <a:schemeClr val="accent1"/>
                </a:solidFill>
              </a:rPr>
              <a:t>[0,5]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Invalid for 3 ns longer than input</a:t>
            </a:r>
          </a:p>
          <a:p>
            <a:r>
              <a:rPr lang="en-US" dirty="0">
                <a:solidFill>
                  <a:schemeClr val="tx1"/>
                </a:solidFill>
              </a:rPr>
              <a:t>Final stable value: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Mult_out</a:t>
            </a:r>
            <a:r>
              <a:rPr lang="en-US" dirty="0">
                <a:solidFill>
                  <a:schemeClr val="tx1"/>
                </a:solidFill>
              </a:rPr>
              <a:t> = 3*10 = 30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9C5A1-B65B-085F-58ED-69A542F4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66137F-1684-C5F9-E5A1-70A646F20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57" y="1326814"/>
            <a:ext cx="5223507" cy="16042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8B72DD-E0A2-07FA-3E4C-960503F39A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860"/>
          <a:stretch>
            <a:fillRect/>
          </a:stretch>
        </p:blipFill>
        <p:spPr>
          <a:xfrm>
            <a:off x="0" y="3008312"/>
            <a:ext cx="6305158" cy="265567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63AF69-EE55-66D4-E676-181BA97732A0}"/>
              </a:ext>
            </a:extLst>
          </p:cNvPr>
          <p:cNvSpPr/>
          <p:nvPr/>
        </p:nvSpPr>
        <p:spPr>
          <a:xfrm>
            <a:off x="806339" y="4524339"/>
            <a:ext cx="5422695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F939F0-B24D-10F4-4262-AE539C042553}"/>
              </a:ext>
            </a:extLst>
          </p:cNvPr>
          <p:cNvSpPr txBox="1"/>
          <p:nvPr/>
        </p:nvSpPr>
        <p:spPr>
          <a:xfrm>
            <a:off x="3152579" y="4632745"/>
            <a:ext cx="759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5"/>
                </a:solidFill>
              </a:rPr>
              <a:t>?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DFBAD3-93C1-2300-2F2E-51F6ABDD5D1B}"/>
              </a:ext>
            </a:extLst>
          </p:cNvPr>
          <p:cNvSpPr txBox="1"/>
          <p:nvPr/>
        </p:nvSpPr>
        <p:spPr>
          <a:xfrm>
            <a:off x="727582" y="1944283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[0,2]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BC9E73-04C7-F8B5-E7CA-C2F02B21DD65}"/>
              </a:ext>
            </a:extLst>
          </p:cNvPr>
          <p:cNvSpPr txBox="1"/>
          <p:nvPr/>
        </p:nvSpPr>
        <p:spPr>
          <a:xfrm>
            <a:off x="1850617" y="1944283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[0,5]</a:t>
            </a:r>
          </a:p>
        </p:txBody>
      </p:sp>
    </p:spTree>
    <p:extLst>
      <p:ext uri="{BB962C8B-B14F-4D97-AF65-F5344CB8AC3E}">
        <p14:creationId xmlns:p14="http://schemas.microsoft.com/office/powerpoint/2010/main" val="1037610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FA2F9-B6DC-F915-247B-413726E61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7B99A-5A62-5A78-A592-0CAC935D8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Timing:  Second Component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2F8073-B136-9EC9-DC3C-E491863C67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0" y="1539277"/>
                <a:ext cx="5223507" cy="4329817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From previous slide: </a:t>
                </a:r>
              </a:p>
              <a:p>
                <a:pPr lvl="1"/>
                <a:r>
                  <a:rPr lang="en-US" dirty="0" err="1">
                    <a:solidFill>
                      <a:schemeClr val="tx1"/>
                    </a:solidFill>
                  </a:rPr>
                  <a:t>Mult_out</a:t>
                </a:r>
                <a:r>
                  <a:rPr lang="en-US" dirty="0">
                    <a:solidFill>
                      <a:schemeClr val="tx1"/>
                    </a:solidFill>
                  </a:rPr>
                  <a:t> is invalid from [0,5]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Adder max propagation delay = 1.5 ns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Hence </a:t>
                </a:r>
                <a:r>
                  <a:rPr lang="en-US" dirty="0" err="1">
                    <a:solidFill>
                      <a:schemeClr val="tx1"/>
                    </a:solidFill>
                  </a:rPr>
                  <a:t>add_out</a:t>
                </a:r>
                <a:r>
                  <a:rPr lang="en-US" dirty="0">
                    <a:solidFill>
                      <a:schemeClr val="tx1"/>
                    </a:solidFill>
                  </a:rPr>
                  <a:t> invalid in </a:t>
                </a:r>
                <a:r>
                  <a:rPr lang="en-US" dirty="0">
                    <a:solidFill>
                      <a:schemeClr val="accent1"/>
                    </a:solidFill>
                  </a:rPr>
                  <a:t>[0,6.5]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Observe:  For worst-case analysis</a:t>
                </a:r>
              </a:p>
              <a:p>
                <a:pPr lvl="1"/>
                <a:r>
                  <a:rPr lang="en-US" dirty="0" err="1">
                    <a:solidFill>
                      <a:schemeClr val="tx1"/>
                    </a:solidFill>
                  </a:rPr>
                  <a:t>Add_out</a:t>
                </a:r>
                <a:r>
                  <a:rPr lang="en-US" dirty="0">
                    <a:solidFill>
                      <a:schemeClr val="tx1"/>
                    </a:solidFill>
                  </a:rPr>
                  <a:t> is invalid immediately when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invalid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Invalid propagates immediately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Stable conditions propagate with delay</a:t>
                </a:r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2F8073-B136-9EC9-DC3C-E491863C67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0" y="1539277"/>
                <a:ext cx="5223507" cy="4329817"/>
              </a:xfrm>
              <a:blipFill>
                <a:blip r:embed="rId2"/>
                <a:stretch>
                  <a:fillRect l="-2800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2908C-9518-2781-7FD6-C6FA8C47F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3FA5B6-5DD1-8EDA-2B58-560A4975B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43" y="1290457"/>
            <a:ext cx="5223507" cy="16042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243CF0-CB3F-A131-2B47-CC28511C32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0860"/>
          <a:stretch>
            <a:fillRect/>
          </a:stretch>
        </p:blipFill>
        <p:spPr>
          <a:xfrm>
            <a:off x="0" y="3008312"/>
            <a:ext cx="6305158" cy="265567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2113B49-320B-A2C1-3EB4-E287DC2A11D1}"/>
              </a:ext>
            </a:extLst>
          </p:cNvPr>
          <p:cNvSpPr/>
          <p:nvPr/>
        </p:nvSpPr>
        <p:spPr>
          <a:xfrm>
            <a:off x="806339" y="4839752"/>
            <a:ext cx="5422695" cy="330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B3D218-4851-9F6F-32F6-8E0D648C90AC}"/>
              </a:ext>
            </a:extLst>
          </p:cNvPr>
          <p:cNvSpPr txBox="1"/>
          <p:nvPr/>
        </p:nvSpPr>
        <p:spPr>
          <a:xfrm>
            <a:off x="3384968" y="4682045"/>
            <a:ext cx="759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5"/>
                </a:solidFill>
              </a:rPr>
              <a:t>?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598033-918B-B670-1E91-CD6B530089FE}"/>
              </a:ext>
            </a:extLst>
          </p:cNvPr>
          <p:cNvSpPr txBox="1"/>
          <p:nvPr/>
        </p:nvSpPr>
        <p:spPr>
          <a:xfrm>
            <a:off x="727582" y="1944283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[0,2]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4300A2-1B33-F3B4-B5B5-43509327E6AA}"/>
              </a:ext>
            </a:extLst>
          </p:cNvPr>
          <p:cNvSpPr txBox="1"/>
          <p:nvPr/>
        </p:nvSpPr>
        <p:spPr>
          <a:xfrm>
            <a:off x="2876810" y="1944283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[0,6.5]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3D1ABF-F081-6129-9190-9C5E15F63AFC}"/>
              </a:ext>
            </a:extLst>
          </p:cNvPr>
          <p:cNvSpPr txBox="1"/>
          <p:nvPr/>
        </p:nvSpPr>
        <p:spPr>
          <a:xfrm>
            <a:off x="1993283" y="1938977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[0,5]</a:t>
            </a:r>
          </a:p>
        </p:txBody>
      </p:sp>
    </p:spTree>
    <p:extLst>
      <p:ext uri="{BB962C8B-B14F-4D97-AF65-F5344CB8AC3E}">
        <p14:creationId xmlns:p14="http://schemas.microsoft.com/office/powerpoint/2010/main" val="937659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4CFBA-ECED-5769-6081-7F36928DB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178C3-3D50-F7AB-D48D-2A1EEAB34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Timing:  Third Component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B4BBDC-4F90-7E78-3CAF-7448E0936B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0" y="1539277"/>
                <a:ext cx="5223507" cy="4329817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Similar logic as </a:t>
                </a:r>
                <a:r>
                  <a:rPr lang="en-US" dirty="0" err="1">
                    <a:solidFill>
                      <a:schemeClr val="tx1"/>
                    </a:solidFill>
                  </a:rPr>
                  <a:t>add_out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 err="1">
                    <a:solidFill>
                      <a:schemeClr val="tx1"/>
                    </a:solidFill>
                  </a:rPr>
                  <a:t>Add_out</a:t>
                </a:r>
                <a:r>
                  <a:rPr lang="en-US" dirty="0">
                    <a:solidFill>
                      <a:schemeClr val="tx1"/>
                    </a:solidFill>
                  </a:rPr>
                  <a:t> is invalid [0,6.5]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Max logic has max prop delay = 1 ns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Output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invalid in </a:t>
                </a:r>
                <a:r>
                  <a:rPr lang="en-US" dirty="0">
                    <a:solidFill>
                      <a:schemeClr val="accent1"/>
                    </a:solidFill>
                  </a:rPr>
                  <a:t>[0, 7.5]</a:t>
                </a:r>
              </a:p>
              <a:p>
                <a:endParaRPr lang="en-US" dirty="0">
                  <a:solidFill>
                    <a:schemeClr val="accent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Total propagation delay = 5.5 ns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Period after inputs were stable</a:t>
                </a: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B4BBDC-4F90-7E78-3CAF-7448E0936B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0" y="1539277"/>
                <a:ext cx="5223507" cy="4329817"/>
              </a:xfrm>
              <a:blipFill>
                <a:blip r:embed="rId2"/>
                <a:stretch>
                  <a:fillRect l="-2800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21D4C-AAFB-C6F6-D650-813B32B2C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9A3CF9-F977-589A-1BC3-A0B0EB23A5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860"/>
          <a:stretch>
            <a:fillRect/>
          </a:stretch>
        </p:blipFill>
        <p:spPr>
          <a:xfrm>
            <a:off x="0" y="3008312"/>
            <a:ext cx="6305158" cy="26556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D63A39-663E-60A8-BD43-51A8151EB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843" y="1290457"/>
            <a:ext cx="5223507" cy="16042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001B2F-DF0F-7742-E247-F5D1F03F280E}"/>
              </a:ext>
            </a:extLst>
          </p:cNvPr>
          <p:cNvSpPr txBox="1"/>
          <p:nvPr/>
        </p:nvSpPr>
        <p:spPr>
          <a:xfrm>
            <a:off x="727582" y="1944283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[0,2]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EFE234-136E-F8BF-EF1A-49FEA8396BC7}"/>
              </a:ext>
            </a:extLst>
          </p:cNvPr>
          <p:cNvSpPr txBox="1"/>
          <p:nvPr/>
        </p:nvSpPr>
        <p:spPr>
          <a:xfrm>
            <a:off x="2876810" y="1944283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[0,6.5]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4FE834-19F6-2C97-EED4-D4C749B1F8AF}"/>
              </a:ext>
            </a:extLst>
          </p:cNvPr>
          <p:cNvSpPr txBox="1"/>
          <p:nvPr/>
        </p:nvSpPr>
        <p:spPr>
          <a:xfrm>
            <a:off x="1993283" y="1938977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[0,5]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9D0F0A-949B-D8DB-2CF8-2CFB3DDF582B}"/>
              </a:ext>
            </a:extLst>
          </p:cNvPr>
          <p:cNvSpPr txBox="1"/>
          <p:nvPr/>
        </p:nvSpPr>
        <p:spPr>
          <a:xfrm>
            <a:off x="5013580" y="1982897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[0,7.5]</a:t>
            </a:r>
          </a:p>
        </p:txBody>
      </p:sp>
    </p:spTree>
    <p:extLst>
      <p:ext uri="{BB962C8B-B14F-4D97-AF65-F5344CB8AC3E}">
        <p14:creationId xmlns:p14="http://schemas.microsoft.com/office/powerpoint/2010/main" val="108294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33E12-0AF8-D024-DDA3-A125865E0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8AA81A0-3CC0-6F75-1C47-376899A6D4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860"/>
          <a:stretch>
            <a:fillRect/>
          </a:stretch>
        </p:blipFill>
        <p:spPr>
          <a:xfrm>
            <a:off x="269956" y="1963649"/>
            <a:ext cx="5496978" cy="23152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E73A91-7772-2CF3-6EB4-8D5235FDA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Total Propagation Delay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4ABA1-AD95-B889-FBA9-16D5858B1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8E57E49-077D-E708-A682-1BC240503962}"/>
              </a:ext>
            </a:extLst>
          </p:cNvPr>
          <p:cNvCxnSpPr>
            <a:cxnSpLocks/>
          </p:cNvCxnSpPr>
          <p:nvPr/>
        </p:nvCxnSpPr>
        <p:spPr>
          <a:xfrm>
            <a:off x="1856923" y="2755107"/>
            <a:ext cx="0" cy="2774156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0C26EF-023F-0884-8E78-63C30B5CFD5A}"/>
              </a:ext>
            </a:extLst>
          </p:cNvPr>
          <p:cNvCxnSpPr>
            <a:cxnSpLocks/>
          </p:cNvCxnSpPr>
          <p:nvPr/>
        </p:nvCxnSpPr>
        <p:spPr>
          <a:xfrm>
            <a:off x="3076124" y="2755107"/>
            <a:ext cx="0" cy="21907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4BC7961-E6BB-DDAF-213B-6A1E08DB506E}"/>
              </a:ext>
            </a:extLst>
          </p:cNvPr>
          <p:cNvCxnSpPr>
            <a:cxnSpLocks/>
          </p:cNvCxnSpPr>
          <p:nvPr/>
        </p:nvCxnSpPr>
        <p:spPr>
          <a:xfrm>
            <a:off x="3680961" y="2755107"/>
            <a:ext cx="0" cy="21907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00DFAA1-DFAB-6531-D513-8B66333B4B55}"/>
              </a:ext>
            </a:extLst>
          </p:cNvPr>
          <p:cNvCxnSpPr>
            <a:cxnSpLocks/>
          </p:cNvCxnSpPr>
          <p:nvPr/>
        </p:nvCxnSpPr>
        <p:spPr>
          <a:xfrm>
            <a:off x="4095299" y="2755107"/>
            <a:ext cx="0" cy="277415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B1DBD37-B18E-0152-E94A-FBDE7D3ADE6B}"/>
                  </a:ext>
                </a:extLst>
              </p:cNvPr>
              <p:cNvSpPr txBox="1"/>
              <p:nvPr/>
            </p:nvSpPr>
            <p:spPr>
              <a:xfrm>
                <a:off x="3053706" y="4546430"/>
                <a:ext cx="6860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𝑎𝑑𝑑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B1DBD37-B18E-0152-E94A-FBDE7D3AD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706" y="4546430"/>
                <a:ext cx="68608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A8F1114-1E41-C56F-B7D3-E1D8220A839A}"/>
                  </a:ext>
                </a:extLst>
              </p:cNvPr>
              <p:cNvSpPr txBox="1"/>
              <p:nvPr/>
            </p:nvSpPr>
            <p:spPr>
              <a:xfrm>
                <a:off x="2137595" y="4450399"/>
                <a:ext cx="7637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𝑚𝑢𝑙𝑡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A8F1114-1E41-C56F-B7D3-E1D8220A8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595" y="4450399"/>
                <a:ext cx="76379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F1DAF76-CDB5-C1ED-0175-DCE34EB8FF9C}"/>
                  </a:ext>
                </a:extLst>
              </p:cNvPr>
              <p:cNvSpPr txBox="1"/>
              <p:nvPr/>
            </p:nvSpPr>
            <p:spPr>
              <a:xfrm>
                <a:off x="4073654" y="4243060"/>
                <a:ext cx="7201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F1DAF76-CDB5-C1ED-0175-DCE34EB8F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54" y="4243060"/>
                <a:ext cx="72019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DCC1300-EC72-3401-B03D-3BD4DFF26046}"/>
              </a:ext>
            </a:extLst>
          </p:cNvPr>
          <p:cNvCxnSpPr>
            <a:cxnSpLocks/>
          </p:cNvCxnSpPr>
          <p:nvPr/>
        </p:nvCxnSpPr>
        <p:spPr>
          <a:xfrm>
            <a:off x="1856923" y="4429127"/>
            <a:ext cx="1216819" cy="0"/>
          </a:xfrm>
          <a:prstGeom prst="line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037B60A-4DF5-15CF-46D3-CE8494E37C9F}"/>
              </a:ext>
            </a:extLst>
          </p:cNvPr>
          <p:cNvCxnSpPr>
            <a:cxnSpLocks/>
          </p:cNvCxnSpPr>
          <p:nvPr/>
        </p:nvCxnSpPr>
        <p:spPr>
          <a:xfrm>
            <a:off x="3073742" y="4440874"/>
            <a:ext cx="607219" cy="0"/>
          </a:xfrm>
          <a:prstGeom prst="line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F2C939F-6E57-AD89-2C78-55E4F2787203}"/>
              </a:ext>
            </a:extLst>
          </p:cNvPr>
          <p:cNvCxnSpPr>
            <a:cxnSpLocks/>
          </p:cNvCxnSpPr>
          <p:nvPr/>
        </p:nvCxnSpPr>
        <p:spPr>
          <a:xfrm>
            <a:off x="3680591" y="4440874"/>
            <a:ext cx="414708" cy="0"/>
          </a:xfrm>
          <a:prstGeom prst="line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Content Placeholder 6">
                <a:extLst>
                  <a:ext uri="{FF2B5EF4-FFF2-40B4-BE49-F238E27FC236}">
                    <a16:creationId xmlns:a16="http://schemas.microsoft.com/office/drawing/2014/main" id="{4838C77A-DAF7-C0FD-1F4F-B385ADB40414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6967446" y="1856582"/>
              <a:ext cx="4267255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76425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390830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block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 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𝑚𝑢𝑙𝑡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/>
                            <a:t>3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𝑎𝑑𝑑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b="0" dirty="0"/>
                            <a:t>1.5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operator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/>
                            <a:t>1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2939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𝑡𝑜𝑡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5.5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Content Placeholder 6">
                <a:extLst>
                  <a:ext uri="{FF2B5EF4-FFF2-40B4-BE49-F238E27FC236}">
                    <a16:creationId xmlns:a16="http://schemas.microsoft.com/office/drawing/2014/main" id="{4838C77A-DAF7-C0FD-1F4F-B385ADB4041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76743027"/>
                  </p:ext>
                </p:extLst>
              </p:nvPr>
            </p:nvGraphicFramePr>
            <p:xfrm>
              <a:off x="6967446" y="1856582"/>
              <a:ext cx="4267255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76425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390830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block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 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78626" t="-108197" r="-1272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78626" t="-208197" r="-1272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operator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78626" t="-308197" r="-1272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22939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78626" t="-408197" r="-1272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60BD2029-0C53-3771-53A4-436300AE7D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7351" y="4018757"/>
            <a:ext cx="6037276" cy="185420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6040E28-C4D7-6C54-005F-CB0E3E8ED4C2}"/>
              </a:ext>
            </a:extLst>
          </p:cNvPr>
          <p:cNvCxnSpPr>
            <a:cxnSpLocks/>
          </p:cNvCxnSpPr>
          <p:nvPr/>
        </p:nvCxnSpPr>
        <p:spPr>
          <a:xfrm>
            <a:off x="1856923" y="5181602"/>
            <a:ext cx="2216731" cy="0"/>
          </a:xfrm>
          <a:prstGeom prst="line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75A2489-30D6-4E15-1A2F-75698B162107}"/>
                  </a:ext>
                </a:extLst>
              </p:cNvPr>
              <p:cNvSpPr txBox="1"/>
              <p:nvPr/>
            </p:nvSpPr>
            <p:spPr>
              <a:xfrm>
                <a:off x="2258571" y="5262777"/>
                <a:ext cx="14274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=5.5 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ns</a:t>
                </a:r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75A2489-30D6-4E15-1A2F-75698B162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8571" y="5262777"/>
                <a:ext cx="1427442" cy="369332"/>
              </a:xfrm>
              <a:prstGeom prst="rect">
                <a:avLst/>
              </a:prstGeom>
              <a:blipFill>
                <a:blip r:embed="rId8"/>
                <a:stretch>
                  <a:fillRect t="-8197" r="-299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9236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8EBED-AF9F-B904-7FB1-1196F4DA9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Timing Over Multiple Inputs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B5B64-8AF2-278C-2D19-D6D935DFC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D743F6-2CEB-3CDF-6938-2BF04CC2C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35" y="1838326"/>
            <a:ext cx="10012784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094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499F2-6F06-A5F9-5117-7BE604DC1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C3B06-68F6-0860-9162-B953202BB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658889-BBF6-8A27-BB89-84FAE9AE1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84165"/>
            <a:ext cx="10190554" cy="386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0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6DA0E-C1C2-4B25-093B-26163C081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Typical Propagation Delays:  Low-End FPGA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D9AE152-6E99-5A5F-FADD-526C60A2DE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9243628"/>
              </p:ext>
            </p:extLst>
          </p:nvPr>
        </p:nvGraphicFramePr>
        <p:xfrm>
          <a:off x="1044577" y="1777764"/>
          <a:ext cx="8228012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3246">
                  <a:extLst>
                    <a:ext uri="{9D8B030D-6E8A-4147-A177-3AD203B41FA5}">
                      <a16:colId xmlns:a16="http://schemas.microsoft.com/office/drawing/2014/main" val="3489589385"/>
                    </a:ext>
                  </a:extLst>
                </a:gridCol>
                <a:gridCol w="2446588">
                  <a:extLst>
                    <a:ext uri="{9D8B030D-6E8A-4147-A177-3AD203B41FA5}">
                      <a16:colId xmlns:a16="http://schemas.microsoft.com/office/drawing/2014/main" val="3600933310"/>
                    </a:ext>
                  </a:extLst>
                </a:gridCol>
                <a:gridCol w="3858178">
                  <a:extLst>
                    <a:ext uri="{9D8B030D-6E8A-4147-A177-3AD203B41FA5}">
                      <a16:colId xmlns:a16="http://schemas.microsoft.com/office/drawing/2014/main" val="1638097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Hardware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FPGA 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Typical 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626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32-bit 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LUT + dedicated carry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1.5–3.0 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641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16-bit multiplier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DSP48E1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2.5–5.0 ns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8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16-bit comparator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LUT logic + carry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1.0–2.0 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29395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C121A-91E0-CE04-DEFA-C2317BEA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FA86B23-9C2E-23ED-1B0E-D59B1613D2FA}"/>
              </a:ext>
            </a:extLst>
          </p:cNvPr>
          <p:cNvSpPr txBox="1">
            <a:spLocks/>
          </p:cNvSpPr>
          <p:nvPr/>
        </p:nvSpPr>
        <p:spPr>
          <a:xfrm>
            <a:off x="1189196" y="3968378"/>
            <a:ext cx="9813608" cy="187811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Rough delays for a low-end FPGA (e.g., </a:t>
            </a:r>
            <a:r>
              <a:rPr lang="en-US" dirty="0" err="1"/>
              <a:t>Pynq</a:t>
            </a:r>
            <a:r>
              <a:rPr lang="en-US" dirty="0"/>
              <a:t> Z2)</a:t>
            </a:r>
          </a:p>
          <a:p>
            <a:r>
              <a:rPr lang="en-US" dirty="0"/>
              <a:t>We will explain the FPGA resources more in later units</a:t>
            </a:r>
          </a:p>
          <a:p>
            <a:r>
              <a:rPr lang="en-US" dirty="0"/>
              <a:t>Routing delays not included</a:t>
            </a:r>
          </a:p>
          <a:p>
            <a:pPr lvl="1"/>
            <a:r>
              <a:rPr lang="en-US" dirty="0"/>
              <a:t>May be large for more complex designs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43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3BE3E-BAA4-C755-7CA1-58981F991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D6DD0-8304-5FB1-55A9-F9FA7C267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Propagation Delays:  ASIC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B275D51-FB46-1F6B-4BFC-DD42E042F0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0100826"/>
              </p:ext>
            </p:extLst>
          </p:nvPr>
        </p:nvGraphicFramePr>
        <p:xfrm>
          <a:off x="1044576" y="1777764"/>
          <a:ext cx="7518398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378">
                  <a:extLst>
                    <a:ext uri="{9D8B030D-6E8A-4147-A177-3AD203B41FA5}">
                      <a16:colId xmlns:a16="http://schemas.microsoft.com/office/drawing/2014/main" val="3489589385"/>
                    </a:ext>
                  </a:extLst>
                </a:gridCol>
                <a:gridCol w="2232525">
                  <a:extLst>
                    <a:ext uri="{9D8B030D-6E8A-4147-A177-3AD203B41FA5}">
                      <a16:colId xmlns:a16="http://schemas.microsoft.com/office/drawing/2014/main" val="3600933310"/>
                    </a:ext>
                  </a:extLst>
                </a:gridCol>
                <a:gridCol w="3528495">
                  <a:extLst>
                    <a:ext uri="{9D8B030D-6E8A-4147-A177-3AD203B41FA5}">
                      <a16:colId xmlns:a16="http://schemas.microsoft.com/office/drawing/2014/main" val="1638097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Hardware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Typical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Typical 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626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32-bit 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Kogge‑Stone / Brent‑Kung / hybrid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150-450 </a:t>
                      </a:r>
                      <a:r>
                        <a:rPr lang="en-US" dirty="0" err="1"/>
                        <a:t>ps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641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16-bit multiplier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Wallace/Dadda tree + final 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300-700 </a:t>
                      </a:r>
                      <a:r>
                        <a:rPr lang="en-US" b="0" dirty="0" err="1"/>
                        <a:t>ps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428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16-bit comparator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XOR/AND/OR chain with early‑out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50-300 </a:t>
                      </a:r>
                      <a:r>
                        <a:rPr lang="en-US" dirty="0" err="1"/>
                        <a:t>ps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29395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D3A7C-EF26-CC2E-BE5D-3B19DE156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D163503-62A8-33C2-066E-B6FAD0FF25CF}"/>
              </a:ext>
            </a:extLst>
          </p:cNvPr>
          <p:cNvSpPr txBox="1">
            <a:spLocks/>
          </p:cNvSpPr>
          <p:nvPr/>
        </p:nvSpPr>
        <p:spPr>
          <a:xfrm>
            <a:off x="1097280" y="4167188"/>
            <a:ext cx="7808595" cy="138112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Rough delays for TSMC 16nm</a:t>
            </a:r>
          </a:p>
          <a:p>
            <a:r>
              <a:rPr lang="en-US" dirty="0"/>
              <a:t>Custom ASICs are much faster than FPGAs</a:t>
            </a:r>
          </a:p>
          <a:p>
            <a:pPr lvl="1"/>
            <a:r>
              <a:rPr lang="en-US" dirty="0"/>
              <a:t>Easily 5 to 10x faster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398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0E871-CAB5-DDEB-C02C-06CEE1968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Diagram with Multiple Paths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535F8-4630-B1C8-FBA0-88213E4D1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Now consider a circuit with multiple paths</a:t>
            </a:r>
          </a:p>
          <a:p>
            <a:r>
              <a:rPr lang="en-US" sz="2400" dirty="0"/>
              <a:t>Input to the adder has two paths:</a:t>
            </a:r>
          </a:p>
          <a:p>
            <a:pPr lvl="1"/>
            <a:r>
              <a:rPr lang="en-US" sz="2000" dirty="0"/>
              <a:t>One from </a:t>
            </a:r>
            <a:r>
              <a:rPr lang="en-US" sz="2000" dirty="0" err="1"/>
              <a:t>xsq</a:t>
            </a:r>
            <a:endParaRPr lang="en-US" sz="2000" dirty="0"/>
          </a:p>
          <a:p>
            <a:pPr lvl="1"/>
            <a:r>
              <a:rPr lang="en-US" sz="2000" dirty="0"/>
              <a:t>Second from </a:t>
            </a:r>
            <a:r>
              <a:rPr lang="en-US" sz="2000" dirty="0" err="1"/>
              <a:t>ReLU</a:t>
            </a:r>
            <a:r>
              <a:rPr lang="en-US" sz="2000" dirty="0"/>
              <a:t> function r</a:t>
            </a:r>
          </a:p>
          <a:p>
            <a:pPr lvl="1"/>
            <a:endParaRPr lang="en-US" sz="2000" dirty="0"/>
          </a:p>
          <a:p>
            <a:r>
              <a:rPr lang="en-US" sz="2400" dirty="0"/>
              <a:t>How does the timing diagram work?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30352-74E8-6531-E135-D66DA558C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83C063-307B-58C0-4D97-12846C682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891" y="1628752"/>
            <a:ext cx="4424829" cy="19955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3B44CA-43BD-E811-AC82-901CA376E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587" y="3833631"/>
            <a:ext cx="4128558" cy="182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20987-8F96-C3F9-D715-A53DE2572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Diagram:  Inputs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DC8DA-2ECA-326A-F461-A7D45A17A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4170" y="3933543"/>
            <a:ext cx="7411510" cy="1935551"/>
          </a:xfrm>
        </p:spPr>
        <p:txBody>
          <a:bodyPr/>
          <a:lstStyle/>
          <a:p>
            <a:r>
              <a:rPr lang="en-US" dirty="0"/>
              <a:t>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DFBB2-1781-CC1C-0949-D38E2691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8ADB9-55A0-BB15-C603-4F66C9B89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954" y="3021562"/>
            <a:ext cx="8124825" cy="20669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B100DE03-2E31-A3F0-AED7-EBEFEE70AD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97280" y="1539277"/>
                <a:ext cx="10058400" cy="4329817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Suppose input:</a:t>
                </a:r>
              </a:p>
              <a:p>
                <a:pPr lvl="1"/>
                <a:r>
                  <a:rPr lang="en-US" dirty="0"/>
                  <a:t>Transitions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to 4</a:t>
                </a:r>
              </a:p>
              <a:p>
                <a:pPr lvl="1"/>
                <a:r>
                  <a:rPr lang="en-US" dirty="0"/>
                  <a:t>Transition interval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∈[10,12]</m:t>
                    </m:r>
                  </m:oMath>
                </a14:m>
                <a:r>
                  <a:rPr lang="en-US" dirty="0"/>
                  <a:t>  (marked as X)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B100DE03-2E31-A3F0-AED7-EBEFEE70A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1539277"/>
                <a:ext cx="10058400" cy="4329817"/>
              </a:xfrm>
              <a:prstGeom prst="rect">
                <a:avLst/>
              </a:prstGeom>
              <a:blipFill>
                <a:blip r:embed="rId3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49301805-3B5E-1AA7-E3C2-A70EBCEC7FE7}"/>
              </a:ext>
            </a:extLst>
          </p:cNvPr>
          <p:cNvSpPr/>
          <p:nvPr/>
        </p:nvSpPr>
        <p:spPr>
          <a:xfrm>
            <a:off x="1654064" y="3488369"/>
            <a:ext cx="7532799" cy="1112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74C5DC-2B71-9833-5D5D-8100E619CABA}"/>
              </a:ext>
            </a:extLst>
          </p:cNvPr>
          <p:cNvSpPr txBox="1"/>
          <p:nvPr/>
        </p:nvSpPr>
        <p:spPr>
          <a:xfrm>
            <a:off x="5167116" y="3721080"/>
            <a:ext cx="1054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5"/>
                </a:solidFill>
              </a:rPr>
              <a:t>?</a:t>
            </a:r>
            <a:endParaRPr lang="en-US" dirty="0">
              <a:solidFill>
                <a:schemeClr val="accent5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540CF8-7C63-4AA5-FCD2-1B4D32308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026" y="633862"/>
            <a:ext cx="4424829" cy="19955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4842D0-48DB-0A3D-061C-4B636708D818}"/>
              </a:ext>
            </a:extLst>
          </p:cNvPr>
          <p:cNvSpPr txBox="1"/>
          <p:nvPr/>
        </p:nvSpPr>
        <p:spPr>
          <a:xfrm>
            <a:off x="7449925" y="751876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[10,12]</a:t>
            </a:r>
          </a:p>
        </p:txBody>
      </p:sp>
    </p:spTree>
    <p:extLst>
      <p:ext uri="{BB962C8B-B14F-4D97-AF65-F5344CB8AC3E}">
        <p14:creationId xmlns:p14="http://schemas.microsoft.com/office/powerpoint/2010/main" val="4499212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F60DD-D386-91C0-6A21-2D78301D0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F7238-A3DC-B66E-5AC2-F370EDE9E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Diagram:  First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0AAC1-2FFA-475A-EC4C-08F68B526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4170" y="3933543"/>
            <a:ext cx="7411510" cy="1935551"/>
          </a:xfrm>
        </p:spPr>
        <p:txBody>
          <a:bodyPr/>
          <a:lstStyle/>
          <a:p>
            <a:r>
              <a:rPr lang="en-US" dirty="0"/>
              <a:t>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509D0-E019-49E6-3BDE-D814EEC0A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04794F-4367-B66F-AC99-171F57DCD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18" y="3813723"/>
            <a:ext cx="6281258" cy="15979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7B5E8E4A-B4F9-5AFA-C03F-687D542DEE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45575" y="1586902"/>
                <a:ext cx="4907280" cy="4329817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Square output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Multiplication max delay is 3</a:t>
                </a:r>
              </a:p>
              <a:p>
                <a:pPr lvl="1"/>
                <a:r>
                  <a:rPr lang="en-US" dirty="0"/>
                  <a:t>Value X from [10, 15]</a:t>
                </a:r>
              </a:p>
              <a:p>
                <a:pPr lvl="1"/>
                <a:r>
                  <a:rPr lang="en-US" dirty="0"/>
                  <a:t>Then comes to stable value 16</a:t>
                </a:r>
              </a:p>
              <a:p>
                <a:r>
                  <a:rPr lang="en-US" dirty="0" err="1"/>
                  <a:t>ReLU</a:t>
                </a:r>
                <a:r>
                  <a:rPr lang="en-US" dirty="0"/>
                  <a:t>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 err="1"/>
                  <a:t>ReLU</a:t>
                </a:r>
                <a:r>
                  <a:rPr lang="en-US" dirty="0"/>
                  <a:t> max delay is 1</a:t>
                </a:r>
              </a:p>
              <a:p>
                <a:pPr lvl="1"/>
                <a:r>
                  <a:rPr lang="en-US" dirty="0"/>
                  <a:t>Value X from [10, 13]</a:t>
                </a:r>
              </a:p>
              <a:p>
                <a:pPr lvl="1"/>
                <a:r>
                  <a:rPr lang="en-US" dirty="0"/>
                  <a:t>Then comes to stable value 4</a:t>
                </a:r>
              </a:p>
              <a:p>
                <a:r>
                  <a:rPr lang="en-US" dirty="0"/>
                  <a:t>These steps operate in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parallel</a:t>
                </a:r>
              </a:p>
              <a:p>
                <a:endParaRPr lang="en-US" dirty="0"/>
              </a:p>
              <a:p>
                <a:pPr lvl="1"/>
                <a:endParaRPr lang="en-US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7B5E8E4A-B4F9-5AFA-C03F-687D542DE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5575" y="1586902"/>
                <a:ext cx="4907280" cy="4329817"/>
              </a:xfrm>
              <a:prstGeom prst="rect">
                <a:avLst/>
              </a:prstGeom>
              <a:blipFill>
                <a:blip r:embed="rId3"/>
                <a:stretch>
                  <a:fillRect l="-2981" t="-1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92994AEA-8DC9-98AE-A27E-38D2E116960F}"/>
              </a:ext>
            </a:extLst>
          </p:cNvPr>
          <p:cNvSpPr/>
          <p:nvPr/>
        </p:nvSpPr>
        <p:spPr>
          <a:xfrm>
            <a:off x="448204" y="4742178"/>
            <a:ext cx="5862109" cy="253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B4E049-A6DD-3B29-CFFA-DADBCE287256}"/>
              </a:ext>
            </a:extLst>
          </p:cNvPr>
          <p:cNvSpPr txBox="1"/>
          <p:nvPr/>
        </p:nvSpPr>
        <p:spPr>
          <a:xfrm>
            <a:off x="3418043" y="4576173"/>
            <a:ext cx="1054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5"/>
                </a:solidFill>
              </a:rPr>
              <a:t>?</a:t>
            </a:r>
            <a:endParaRPr lang="en-US" dirty="0">
              <a:solidFill>
                <a:schemeClr val="accent5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A49E7FA-BD57-93BA-FF43-E32112450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955" y="1496897"/>
            <a:ext cx="4424829" cy="19955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6E8E85-0CBE-2B58-5FA6-AC33B27CCFF1}"/>
              </a:ext>
            </a:extLst>
          </p:cNvPr>
          <p:cNvSpPr txBox="1"/>
          <p:nvPr/>
        </p:nvSpPr>
        <p:spPr>
          <a:xfrm>
            <a:off x="3093739" y="2998320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[10,13]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97F490-7728-53C3-4C54-E4A4B3302FF9}"/>
              </a:ext>
            </a:extLst>
          </p:cNvPr>
          <p:cNvSpPr txBox="1"/>
          <p:nvPr/>
        </p:nvSpPr>
        <p:spPr>
          <a:xfrm>
            <a:off x="823922" y="1675773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[10,12]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3E6EBE-2EDF-A388-2E34-BB967117F55F}"/>
              </a:ext>
            </a:extLst>
          </p:cNvPr>
          <p:cNvSpPr txBox="1"/>
          <p:nvPr/>
        </p:nvSpPr>
        <p:spPr>
          <a:xfrm>
            <a:off x="2191636" y="1402236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[10,15]</a:t>
            </a:r>
          </a:p>
        </p:txBody>
      </p:sp>
    </p:spTree>
    <p:extLst>
      <p:ext uri="{BB962C8B-B14F-4D97-AF65-F5344CB8AC3E}">
        <p14:creationId xmlns:p14="http://schemas.microsoft.com/office/powerpoint/2010/main" val="6850756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A9E36-ED19-ECDB-59C9-A572164CF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63B44-6D97-43F9-A163-9F9831F6B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Multipath:  Final Output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DB1BA-1F01-3C1F-F90B-13380EAC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B65F036C-DE85-B029-3BA2-DBE118F974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29388" y="1586902"/>
                <a:ext cx="5323467" cy="4329817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has two inputs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Output goes invalid when either input = X</a:t>
                </a:r>
              </a:p>
              <a:p>
                <a:pPr lvl="1"/>
                <a:r>
                  <a:rPr lang="en-US" dirty="0"/>
                  <a:t>Both are invalid starting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So, y is invalid starting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Propagation delay starts when both are stable</a:t>
                </a:r>
              </a:p>
              <a:p>
                <a:pPr lvl="1"/>
                <a:r>
                  <a:rPr lang="en-US" dirty="0"/>
                  <a:t>Before this output cannot be guaranteed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is stable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is stable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Propagation for adder is 1.5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stable at 16.5</a:t>
                </a:r>
              </a:p>
              <a:p>
                <a:endParaRPr lang="en-US" dirty="0"/>
              </a:p>
              <a:p>
                <a:pPr lvl="1"/>
                <a:endParaRPr lang="en-US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B65F036C-DE85-B029-3BA2-DBE118F97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9388" y="1586902"/>
                <a:ext cx="5323467" cy="4329817"/>
              </a:xfrm>
              <a:prstGeom prst="rect">
                <a:avLst/>
              </a:prstGeom>
              <a:blipFill>
                <a:blip r:embed="rId2"/>
                <a:stretch>
                  <a:fillRect l="-2749" t="-1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ECF30D9-51F2-1358-C6C2-596E6968C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" y="3914775"/>
            <a:ext cx="6327629" cy="16097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06EE0F-8816-44AC-8CE3-A3BEF93E8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955" y="1496897"/>
            <a:ext cx="4424829" cy="19955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68B15B-68E4-FD21-876D-2360003DD794}"/>
              </a:ext>
            </a:extLst>
          </p:cNvPr>
          <p:cNvSpPr txBox="1"/>
          <p:nvPr/>
        </p:nvSpPr>
        <p:spPr>
          <a:xfrm>
            <a:off x="3839174" y="1469253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[10,16.5]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4311F8-8173-7682-0E0E-19E5488C96E0}"/>
              </a:ext>
            </a:extLst>
          </p:cNvPr>
          <p:cNvSpPr txBox="1"/>
          <p:nvPr/>
        </p:nvSpPr>
        <p:spPr>
          <a:xfrm>
            <a:off x="823922" y="1675773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[10,12]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26D015-5242-5494-1744-B3AB4029CF05}"/>
              </a:ext>
            </a:extLst>
          </p:cNvPr>
          <p:cNvSpPr txBox="1"/>
          <p:nvPr/>
        </p:nvSpPr>
        <p:spPr>
          <a:xfrm>
            <a:off x="2191636" y="1402236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[10,15]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D9F7AC-A139-A886-85E2-868D654B76CF}"/>
              </a:ext>
            </a:extLst>
          </p:cNvPr>
          <p:cNvSpPr txBox="1"/>
          <p:nvPr/>
        </p:nvSpPr>
        <p:spPr>
          <a:xfrm>
            <a:off x="3246139" y="3150720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[10,13]</a:t>
            </a:r>
          </a:p>
        </p:txBody>
      </p:sp>
    </p:spTree>
    <p:extLst>
      <p:ext uri="{BB962C8B-B14F-4D97-AF65-F5344CB8AC3E}">
        <p14:creationId xmlns:p14="http://schemas.microsoft.com/office/powerpoint/2010/main" val="27812098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D540B-5EFC-C65B-92C8-DE3BDF6A2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Circuits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8B058-4BA0-D297-B5DE-ADEED19E0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1BFA36F-4F85-6AF3-D5BF-36CD584A00D4}"/>
              </a:ext>
            </a:extLst>
          </p:cNvPr>
          <p:cNvSpPr txBox="1">
            <a:spLocks/>
          </p:cNvSpPr>
          <p:nvPr/>
        </p:nvSpPr>
        <p:spPr>
          <a:xfrm>
            <a:off x="1276904" y="1698544"/>
            <a:ext cx="5323467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Consider conditional block</a:t>
            </a:r>
          </a:p>
          <a:p>
            <a:r>
              <a:rPr lang="en-US" sz="2400" dirty="0"/>
              <a:t>How is it implemented? </a:t>
            </a:r>
          </a:p>
          <a:p>
            <a:r>
              <a:rPr lang="en-US" sz="2400" dirty="0"/>
              <a:t>What is the max propagation delay?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b="0" dirty="0"/>
          </a:p>
          <a:p>
            <a:pPr lvl="1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E0314EE-4DCA-6417-F8D3-D97199E2BA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902"/>
          <a:stretch>
            <a:fillRect/>
          </a:stretch>
        </p:blipFill>
        <p:spPr>
          <a:xfrm>
            <a:off x="2049808" y="3646967"/>
            <a:ext cx="4972996" cy="209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231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454BC-EC00-A71A-9C73-30A6CAB00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074BD-0A09-6A9D-D606-42312CBAC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Conditional with Multiplexers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A03BA-C317-EDF0-5AD3-ACE50547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2821EFA-3B64-9263-6963-85E2503B3D4E}"/>
              </a:ext>
            </a:extLst>
          </p:cNvPr>
          <p:cNvSpPr txBox="1">
            <a:spLocks/>
          </p:cNvSpPr>
          <p:nvPr/>
        </p:nvSpPr>
        <p:spPr>
          <a:xfrm>
            <a:off x="5886118" y="1631320"/>
            <a:ext cx="5323467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Multiplexer</a:t>
            </a:r>
            <a:r>
              <a:rPr lang="en-US" dirty="0"/>
              <a:t>: </a:t>
            </a:r>
          </a:p>
          <a:p>
            <a:pPr lvl="1"/>
            <a:r>
              <a:rPr lang="en-US" sz="2000" dirty="0"/>
              <a:t>Circuit that selects one of a set of inputs</a:t>
            </a:r>
          </a:p>
          <a:p>
            <a:pPr lvl="1"/>
            <a:r>
              <a:rPr lang="en-US" sz="2000" dirty="0"/>
              <a:t>Uses a condition input</a:t>
            </a:r>
          </a:p>
          <a:p>
            <a:r>
              <a:rPr lang="en-US" dirty="0"/>
              <a:t>Inputs and conditions</a:t>
            </a:r>
          </a:p>
          <a:p>
            <a:pPr lvl="1"/>
            <a:r>
              <a:rPr lang="en-US" sz="2000" dirty="0"/>
              <a:t>All computed in parallel</a:t>
            </a:r>
          </a:p>
          <a:p>
            <a:pPr lvl="1"/>
            <a:r>
              <a:rPr lang="en-US" sz="2000" dirty="0"/>
              <a:t>But each need distinct hardware</a:t>
            </a:r>
          </a:p>
          <a:p>
            <a:r>
              <a:rPr lang="en-US" dirty="0"/>
              <a:t>No savings in hardware dependent on data</a:t>
            </a:r>
          </a:p>
          <a:p>
            <a:pPr lvl="1"/>
            <a:r>
              <a:rPr lang="en-US" dirty="0"/>
              <a:t>All possible inputs must be computed</a:t>
            </a:r>
          </a:p>
          <a:p>
            <a:r>
              <a:rPr lang="en-US" dirty="0"/>
              <a:t>Propagation delay starts with slowest input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b="0" dirty="0"/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D0C0E2-CC01-B860-6A41-106708AC5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15" y="3620386"/>
            <a:ext cx="5407663" cy="26222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CFBD49-E791-842C-5973-EF33D4AA3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29" y="1475291"/>
            <a:ext cx="3859767" cy="195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93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2CAB1-B755-683C-363F-A283B5266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80864-859B-B91A-9C9E-A502F3C10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Propagation Delay with Multiplexers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DAA61-F339-8DA0-41EA-5B89179D5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204B27C3-5469-D87E-A20E-A8FAC7FBEF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34150" y="1631320"/>
                <a:ext cx="4675435" cy="4329817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chemeClr val="tx1"/>
                    </a:solidFill>
                  </a:rPr>
                  <a:t>Values in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violet</a:t>
                </a:r>
                <a:r>
                  <a:rPr lang="en-US" dirty="0">
                    <a:solidFill>
                      <a:schemeClr val="tx1"/>
                    </a:solidFill>
                  </a:rPr>
                  <a:t> are max prop delay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Slowest of the mux input and condition: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branch is the slowest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Takes 4 ns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Mux adds 1 ns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So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stable at 5 ns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Output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stable 1.5ns after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lvl="1"/>
                <a:endParaRPr lang="en-US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204B27C3-5469-D87E-A20E-A8FAC7FBE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150" y="1631320"/>
                <a:ext cx="4675435" cy="4329817"/>
              </a:xfrm>
              <a:prstGeom prst="rect">
                <a:avLst/>
              </a:prstGeom>
              <a:blipFill>
                <a:blip r:embed="rId2"/>
                <a:stretch>
                  <a:fillRect l="-3129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9BFE7A2-A9EB-9FF0-9066-F4CC51F04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67" y="3749821"/>
            <a:ext cx="5407663" cy="26222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03362E-F248-6C0D-42C2-7B749D1B573C}"/>
              </a:ext>
            </a:extLst>
          </p:cNvPr>
          <p:cNvSpPr txBox="1"/>
          <p:nvPr/>
        </p:nvSpPr>
        <p:spPr>
          <a:xfrm>
            <a:off x="2057401" y="30834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AF7DF5-F5FB-BAFF-D35C-959231795B26}"/>
              </a:ext>
            </a:extLst>
          </p:cNvPr>
          <p:cNvSpPr txBox="1"/>
          <p:nvPr/>
        </p:nvSpPr>
        <p:spPr>
          <a:xfrm>
            <a:off x="2284226" y="47442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79B5E4-621D-E82E-661A-5E4E08A344A8}"/>
              </a:ext>
            </a:extLst>
          </p:cNvPr>
          <p:cNvSpPr txBox="1"/>
          <p:nvPr/>
        </p:nvSpPr>
        <p:spPr>
          <a:xfrm>
            <a:off x="3209704" y="538270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0.5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034CED-01F1-D813-1C90-C5D6B7F39078}"/>
              </a:ext>
            </a:extLst>
          </p:cNvPr>
          <p:cNvSpPr txBox="1"/>
          <p:nvPr/>
        </p:nvSpPr>
        <p:spPr>
          <a:xfrm>
            <a:off x="4966968" y="4220470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5+1.5=6.5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A9F70C-E593-2B5E-5992-6E15DA2B0ED6}"/>
              </a:ext>
            </a:extLst>
          </p:cNvPr>
          <p:cNvSpPr txBox="1"/>
          <p:nvPr/>
        </p:nvSpPr>
        <p:spPr>
          <a:xfrm>
            <a:off x="3489584" y="4108829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4+1=5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4761C5-1374-5E34-480C-5B1F2E5A7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29" y="1475291"/>
            <a:ext cx="3859767" cy="19537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CA3239A-268A-1BF2-2B1B-D8C56816EEB0}"/>
              </a:ext>
            </a:extLst>
          </p:cNvPr>
          <p:cNvSpPr txBox="1"/>
          <p:nvPr/>
        </p:nvSpPr>
        <p:spPr>
          <a:xfrm>
            <a:off x="2334706" y="37962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903604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CDEF9-A8F9-BB90-9C60-5C37A691F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F5A6012-967B-DE94-CD94-1FFB08AFED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37" r="6530"/>
          <a:stretch>
            <a:fillRect/>
          </a:stretch>
        </p:blipFill>
        <p:spPr>
          <a:xfrm>
            <a:off x="99390" y="1743976"/>
            <a:ext cx="5715001" cy="29998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4E4F8E-0B09-D06B-7FCF-96960E09D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Path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C5EC8-BAB5-4473-5B36-1DA1D93E1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D5C335E0-0A78-B838-8DCF-90031F6039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631320"/>
                <a:ext cx="5113585" cy="4329817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Critical path</a:t>
                </a:r>
                <a:r>
                  <a:rPr lang="en-US" dirty="0">
                    <a:solidFill>
                      <a:schemeClr val="tx1"/>
                    </a:solidFill>
                  </a:rPr>
                  <a:t>: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The path with the largest max propagation delay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In this case: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To reduce overall max propagation delay: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Must reduce max delay on critical path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For example: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Reducing delay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will reduce critical path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But reducing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does not help</a:t>
                </a:r>
                <a:br>
                  <a:rPr lang="en-US" dirty="0">
                    <a:solidFill>
                      <a:schemeClr val="tx1"/>
                    </a:solidFill>
                  </a:rPr>
                </a:b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lvl="1"/>
                <a:endParaRPr lang="en-US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D5C335E0-0A78-B838-8DCF-90031F603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631320"/>
                <a:ext cx="5113585" cy="4329817"/>
              </a:xfrm>
              <a:prstGeom prst="rect">
                <a:avLst/>
              </a:prstGeom>
              <a:blipFill>
                <a:blip r:embed="rId3"/>
                <a:stretch>
                  <a:fillRect l="-2861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5890950-4959-56E7-0B61-1FF0E4773B78}"/>
              </a:ext>
            </a:extLst>
          </p:cNvPr>
          <p:cNvSpPr txBox="1"/>
          <p:nvPr/>
        </p:nvSpPr>
        <p:spPr>
          <a:xfrm>
            <a:off x="2259778" y="2993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8D6A2C-A06D-62B4-ABAE-C229A91C4FD7}"/>
              </a:ext>
            </a:extLst>
          </p:cNvPr>
          <p:cNvSpPr txBox="1"/>
          <p:nvPr/>
        </p:nvSpPr>
        <p:spPr>
          <a:xfrm>
            <a:off x="3314064" y="371293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0.5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AD3E4-7625-25D1-6627-FF40B76FF06F}"/>
              </a:ext>
            </a:extLst>
          </p:cNvPr>
          <p:cNvSpPr txBox="1"/>
          <p:nvPr/>
        </p:nvSpPr>
        <p:spPr>
          <a:xfrm>
            <a:off x="5123459" y="297807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6.5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6BE602-9431-5254-E63C-9A8B23B540FE}"/>
              </a:ext>
            </a:extLst>
          </p:cNvPr>
          <p:cNvSpPr txBox="1"/>
          <p:nvPr/>
        </p:nvSpPr>
        <p:spPr>
          <a:xfrm>
            <a:off x="3733092" y="22402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362331-5595-7DA5-7FF2-CB46B377C6E4}"/>
              </a:ext>
            </a:extLst>
          </p:cNvPr>
          <p:cNvSpPr txBox="1"/>
          <p:nvPr/>
        </p:nvSpPr>
        <p:spPr>
          <a:xfrm>
            <a:off x="2347141" y="1981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958629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91222-6E85-4597-FD89-BBA570845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Path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3C8AC7-FEDF-B362-9D6F-500036DC41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070158" cy="4329817"/>
              </a:xfrm>
            </p:spPr>
            <p:txBody>
              <a:bodyPr/>
              <a:lstStyle/>
              <a:p>
                <a:r>
                  <a:rPr lang="en-US" dirty="0"/>
                  <a:t>Example:  For some functions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Path 1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):</a:t>
                </a:r>
              </a:p>
              <a:p>
                <a:pPr lvl="1"/>
                <a:r>
                  <a:rPr lang="en-US" dirty="0"/>
                  <a:t>Delay = 3+2+2.5 = 7.5 ns</a:t>
                </a:r>
              </a:p>
              <a:p>
                <a:pPr lvl="1"/>
                <a:r>
                  <a:rPr lang="en-US" dirty="0"/>
                  <a:t>Longest = </a:t>
                </a:r>
                <a:r>
                  <a:rPr lang="en-US" dirty="0">
                    <a:solidFill>
                      <a:srgbClr val="FF0000"/>
                    </a:solidFill>
                  </a:rPr>
                  <a:t>Critical path</a:t>
                </a:r>
              </a:p>
              <a:p>
                <a:r>
                  <a:rPr lang="en-US" dirty="0">
                    <a:solidFill>
                      <a:srgbClr val="00B050"/>
                    </a:solidFill>
                  </a:rPr>
                  <a:t>Path 2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Delay = 3.5 + 2.5 = 6 ns</a:t>
                </a:r>
              </a:p>
              <a:p>
                <a:pPr lvl="1"/>
                <a:r>
                  <a:rPr lang="en-US" dirty="0"/>
                  <a:t> Shorter = </a:t>
                </a:r>
                <a:r>
                  <a:rPr lang="en-US" dirty="0">
                    <a:solidFill>
                      <a:srgbClr val="00B050"/>
                    </a:solidFill>
                  </a:rPr>
                  <a:t>Non-critical</a:t>
                </a:r>
                <a:endParaRPr lang="en-US" b="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3C8AC7-FEDF-B362-9D6F-500036DC41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070158" cy="4329817"/>
              </a:xfrm>
              <a:blipFill>
                <a:blip r:embed="rId2"/>
                <a:stretch>
                  <a:fillRect l="-288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966B0-4D33-6329-4DD5-AC5F8C3E4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249633-FE1C-CB6C-0782-A65062A73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205" y="1858365"/>
            <a:ext cx="4361558" cy="263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3762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8C2B-4D3C-45EA-58FF-906B38A08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Delay Depends on Implementation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7E522C-7255-8294-5105-84CA58ADA9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Example:  Consider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Suppose each add takes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seconds</a:t>
                </a:r>
              </a:p>
              <a:p>
                <a:r>
                  <a:rPr lang="en-US" sz="2400" dirty="0"/>
                  <a:t>Synthesis tools try to find low delay implementations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7E522C-7255-8294-5105-84CA58ADA9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07630-8518-444A-3039-188CF194D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532A85-6C3F-C862-93A1-8A78D3CA4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3496" y="2224088"/>
            <a:ext cx="3598620" cy="32954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E17A01-334C-6F13-937B-793EDA5A3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3191" y="4114562"/>
            <a:ext cx="3739828" cy="15811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2135AA-06AD-D2E1-420A-ADB668107EF9}"/>
                  </a:ext>
                </a:extLst>
              </p:cNvPr>
              <p:cNvSpPr txBox="1"/>
              <p:nvPr/>
            </p:nvSpPr>
            <p:spPr>
              <a:xfrm>
                <a:off x="1884945" y="3364232"/>
                <a:ext cx="294510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Serial implementation</a:t>
                </a:r>
              </a:p>
              <a:p>
                <a:r>
                  <a:rPr lang="en-US" sz="2400" dirty="0"/>
                  <a:t>Prop delay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2135AA-06AD-D2E1-420A-ADB668107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945" y="3364232"/>
                <a:ext cx="2945102" cy="830997"/>
              </a:xfrm>
              <a:prstGeom prst="rect">
                <a:avLst/>
              </a:prstGeom>
              <a:blipFill>
                <a:blip r:embed="rId5"/>
                <a:stretch>
                  <a:fillRect l="-3106" t="-5882" r="-2070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4A1042-4158-F0F6-8996-98210CD02ECE}"/>
                  </a:ext>
                </a:extLst>
              </p:cNvPr>
              <p:cNvSpPr txBox="1"/>
              <p:nvPr/>
            </p:nvSpPr>
            <p:spPr>
              <a:xfrm>
                <a:off x="6954524" y="3364232"/>
                <a:ext cx="212109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Parallel</a:t>
                </a:r>
              </a:p>
              <a:p>
                <a:r>
                  <a:rPr lang="en-US" sz="2400" dirty="0"/>
                  <a:t>Prop delay =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4A1042-4158-F0F6-8996-98210CD02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524" y="3364232"/>
                <a:ext cx="2121093" cy="830997"/>
              </a:xfrm>
              <a:prstGeom prst="rect">
                <a:avLst/>
              </a:prstGeom>
              <a:blipFill>
                <a:blip r:embed="rId6"/>
                <a:stretch>
                  <a:fillRect l="-4598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69220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08E9C-A299-169E-2B07-0B1B4BEF5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5944D-E548-45BE-F1A5-EA326FEEB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7440E-567D-0B5A-E1FF-5F9FA6121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Static Timing Analysis in Combinational Logic</a:t>
            </a:r>
          </a:p>
          <a:p>
            <a:r>
              <a:rPr lang="en-US" sz="2400" dirty="0"/>
              <a:t>Static Timing Analysis in Sequential Logic</a:t>
            </a:r>
          </a:p>
          <a:p>
            <a:r>
              <a:rPr lang="en-US" sz="2400" dirty="0"/>
              <a:t>Sequential Logic Timing Diagrams</a:t>
            </a:r>
          </a:p>
          <a:p>
            <a:r>
              <a:rPr lang="en-US" sz="2400" dirty="0"/>
              <a:t>VCD Files and Timing Diagrams from Vitis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FD378-C0A8-DA0D-4D68-D28FCC4D5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7035030-B23F-1E79-576A-5C0785C3DB5D}"/>
              </a:ext>
            </a:extLst>
          </p:cNvPr>
          <p:cNvSpPr/>
          <p:nvPr/>
        </p:nvSpPr>
        <p:spPr>
          <a:xfrm>
            <a:off x="372294" y="1985351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094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7C9D-CAF2-EFA7-72F0-45905F769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F19CA-D8B4-C5E5-EBEC-AD084ED04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8"/>
            <a:ext cx="10058400" cy="2232622"/>
          </a:xfrm>
        </p:spPr>
        <p:txBody>
          <a:bodyPr/>
          <a:lstStyle/>
          <a:p>
            <a:r>
              <a:rPr lang="en-US" sz="2400" dirty="0"/>
              <a:t>We now perform static timing analysis for synchronous logic</a:t>
            </a:r>
          </a:p>
          <a:p>
            <a:r>
              <a:rPr lang="en-US" sz="2400" dirty="0"/>
              <a:t>This unit, we assume</a:t>
            </a:r>
          </a:p>
          <a:p>
            <a:pPr lvl="1"/>
            <a:r>
              <a:rPr lang="en-US" sz="2000" dirty="0"/>
              <a:t>All registers clocked on a common positive clock edge</a:t>
            </a:r>
          </a:p>
          <a:p>
            <a:pPr lvl="1"/>
            <a:r>
              <a:rPr lang="en-US" sz="2000" dirty="0"/>
              <a:t>All registers are perfectly synchronized (no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clock skew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No asynchronous reset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39809-888C-93E7-3586-791C112C9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432500-0090-98EC-1877-A5C806C1F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582502"/>
            <a:ext cx="4017646" cy="21895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14C9B7-9DC5-29CD-98FD-A7CDF1102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977" y="3582502"/>
            <a:ext cx="5452720" cy="244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095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7105A-D3FF-6DBB-363F-44CCFD954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49912-575E-56E8-4B40-4E009F031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 for Synchronous Logic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4B6A-3845-80EA-69FE-A3F36D409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4892" y="1539277"/>
            <a:ext cx="6030787" cy="4329817"/>
          </a:xfrm>
        </p:spPr>
        <p:txBody>
          <a:bodyPr>
            <a:normAutofit/>
          </a:bodyPr>
          <a:lstStyle/>
          <a:p>
            <a:r>
              <a:rPr lang="en-US" sz="2400" dirty="0"/>
              <a:t>STA considers all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register-to-register</a:t>
            </a:r>
            <a:r>
              <a:rPr lang="en-US" sz="2400" dirty="0"/>
              <a:t> paths</a:t>
            </a:r>
          </a:p>
          <a:p>
            <a:pPr lvl="1"/>
            <a:r>
              <a:rPr lang="en-US" sz="2200" dirty="0"/>
              <a:t>Every register output to register input</a:t>
            </a:r>
          </a:p>
          <a:p>
            <a:r>
              <a:rPr lang="en-US" sz="2400" dirty="0"/>
              <a:t>Tests two conditions</a:t>
            </a:r>
          </a:p>
          <a:p>
            <a:r>
              <a:rPr lang="en-US" sz="2400" dirty="0"/>
              <a:t>No paths arrive too late</a:t>
            </a:r>
          </a:p>
          <a:p>
            <a:pPr lvl="1"/>
            <a:r>
              <a:rPr lang="en-US" sz="2200" dirty="0"/>
              <a:t>Signals must arrive before next transition</a:t>
            </a:r>
          </a:p>
          <a:p>
            <a:pPr lvl="1"/>
            <a:r>
              <a:rPr lang="en-US" sz="2200" dirty="0">
                <a:solidFill>
                  <a:schemeClr val="tx1"/>
                </a:solidFill>
              </a:rPr>
              <a:t>Must meet a </a:t>
            </a:r>
            <a:r>
              <a:rPr lang="en-US" sz="2200" dirty="0">
                <a:solidFill>
                  <a:schemeClr val="accent1"/>
                </a:solidFill>
              </a:rPr>
              <a:t>set-up time </a:t>
            </a:r>
            <a:r>
              <a:rPr lang="en-US" sz="2200" dirty="0"/>
              <a:t>and </a:t>
            </a:r>
            <a:r>
              <a: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clock-to-Q time</a:t>
            </a: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2400" dirty="0"/>
              <a:t>No paths arrive too early</a:t>
            </a:r>
          </a:p>
          <a:p>
            <a:pPr lvl="1"/>
            <a:r>
              <a:rPr lang="en-US" sz="2200" dirty="0"/>
              <a:t>Min delay &gt; </a:t>
            </a:r>
            <a:r>
              <a:rPr lang="en-US" sz="2200" dirty="0">
                <a:solidFill>
                  <a:schemeClr val="accent1"/>
                </a:solidFill>
              </a:rPr>
              <a:t>hold time</a:t>
            </a:r>
          </a:p>
          <a:p>
            <a:pPr lvl="1"/>
            <a:r>
              <a:rPr lang="en-US" sz="2200" dirty="0"/>
              <a:t>Registers inputs must be stable for a hold period</a:t>
            </a:r>
          </a:p>
          <a:p>
            <a:pPr lvl="1"/>
            <a:endParaRPr lang="en-US" sz="22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02784-BE1C-0741-ADB5-00458A9EA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0A1026-7E18-726E-0649-6C9DF5872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40" y="1993604"/>
            <a:ext cx="4526379" cy="246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6505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B67B7-75BD-76F9-C507-4AE830668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Set-Up and Hold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554562-7179-C75C-C591-BB5B085371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316220" cy="4329817"/>
              </a:xfrm>
            </p:spPr>
            <p:txBody>
              <a:bodyPr/>
              <a:lstStyle/>
              <a:p>
                <a:r>
                  <a:rPr lang="en-US" dirty="0"/>
                  <a:t>Registers typically implemented with a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flip-flop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Sometimes called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D-Q flip-flop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Stable operation requires: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Inputs are stable before and after clock edge</a:t>
                </a:r>
              </a:p>
              <a:p>
                <a:r>
                  <a:rPr lang="en-US" dirty="0">
                    <a:solidFill>
                      <a:srgbClr val="00B050"/>
                    </a:solidFill>
                  </a:rPr>
                  <a:t>Set up margin</a:t>
                </a:r>
                <a:r>
                  <a:rPr lang="en-US" dirty="0">
                    <a:solidFill>
                      <a:schemeClr val="tx1"/>
                    </a:solidFill>
                  </a:rPr>
                  <a:t>: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Time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stable to rising clock edge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Requirement:  Set-up margin &gt; </a:t>
                </a:r>
                <a:r>
                  <a:rPr lang="en-US" dirty="0">
                    <a:solidFill>
                      <a:srgbClr val="00B050"/>
                    </a:solidFill>
                  </a:rPr>
                  <a:t>set-up time</a:t>
                </a:r>
              </a:p>
              <a:p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Hold margin</a:t>
                </a:r>
                <a:r>
                  <a:rPr lang="en-US" dirty="0">
                    <a:solidFill>
                      <a:schemeClr val="tx1"/>
                    </a:solidFill>
                  </a:rPr>
                  <a:t>: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stable after rising clock edge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Requirement:  Hold margin &gt; </a:t>
                </a: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hold time</a:t>
                </a:r>
              </a:p>
              <a:p>
                <a:endParaRPr lang="en-US" dirty="0">
                  <a:solidFill>
                    <a:srgbClr val="00B050"/>
                  </a:solidFill>
                </a:endParaRPr>
              </a:p>
              <a:p>
                <a:pPr marL="201168" lvl="1" indent="0">
                  <a:buNone/>
                </a:pPr>
                <a:endParaRPr lang="en-US" dirty="0">
                  <a:solidFill>
                    <a:srgbClr val="00B050"/>
                  </a:solidFill>
                </a:endParaRPr>
              </a:p>
              <a:p>
                <a:pPr lvl="1"/>
                <a:endParaRPr lang="en-US" dirty="0">
                  <a:solidFill>
                    <a:srgbClr val="00B050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554562-7179-C75C-C591-BB5B085371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316220" cy="4329817"/>
              </a:xfrm>
              <a:blipFill>
                <a:blip r:embed="rId2"/>
                <a:stretch>
                  <a:fillRect l="-2752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6B764-3ED8-F8F5-C63F-1DBD3B88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AEBF9A-B78F-C5D1-1A7F-0A1C80D27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475" y="581520"/>
            <a:ext cx="3319923" cy="22465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0298D0C-CDAB-064E-971C-F86408DF4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906" y="2583050"/>
            <a:ext cx="5057775" cy="15144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0F1F736-85E6-1C5D-7FDA-19072E39ABA5}"/>
              </a:ext>
            </a:extLst>
          </p:cNvPr>
          <p:cNvCxnSpPr>
            <a:cxnSpLocks/>
          </p:cNvCxnSpPr>
          <p:nvPr/>
        </p:nvCxnSpPr>
        <p:spPr>
          <a:xfrm>
            <a:off x="9426622" y="3428998"/>
            <a:ext cx="0" cy="15675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38A55CE-02CF-19EC-CA6A-C08A4B806569}"/>
              </a:ext>
            </a:extLst>
          </p:cNvPr>
          <p:cNvCxnSpPr>
            <a:cxnSpLocks/>
          </p:cNvCxnSpPr>
          <p:nvPr/>
        </p:nvCxnSpPr>
        <p:spPr>
          <a:xfrm>
            <a:off x="8563022" y="3428998"/>
            <a:ext cx="0" cy="109072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456BE53-58AD-FCD4-FD4C-D79280DFB810}"/>
              </a:ext>
            </a:extLst>
          </p:cNvPr>
          <p:cNvCxnSpPr/>
          <p:nvPr/>
        </p:nvCxnSpPr>
        <p:spPr>
          <a:xfrm>
            <a:off x="9877472" y="3428999"/>
            <a:ext cx="0" cy="1197591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A47E7B1-2B28-BEBA-82E6-59E91BF55B12}"/>
              </a:ext>
            </a:extLst>
          </p:cNvPr>
          <p:cNvCxnSpPr/>
          <p:nvPr/>
        </p:nvCxnSpPr>
        <p:spPr>
          <a:xfrm>
            <a:off x="8572500" y="4311650"/>
            <a:ext cx="854122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E4BBA60-A5E0-07BF-9649-D155D62AACB1}"/>
              </a:ext>
            </a:extLst>
          </p:cNvPr>
          <p:cNvSpPr txBox="1"/>
          <p:nvPr/>
        </p:nvSpPr>
        <p:spPr>
          <a:xfrm>
            <a:off x="7183172" y="4150386"/>
            <a:ext cx="1433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Setup margin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DA18FE-19C5-3F03-72DC-917639E098D1}"/>
              </a:ext>
            </a:extLst>
          </p:cNvPr>
          <p:cNvSpPr txBox="1"/>
          <p:nvPr/>
        </p:nvSpPr>
        <p:spPr>
          <a:xfrm>
            <a:off x="9947913" y="4126984"/>
            <a:ext cx="1334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Hold margin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E007269-E050-1757-4687-43625B2CFE1B}"/>
              </a:ext>
            </a:extLst>
          </p:cNvPr>
          <p:cNvCxnSpPr>
            <a:cxnSpLocks/>
          </p:cNvCxnSpPr>
          <p:nvPr/>
        </p:nvCxnSpPr>
        <p:spPr>
          <a:xfrm>
            <a:off x="9426622" y="4301671"/>
            <a:ext cx="450850" cy="0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7B0466-26FA-1129-7643-E5152CBE6077}"/>
              </a:ext>
            </a:extLst>
          </p:cNvPr>
          <p:cNvCxnSpPr>
            <a:cxnSpLocks/>
          </p:cNvCxnSpPr>
          <p:nvPr/>
        </p:nvCxnSpPr>
        <p:spPr>
          <a:xfrm>
            <a:off x="9094245" y="3024051"/>
            <a:ext cx="0" cy="1972492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5735058-9E67-8B28-24CB-0AF6CD49FD2A}"/>
              </a:ext>
            </a:extLst>
          </p:cNvPr>
          <p:cNvSpPr txBox="1"/>
          <p:nvPr/>
        </p:nvSpPr>
        <p:spPr>
          <a:xfrm>
            <a:off x="8121673" y="4740698"/>
            <a:ext cx="1262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(min) </a:t>
            </a:r>
          </a:p>
          <a:p>
            <a:r>
              <a:rPr lang="en-US" dirty="0">
                <a:solidFill>
                  <a:srgbClr val="00B050"/>
                </a:solidFill>
              </a:rPr>
              <a:t>set-up time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BC2DA7E-2BDC-E7E3-0212-89C14E722E96}"/>
              </a:ext>
            </a:extLst>
          </p:cNvPr>
          <p:cNvCxnSpPr>
            <a:cxnSpLocks/>
          </p:cNvCxnSpPr>
          <p:nvPr/>
        </p:nvCxnSpPr>
        <p:spPr>
          <a:xfrm>
            <a:off x="9092375" y="4758711"/>
            <a:ext cx="334247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4EC90F5-812C-DAA6-336A-E7D202A23DDD}"/>
              </a:ext>
            </a:extLst>
          </p:cNvPr>
          <p:cNvCxnSpPr>
            <a:cxnSpLocks/>
          </p:cNvCxnSpPr>
          <p:nvPr/>
        </p:nvCxnSpPr>
        <p:spPr>
          <a:xfrm>
            <a:off x="9566686" y="3041548"/>
            <a:ext cx="0" cy="1972492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0C9B46B-9801-C672-2BF7-D558B558DC80}"/>
              </a:ext>
            </a:extLst>
          </p:cNvPr>
          <p:cNvCxnSpPr>
            <a:cxnSpLocks/>
          </p:cNvCxnSpPr>
          <p:nvPr/>
        </p:nvCxnSpPr>
        <p:spPr>
          <a:xfrm>
            <a:off x="9566686" y="4758711"/>
            <a:ext cx="263114" cy="0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5CBCD5E-40AC-8013-3064-8044752516F7}"/>
              </a:ext>
            </a:extLst>
          </p:cNvPr>
          <p:cNvSpPr txBox="1"/>
          <p:nvPr/>
        </p:nvSpPr>
        <p:spPr>
          <a:xfrm>
            <a:off x="9652047" y="4734491"/>
            <a:ext cx="1085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(min) </a:t>
            </a:r>
            <a:br>
              <a:rPr lang="en-US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hold time</a:t>
            </a:r>
          </a:p>
        </p:txBody>
      </p:sp>
    </p:spTree>
    <p:extLst>
      <p:ext uri="{BB962C8B-B14F-4D97-AF65-F5344CB8AC3E}">
        <p14:creationId xmlns:p14="http://schemas.microsoft.com/office/powerpoint/2010/main" val="32661829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C69A9-18C4-FE0D-30F3-55C37E33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2CC7E-6A1C-95AC-0F5E-6F2281911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Clock-to-Q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DAD196-164F-ABC0-7D58-8D70430243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316220" cy="4329817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Clock-to-Q time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Time from rising edge to stable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Sometimes loosely called register delay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Physically time to transfer input to output</a:t>
                </a:r>
              </a:p>
              <a:p>
                <a:pPr marL="201168" lvl="1" indent="0">
                  <a:buNone/>
                </a:pPr>
                <a:endParaRPr lang="en-US" dirty="0">
                  <a:solidFill>
                    <a:srgbClr val="00B050"/>
                  </a:solidFill>
                </a:endParaRPr>
              </a:p>
              <a:p>
                <a:pPr lvl="1"/>
                <a:endParaRPr lang="en-US" dirty="0">
                  <a:solidFill>
                    <a:srgbClr val="00B050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DAD196-164F-ABC0-7D58-8D70430243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316220" cy="4329817"/>
              </a:xfrm>
              <a:blipFill>
                <a:blip r:embed="rId2"/>
                <a:stretch>
                  <a:fillRect l="-2752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1FCF5-FF7A-68EA-E17E-094D8A66B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48B854-C06F-B0C7-0353-888019CA4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475" y="581520"/>
            <a:ext cx="3319923" cy="22465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42C6F80-9DE4-EBE9-2C3A-A8535D68A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906" y="2583050"/>
            <a:ext cx="5057775" cy="15144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03274ED-1600-FB7F-EC77-2CED771C4531}"/>
              </a:ext>
            </a:extLst>
          </p:cNvPr>
          <p:cNvCxnSpPr>
            <a:cxnSpLocks/>
          </p:cNvCxnSpPr>
          <p:nvPr/>
        </p:nvCxnSpPr>
        <p:spPr>
          <a:xfrm>
            <a:off x="9426622" y="3428998"/>
            <a:ext cx="0" cy="1267322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E25E518-1432-FAD4-56A8-444606358913}"/>
              </a:ext>
            </a:extLst>
          </p:cNvPr>
          <p:cNvCxnSpPr/>
          <p:nvPr/>
        </p:nvCxnSpPr>
        <p:spPr>
          <a:xfrm>
            <a:off x="9652047" y="3498729"/>
            <a:ext cx="0" cy="119759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7EADC57-5D3A-99AF-E8B4-2DB6CA72D563}"/>
              </a:ext>
            </a:extLst>
          </p:cNvPr>
          <p:cNvSpPr txBox="1"/>
          <p:nvPr/>
        </p:nvSpPr>
        <p:spPr>
          <a:xfrm>
            <a:off x="9947346" y="4221508"/>
            <a:ext cx="1660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Clock-to-Q time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1DB2F6C-DA3D-8CB2-45BA-9091F8F6082B}"/>
              </a:ext>
            </a:extLst>
          </p:cNvPr>
          <p:cNvCxnSpPr>
            <a:cxnSpLocks/>
          </p:cNvCxnSpPr>
          <p:nvPr/>
        </p:nvCxnSpPr>
        <p:spPr>
          <a:xfrm>
            <a:off x="9426622" y="4406174"/>
            <a:ext cx="225425" cy="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7490C3D-3904-200E-287D-F98FF7B01F60}"/>
              </a:ext>
            </a:extLst>
          </p:cNvPr>
          <p:cNvCxnSpPr>
            <a:cxnSpLocks/>
          </p:cNvCxnSpPr>
          <p:nvPr/>
        </p:nvCxnSpPr>
        <p:spPr>
          <a:xfrm>
            <a:off x="9652047" y="4410005"/>
            <a:ext cx="263114" cy="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131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9A847-0010-DBA5-3F16-AB6CC981A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10E7C-9DE6-BF63-9965-BEA434262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Times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076DF-A19F-A8C6-CA07-CF429117D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5FFC39-8E06-A79C-A245-B9237E6EE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475" y="581520"/>
            <a:ext cx="3319923" cy="22465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886FE01-A891-8329-FD1E-765AB5C5F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629" y="2764633"/>
            <a:ext cx="4437470" cy="13287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817DA3-9EA9-76E6-8C04-D487AB7C5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196" y="1809524"/>
            <a:ext cx="6697010" cy="32389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1D3695-1116-7C30-4E61-34A06E6775DD}"/>
              </a:ext>
            </a:extLst>
          </p:cNvPr>
          <p:cNvSpPr txBox="1"/>
          <p:nvPr/>
        </p:nvSpPr>
        <p:spPr>
          <a:xfrm>
            <a:off x="1012371" y="5296989"/>
            <a:ext cx="5185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 Modern nodes may have a negative hold time!</a:t>
            </a:r>
          </a:p>
        </p:txBody>
      </p:sp>
    </p:spTree>
    <p:extLst>
      <p:ext uri="{BB962C8B-B14F-4D97-AF65-F5344CB8AC3E}">
        <p14:creationId xmlns:p14="http://schemas.microsoft.com/office/powerpoint/2010/main" val="22434909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02B1E-18FB-6538-D3BE-1632BF526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76DFB-4AB8-3DC2-7B88-66640BFC4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Register-to-Register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8863C1-388E-6E4E-5097-FD68D3D7EA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7736" y="1658183"/>
                <a:ext cx="5744343" cy="4245010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Register-to-register paths</a:t>
                </a:r>
              </a:p>
              <a:p>
                <a:pPr lvl="1"/>
                <a:r>
                  <a:rPr lang="en-US" dirty="0"/>
                  <a:t>Start at any register output </a:t>
                </a:r>
              </a:p>
              <a:p>
                <a:pPr lvl="1"/>
                <a:r>
                  <a:rPr lang="en-US" dirty="0"/>
                  <a:t>End at any register output</a:t>
                </a:r>
              </a:p>
              <a:p>
                <a:r>
                  <a:rPr lang="en-US" dirty="0"/>
                  <a:t>Can be visualized on a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dataflow graph</a:t>
                </a:r>
              </a:p>
              <a:p>
                <a:pPr lvl="1"/>
                <a:r>
                  <a:rPr lang="en-US" dirty="0"/>
                  <a:t>Maps logics and register for each update</a:t>
                </a:r>
              </a:p>
              <a:p>
                <a:pPr lvl="1"/>
                <a:r>
                  <a:rPr lang="en-US" dirty="0"/>
                  <a:t>Primed values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represent values in </a:t>
                </a:r>
                <a:r>
                  <a:rPr lang="en-US" i="1" dirty="0"/>
                  <a:t>next</a:t>
                </a:r>
                <a:r>
                  <a:rPr lang="en-US" dirty="0"/>
                  <a:t> cycle</a:t>
                </a:r>
                <a:endParaRPr lang="en-US" i="1" dirty="0"/>
              </a:p>
              <a:p>
                <a:r>
                  <a:rPr lang="en-US" dirty="0"/>
                  <a:t>In this example, there are four paths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8863C1-388E-6E4E-5097-FD68D3D7EA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7736" y="1658183"/>
                <a:ext cx="5744343" cy="4245010"/>
              </a:xfrm>
              <a:blipFill>
                <a:blip r:embed="rId2"/>
                <a:stretch>
                  <a:fillRect l="-2545" t="-14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D8A6A-857C-96F6-70C8-D36823A77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693586A-3AFF-601C-A30E-DD513D3F0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05" y="1509875"/>
            <a:ext cx="3183245" cy="222226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39DBBCA-7273-884D-5CE8-320F76B48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104" y="3915200"/>
            <a:ext cx="4486449" cy="249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5053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E2112-056F-39F4-40B0-53E9D824A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DEE1E3C5-0869-A6BA-5338-4A6FBEC6E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04" y="1626605"/>
            <a:ext cx="4486449" cy="24982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47C08F-35F4-9537-72D8-EDD798C91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 Analysis:  Verifying the Set-Up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9ED581-43EB-8DD7-86CD-DADC75B00E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7736" y="1658183"/>
                <a:ext cx="5744343" cy="424501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For now:  Assume min hold time condition is met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We will address this later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Must verify the set-up time condition: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Max path delay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𝑐𝑙𝑘</m:t>
                        </m:r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𝑠𝑒𝑡𝑢𝑝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All paths arrive within set up period before clock edge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Path delay has two components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𝑃𝐷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= </a:t>
                </a:r>
                <a:r>
                  <a:rPr lang="en-US" dirty="0">
                    <a:solidFill>
                      <a:schemeClr val="tx1"/>
                    </a:solidFill>
                  </a:rPr>
                  <a:t>Combinational propagation delay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𝑐𝑙𝑘</m:t>
                        </m:r>
                        <m:r>
                          <a:rPr lang="en-US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One clock-to-Q delay</a:t>
                </a:r>
              </a:p>
              <a:p>
                <a:r>
                  <a:rPr lang="en-US" b="0" dirty="0">
                    <a:solidFill>
                      <a:schemeClr val="tx1"/>
                    </a:solidFill>
                  </a:rPr>
                  <a:t>Now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𝑃𝐷</m:t>
                            </m:r>
                          </m:sub>
                        </m:sSub>
                      </m:e>
                    </m:func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= Max PD of critical path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Measured in combinational circuit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Hence, to meet timing we need:</a:t>
                </a:r>
                <a:br>
                  <a:rPr lang="en-US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𝑐𝑙𝑘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𝑠𝑒𝑡𝑢𝑝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𝑐𝑙𝑘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9ED581-43EB-8DD7-86CD-DADC75B00E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7736" y="1658183"/>
                <a:ext cx="5744343" cy="4245010"/>
              </a:xfrm>
              <a:blipFill>
                <a:blip r:embed="rId3"/>
                <a:stretch>
                  <a:fillRect l="-2545" t="-20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E0E1B-797A-9F15-1E5E-6F5C6B7C0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92B38AB-6AE1-FA8F-2FD1-79B4077CFAC3}"/>
              </a:ext>
            </a:extLst>
          </p:cNvPr>
          <p:cNvSpPr txBox="1">
            <a:spLocks/>
          </p:cNvSpPr>
          <p:nvPr/>
        </p:nvSpPr>
        <p:spPr>
          <a:xfrm>
            <a:off x="-281404" y="1137483"/>
            <a:ext cx="5744343" cy="424501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6615B0-49FB-2C07-D6D0-293CFDD211C5}"/>
              </a:ext>
            </a:extLst>
          </p:cNvPr>
          <p:cNvCxnSpPr>
            <a:cxnSpLocks/>
          </p:cNvCxnSpPr>
          <p:nvPr/>
        </p:nvCxnSpPr>
        <p:spPr>
          <a:xfrm>
            <a:off x="4127500" y="1549400"/>
            <a:ext cx="0" cy="3168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F16EF0-F3E1-DAF9-86C0-9269DBA2D1AA}"/>
              </a:ext>
            </a:extLst>
          </p:cNvPr>
          <p:cNvCxnSpPr>
            <a:cxnSpLocks/>
          </p:cNvCxnSpPr>
          <p:nvPr/>
        </p:nvCxnSpPr>
        <p:spPr>
          <a:xfrm>
            <a:off x="4806950" y="1549400"/>
            <a:ext cx="0" cy="316865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A532EEF-32CB-3BF9-EE33-7E0AB5CF8D8F}"/>
              </a:ext>
            </a:extLst>
          </p:cNvPr>
          <p:cNvCxnSpPr>
            <a:cxnSpLocks/>
          </p:cNvCxnSpPr>
          <p:nvPr/>
        </p:nvCxnSpPr>
        <p:spPr>
          <a:xfrm>
            <a:off x="1460500" y="1549400"/>
            <a:ext cx="0" cy="316865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AEC069-A8CA-ACA5-63AF-837037F7032F}"/>
              </a:ext>
            </a:extLst>
          </p:cNvPr>
          <p:cNvCxnSpPr/>
          <p:nvPr/>
        </p:nvCxnSpPr>
        <p:spPr>
          <a:xfrm>
            <a:off x="1460500" y="4324350"/>
            <a:ext cx="2654300" cy="0"/>
          </a:xfrm>
          <a:prstGeom prst="straightConnector1">
            <a:avLst/>
          </a:prstGeom>
          <a:ln>
            <a:solidFill>
              <a:srgbClr val="00B050"/>
            </a:solidFill>
            <a:headEnd type="triangle" w="sm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C370AA2-D0D1-7080-324B-BB6C27DAB021}"/>
              </a:ext>
            </a:extLst>
          </p:cNvPr>
          <p:cNvCxnSpPr>
            <a:cxnSpLocks/>
          </p:cNvCxnSpPr>
          <p:nvPr/>
        </p:nvCxnSpPr>
        <p:spPr>
          <a:xfrm>
            <a:off x="4127500" y="4324350"/>
            <a:ext cx="679450" cy="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headEnd type="triangle" w="sm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FA97D44-7434-1E81-EC4B-3A960F4AE3A8}"/>
              </a:ext>
            </a:extLst>
          </p:cNvPr>
          <p:cNvSpPr txBox="1"/>
          <p:nvPr/>
        </p:nvSpPr>
        <p:spPr>
          <a:xfrm>
            <a:off x="1751596" y="4399217"/>
            <a:ext cx="16783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Combinational PD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507C0C-616F-7A58-806E-47F59A88E685}"/>
              </a:ext>
            </a:extLst>
          </p:cNvPr>
          <p:cNvSpPr txBox="1"/>
          <p:nvPr/>
        </p:nvSpPr>
        <p:spPr>
          <a:xfrm>
            <a:off x="3933456" y="4872976"/>
            <a:ext cx="10675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Clock-to-Q</a:t>
            </a:r>
            <a:br>
              <a:rPr lang="en-US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time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2F2285D-6210-A04C-0716-B40B6C1981E2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4467224" y="4399217"/>
            <a:ext cx="0" cy="473759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6060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650F1-E1B8-E287-7D7D-F84E2A389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65AA5-32BF-91C3-BB10-3708B6C0F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or Failing Timing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4882A0-DEC8-19EA-D758-823D8CAA53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From previous slide, assuming minimum hold time condition is met: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𝑐𝑙𝑘</m:t>
                        </m:r>
                      </m:sub>
                    </m:sSub>
                  </m:oMath>
                </a14:m>
                <a:r>
                  <a:rPr lang="en-US" dirty="0"/>
                  <a:t> = clock period,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𝑐𝑙𝑘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𝑐𝑙𝑘</m:t>
                            </m:r>
                          </m:sub>
                        </m:sSub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clock frequency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delay of critical path in combinational logic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𝑠𝑒𝑡𝑢𝑝</m:t>
                        </m:r>
                      </m:sub>
                    </m:sSub>
                  </m:oMath>
                </a14:m>
                <a:r>
                  <a:rPr lang="en-US" dirty="0"/>
                  <a:t> = min set up time,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𝐶𝐿𝐾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en-US" dirty="0"/>
                  <a:t> = Clock-to-Q time</a:t>
                </a:r>
              </a:p>
              <a:p>
                <a:r>
                  <a:rPr lang="en-US" dirty="0"/>
                  <a:t>If condition is satisfied, say system </a:t>
                </a:r>
                <a:r>
                  <a:rPr lang="en-US" dirty="0">
                    <a:solidFill>
                      <a:srgbClr val="00B050"/>
                    </a:solidFill>
                  </a:rPr>
                  <a:t>meets timing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Otherwise, system </a:t>
                </a:r>
                <a:r>
                  <a:rPr lang="en-US" dirty="0">
                    <a:solidFill>
                      <a:srgbClr val="FF0000"/>
                    </a:solidFill>
                  </a:rPr>
                  <a:t>fails timing </a:t>
                </a:r>
                <a:r>
                  <a:rPr lang="en-US" dirty="0"/>
                  <a:t>/ </a:t>
                </a:r>
                <a:r>
                  <a:rPr lang="en-US" dirty="0">
                    <a:solidFill>
                      <a:srgbClr val="FF0000"/>
                    </a:solidFill>
                  </a:rPr>
                  <a:t>timing violation 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4882A0-DEC8-19EA-D758-823D8CAA53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2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B0828-6340-DD56-74FC-FAD7E4F51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90181576-CD68-9402-C14C-5A61760856B7}"/>
                  </a:ext>
                </a:extLst>
              </p:cNvPr>
              <p:cNvSpPr/>
              <p:nvPr/>
            </p:nvSpPr>
            <p:spPr>
              <a:xfrm>
                <a:off x="1369283" y="2062306"/>
                <a:ext cx="7831868" cy="67708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accent1"/>
                    </a:solidFill>
                  </a:rPr>
                  <a:t>To meet timing: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𝑐𝑙𝑘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𝑠𝑒𝑡𝑢𝑝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𝐶𝐿𝐾</m:t>
                        </m:r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90181576-CD68-9402-C14C-5A61760856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9283" y="2062306"/>
                <a:ext cx="7831868" cy="677084"/>
              </a:xfrm>
              <a:prstGeom prst="roundRect">
                <a:avLst/>
              </a:prstGeom>
              <a:blipFill>
                <a:blip r:embed="rId3"/>
                <a:stretch>
                  <a:fillRect b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18639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033CA8B-3F87-8077-1C63-BE507B7DB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5" y="2052208"/>
            <a:ext cx="5846379" cy="33039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8CCDBB-5F8F-176B-FF11-04A15332E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 Calculating Critical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A5871-28F8-9699-6132-9417DA53F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891" y="1539277"/>
            <a:ext cx="4858788" cy="4329817"/>
          </a:xfrm>
        </p:spPr>
        <p:txBody>
          <a:bodyPr/>
          <a:lstStyle/>
          <a:p>
            <a:r>
              <a:rPr lang="en-US" dirty="0"/>
              <a:t>Max propagation delay</a:t>
            </a:r>
          </a:p>
          <a:p>
            <a:pPr lvl="1"/>
            <a:r>
              <a:rPr lang="en-US" dirty="0"/>
              <a:t>Can be computed recursively</a:t>
            </a:r>
          </a:p>
          <a:p>
            <a:pPr lvl="1"/>
            <a:r>
              <a:rPr lang="en-US" dirty="0"/>
              <a:t>Identical to combinational section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5C053-E7B9-5EF5-9314-C00385760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641BB12A-19E5-2B5C-C855-765F70F778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4985513"/>
                  </p:ext>
                </p:extLst>
              </p:nvPr>
            </p:nvGraphicFramePr>
            <p:xfrm>
              <a:off x="8394700" y="2863004"/>
              <a:ext cx="2990850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5425">
                      <a:extLst>
                        <a:ext uri="{9D8B030D-6E8A-4147-A177-3AD203B41FA5}">
                          <a16:colId xmlns:a16="http://schemas.microsoft.com/office/drawing/2014/main" val="3708845326"/>
                        </a:ext>
                      </a:extLst>
                    </a:gridCol>
                    <a:gridCol w="1495425">
                      <a:extLst>
                        <a:ext uri="{9D8B030D-6E8A-4147-A177-3AD203B41FA5}">
                          <a16:colId xmlns:a16="http://schemas.microsoft.com/office/drawing/2014/main" val="13548575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Component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Value [ns]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24397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/>
                            <a:t> PD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1.8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331178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/>
                            <a:t> PD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32975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/>
                            <a:t> PD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2.1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8889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/>
                            <a:t> PD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2.3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0805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𝑐𝑙𝑘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0.2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5100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𝑠𝑒𝑡𝑢𝑝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0.1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3415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641BB12A-19E5-2B5C-C855-765F70F778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4985513"/>
                  </p:ext>
                </p:extLst>
              </p:nvPr>
            </p:nvGraphicFramePr>
            <p:xfrm>
              <a:off x="8394700" y="2863004"/>
              <a:ext cx="2990850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5425">
                      <a:extLst>
                        <a:ext uri="{9D8B030D-6E8A-4147-A177-3AD203B41FA5}">
                          <a16:colId xmlns:a16="http://schemas.microsoft.com/office/drawing/2014/main" val="3708845326"/>
                        </a:ext>
                      </a:extLst>
                    </a:gridCol>
                    <a:gridCol w="1495425">
                      <a:extLst>
                        <a:ext uri="{9D8B030D-6E8A-4147-A177-3AD203B41FA5}">
                          <a16:colId xmlns:a16="http://schemas.microsoft.com/office/drawing/2014/main" val="13548575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Component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Value [ns]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24397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7" t="-101639" r="-101220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1.8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331178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7" t="-201639" r="-101220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32975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7" t="-301639" r="-101220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2.1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8889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7" t="-401639" r="-101220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2.3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0805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7" t="-501639" r="-10122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0.2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5100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7" t="-601639" r="-10122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0.1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34159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DBD9C8F-1419-6A4A-CE96-70106E6C7099}"/>
              </a:ext>
            </a:extLst>
          </p:cNvPr>
          <p:cNvSpPr txBox="1"/>
          <p:nvPr/>
        </p:nvSpPr>
        <p:spPr>
          <a:xfrm>
            <a:off x="2066844" y="2423822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1.8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E1C639-FF5A-F0A8-1E81-4A008050632D}"/>
              </a:ext>
            </a:extLst>
          </p:cNvPr>
          <p:cNvSpPr txBox="1"/>
          <p:nvPr/>
        </p:nvSpPr>
        <p:spPr>
          <a:xfrm>
            <a:off x="3207387" y="3489621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2.2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C73966-6547-A94A-D57A-9746FA729857}"/>
              </a:ext>
            </a:extLst>
          </p:cNvPr>
          <p:cNvSpPr txBox="1"/>
          <p:nvPr/>
        </p:nvSpPr>
        <p:spPr>
          <a:xfrm>
            <a:off x="3759362" y="2225096"/>
            <a:ext cx="8066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2.2+2.3</a:t>
            </a:r>
            <a:br>
              <a:rPr lang="en-US" sz="1600" dirty="0">
                <a:solidFill>
                  <a:schemeClr val="accent1"/>
                </a:solidFill>
              </a:rPr>
            </a:br>
            <a:r>
              <a:rPr lang="en-US" sz="1600" dirty="0">
                <a:solidFill>
                  <a:schemeClr val="accent1"/>
                </a:solidFill>
              </a:rPr>
              <a:t>=4.5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30CC5B-F2CE-65F0-3F4E-5982A58A4732}"/>
              </a:ext>
            </a:extLst>
          </p:cNvPr>
          <p:cNvSpPr txBox="1"/>
          <p:nvPr/>
        </p:nvSpPr>
        <p:spPr>
          <a:xfrm>
            <a:off x="3194111" y="4539159"/>
            <a:ext cx="1003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1.8+2.1</a:t>
            </a:r>
            <a:br>
              <a:rPr lang="en-US" sz="1600" dirty="0">
                <a:solidFill>
                  <a:schemeClr val="accent1"/>
                </a:solidFill>
              </a:rPr>
            </a:br>
            <a:r>
              <a:rPr lang="en-US" sz="1600" dirty="0">
                <a:solidFill>
                  <a:schemeClr val="accent1"/>
                </a:solidFill>
              </a:rPr>
              <a:t>=3.9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C2E1B-6545-AA32-6552-3866F56C12CA}"/>
              </a:ext>
            </a:extLst>
          </p:cNvPr>
          <p:cNvSpPr txBox="1"/>
          <p:nvPr/>
        </p:nvSpPr>
        <p:spPr>
          <a:xfrm>
            <a:off x="5426628" y="4723825"/>
            <a:ext cx="14123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3.9+0.2=4.1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288E09-0ACD-A7EA-5E8C-82F048094D98}"/>
              </a:ext>
            </a:extLst>
          </p:cNvPr>
          <p:cNvSpPr txBox="1"/>
          <p:nvPr/>
        </p:nvSpPr>
        <p:spPr>
          <a:xfrm>
            <a:off x="5406602" y="3090446"/>
            <a:ext cx="14123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4.5+0.2=4.7</a:t>
            </a:r>
          </a:p>
        </p:txBody>
      </p:sp>
    </p:spTree>
    <p:extLst>
      <p:ext uri="{BB962C8B-B14F-4D97-AF65-F5344CB8AC3E}">
        <p14:creationId xmlns:p14="http://schemas.microsoft.com/office/powerpoint/2010/main" val="10644191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CCFA2-81F2-8BF3-33F6-5FF42F216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B780C9D6-4912-BCBE-C115-E37DD2CD7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46" y="3524250"/>
            <a:ext cx="4331516" cy="24478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6BA84C-E735-0695-9865-A3D28E15F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 Maximum Clock Frequency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F7C1B9-918F-7E07-1A40-A8096381DD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94076" y="1539277"/>
                <a:ext cx="5761603" cy="4329817"/>
              </a:xfrm>
            </p:spPr>
            <p:txBody>
              <a:bodyPr/>
              <a:lstStyle/>
              <a:p>
                <a:r>
                  <a:rPr lang="en-US" dirty="0"/>
                  <a:t>From previous slide:</a:t>
                </a:r>
              </a:p>
              <a:p>
                <a:pPr lvl="1"/>
                <a:r>
                  <a:rPr lang="en-US" dirty="0"/>
                  <a:t>Critical path delay in combination logic: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=4.5</m:t>
                    </m:r>
                  </m:oMath>
                </a14:m>
                <a:r>
                  <a:rPr lang="en-US" dirty="0"/>
                  <a:t> ns</a:t>
                </a:r>
              </a:p>
              <a:p>
                <a:r>
                  <a:rPr lang="en-US" dirty="0"/>
                  <a:t>Therefore, to meet timing: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𝑐𝑙𝑘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𝐶𝐿𝐾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𝑠𝑒𝑡𝑢𝑝</m:t>
                        </m:r>
                      </m:sub>
                    </m:sSub>
                  </m:oMath>
                </a14:m>
                <a:br>
                  <a:rPr lang="en-US" b="0" dirty="0"/>
                </a:br>
                <a:r>
                  <a:rPr lang="en-US" b="0" dirty="0"/>
                  <a:t>                        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=4.5+0.2+0.1=4.8</m:t>
                    </m:r>
                  </m:oMath>
                </a14:m>
                <a:r>
                  <a:rPr lang="en-US" dirty="0"/>
                  <a:t> ns</a:t>
                </a:r>
              </a:p>
              <a:p>
                <a:r>
                  <a:rPr lang="en-US" dirty="0"/>
                  <a:t>Max clock frequency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𝑐𝑙𝑘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𝑐𝑙𝑘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≤208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MHz</m:t>
                    </m:r>
                  </m:oMath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F7C1B9-918F-7E07-1A40-A8096381DD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4076" y="1539277"/>
                <a:ext cx="5761603" cy="4329817"/>
              </a:xfrm>
              <a:blipFill>
                <a:blip r:embed="rId3"/>
                <a:stretch>
                  <a:fillRect l="-2540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97A0A-8367-E658-C4DF-A11D6D13C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240BF20-4151-B85B-C8FC-5136098DB5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3961101"/>
                  </p:ext>
                </p:extLst>
              </p:nvPr>
            </p:nvGraphicFramePr>
            <p:xfrm>
              <a:off x="580865" y="1540616"/>
              <a:ext cx="2509520" cy="1555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54760">
                      <a:extLst>
                        <a:ext uri="{9D8B030D-6E8A-4147-A177-3AD203B41FA5}">
                          <a16:colId xmlns:a16="http://schemas.microsoft.com/office/drawing/2014/main" val="3708845326"/>
                        </a:ext>
                      </a:extLst>
                    </a:gridCol>
                    <a:gridCol w="1254760">
                      <a:extLst>
                        <a:ext uri="{9D8B030D-6E8A-4147-A177-3AD203B41FA5}">
                          <a16:colId xmlns:a16="http://schemas.microsoft.com/office/drawing/2014/main" val="1354857504"/>
                        </a:ext>
                      </a:extLst>
                    </a:gridCol>
                  </a:tblGrid>
                  <a:tr h="238627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Component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Value [ns]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2439749"/>
                      </a:ext>
                    </a:extLst>
                  </a:tr>
                  <a:tr h="238627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𝑐𝑟𝑖𝑡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0805389"/>
                      </a:ext>
                    </a:extLst>
                  </a:tr>
                  <a:tr h="238627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𝑐𝑙𝑘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0.2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510082"/>
                      </a:ext>
                    </a:extLst>
                  </a:tr>
                  <a:tr h="238627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𝑠𝑒𝑡𝑢𝑝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0.1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3415964"/>
                      </a:ext>
                    </a:extLst>
                  </a:tr>
                  <a:tr h="238627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𝑐𝑙𝑘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/>
                            <a:t> 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4.8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14625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240BF20-4151-B85B-C8FC-5136098DB5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3961101"/>
                  </p:ext>
                </p:extLst>
              </p:nvPr>
            </p:nvGraphicFramePr>
            <p:xfrm>
              <a:off x="580865" y="1540616"/>
              <a:ext cx="2509520" cy="1555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54760">
                      <a:extLst>
                        <a:ext uri="{9D8B030D-6E8A-4147-A177-3AD203B41FA5}">
                          <a16:colId xmlns:a16="http://schemas.microsoft.com/office/drawing/2014/main" val="3708845326"/>
                        </a:ext>
                      </a:extLst>
                    </a:gridCol>
                    <a:gridCol w="1254760">
                      <a:extLst>
                        <a:ext uri="{9D8B030D-6E8A-4147-A177-3AD203B41FA5}">
                          <a16:colId xmlns:a16="http://schemas.microsoft.com/office/drawing/2014/main" val="1354857504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Component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Value [ns]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243974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85" t="-102000" r="-102427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0805389"/>
                      </a:ext>
                    </a:extLst>
                  </a:tr>
                  <a:tr h="3199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85" t="-190566" r="-102427" b="-213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0.2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510082"/>
                      </a:ext>
                    </a:extLst>
                  </a:tr>
                  <a:tr h="3212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85" t="-290566" r="-102427" b="-113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0.1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341596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85" t="-414000" r="-102427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4.8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14625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B3BC508-76AA-9631-1795-859AD9A35B5C}"/>
              </a:ext>
            </a:extLst>
          </p:cNvPr>
          <p:cNvSpPr txBox="1"/>
          <p:nvPr/>
        </p:nvSpPr>
        <p:spPr>
          <a:xfrm>
            <a:off x="2882869" y="3615451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4.5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0A014E-CFC3-4FE1-357A-FB4CAD362D45}"/>
              </a:ext>
            </a:extLst>
          </p:cNvPr>
          <p:cNvSpPr txBox="1"/>
          <p:nvPr/>
        </p:nvSpPr>
        <p:spPr>
          <a:xfrm>
            <a:off x="4057954" y="4330997"/>
            <a:ext cx="14123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4.5+0.2=4.7</a:t>
            </a:r>
          </a:p>
        </p:txBody>
      </p:sp>
    </p:spTree>
    <p:extLst>
      <p:ext uri="{BB962C8B-B14F-4D97-AF65-F5344CB8AC3E}">
        <p14:creationId xmlns:p14="http://schemas.microsoft.com/office/powerpoint/2010/main" val="7863304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A323C-C7DE-1A15-5F6D-AED5A5A9E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the Min Hold Time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A7CB47-C8D9-2A91-0C6D-05116EEF54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circuit to the right</a:t>
                </a:r>
              </a:p>
              <a:p>
                <a:pPr lvl="1"/>
                <a:r>
                  <a:rPr lang="en-US" dirty="0"/>
                  <a:t>A simple delay line</a:t>
                </a:r>
              </a:p>
              <a:p>
                <a:r>
                  <a:rPr lang="en-US" dirty="0"/>
                  <a:t>Naïve implementation</a:t>
                </a:r>
              </a:p>
              <a:p>
                <a:pPr lvl="1"/>
                <a:r>
                  <a:rPr lang="en-US" dirty="0"/>
                  <a:t>Very short path: 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Could violate minimum hold time</a:t>
                </a:r>
              </a:p>
              <a:p>
                <a:r>
                  <a:rPr lang="en-US" dirty="0"/>
                  <a:t>Typical solved in place &amp; route</a:t>
                </a:r>
              </a:p>
              <a:p>
                <a:pPr lvl="1"/>
                <a:r>
                  <a:rPr lang="en-US" dirty="0"/>
                  <a:t>Physical design will insert delay elements</a:t>
                </a:r>
              </a:p>
              <a:p>
                <a:r>
                  <a:rPr lang="en-US" dirty="0"/>
                  <a:t>With reasonable synchronous design:</a:t>
                </a:r>
              </a:p>
              <a:p>
                <a:pPr lvl="1"/>
                <a:r>
                  <a:rPr lang="en-US" dirty="0"/>
                  <a:t>RTL design does not need to worry about this constraint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A7CB47-C8D9-2A91-0C6D-05116EEF54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302AF-7E35-1A10-937F-3C3642B4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3A0F5B-EF4D-C9C8-E870-E13EA9ADB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563" y="3230187"/>
            <a:ext cx="3884299" cy="18721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FFE1A4-8FF7-C0AE-78AC-3F3C7F26F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241" y="1826578"/>
            <a:ext cx="4722944" cy="13779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665410-80BD-A944-EB06-45E7CAC81A51}"/>
              </a:ext>
            </a:extLst>
          </p:cNvPr>
          <p:cNvSpPr txBox="1"/>
          <p:nvPr/>
        </p:nvSpPr>
        <p:spPr>
          <a:xfrm>
            <a:off x="8432554" y="5222763"/>
            <a:ext cx="22928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Short path.  </a:t>
            </a:r>
            <a:br>
              <a:rPr lang="en-US" dirty="0"/>
            </a:br>
            <a:r>
              <a:rPr lang="en-US" dirty="0"/>
              <a:t>Could violate min hold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9D97EB6-3F59-FCEF-9E2D-C6737ABDC0A4}"/>
              </a:ext>
            </a:extLst>
          </p:cNvPr>
          <p:cNvCxnSpPr/>
          <p:nvPr/>
        </p:nvCxnSpPr>
        <p:spPr>
          <a:xfrm flipV="1">
            <a:off x="9033212" y="4245075"/>
            <a:ext cx="0" cy="857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03104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E1F03-BED8-BA26-5CB5-44FEA1889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57ADF-09BA-6E3B-4B04-D8B80D96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2B81F-96DB-0C24-4E3A-FFC32F833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Static Timing Analysis in Combinational Logic</a:t>
            </a:r>
          </a:p>
          <a:p>
            <a:r>
              <a:rPr lang="en-US" sz="2400" dirty="0"/>
              <a:t>Static Timing Analysis in Sequential Logic</a:t>
            </a:r>
          </a:p>
          <a:p>
            <a:r>
              <a:rPr lang="en-US" sz="2400" dirty="0"/>
              <a:t>Sequential Logic Timing Diagrams</a:t>
            </a:r>
          </a:p>
          <a:p>
            <a:r>
              <a:rPr lang="en-US" sz="2400" dirty="0"/>
              <a:t>VCD Files and Timing Diagrams from Vitis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408F1-3318-1B27-48E4-DEDBDDA3B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65D22A2E-19FF-368E-899C-4315775DDC38}"/>
              </a:ext>
            </a:extLst>
          </p:cNvPr>
          <p:cNvSpPr/>
          <p:nvPr/>
        </p:nvSpPr>
        <p:spPr>
          <a:xfrm>
            <a:off x="378644" y="2474301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5788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C8F5D-00E9-0852-B64C-A9895DF8E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D919E-1883-8BEA-A2CC-0A1C930C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Synchronous Logic Detailed Timing Diagram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ABB343-4E03-AF53-B5B7-41A833EEC8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88509" y="3396180"/>
                <a:ext cx="6181248" cy="260208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Consider counter: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Two delays in any synchronous circuit</a:t>
                </a:r>
              </a:p>
              <a:p>
                <a:r>
                  <a:rPr lang="en-US" dirty="0" err="1">
                    <a:solidFill>
                      <a:schemeClr val="accent5">
                        <a:lumMod val="75000"/>
                      </a:schemeClr>
                    </a:solidFill>
                  </a:rPr>
                  <a:t>Clk</a:t>
                </a: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-to-Q delay</a:t>
                </a:r>
                <a:r>
                  <a:rPr lang="en-US" dirty="0"/>
                  <a:t>:  clock rising edge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register output</a:t>
                </a:r>
              </a:p>
              <a:p>
                <a:pPr lvl="1"/>
                <a:r>
                  <a:rPr lang="en-US" dirty="0"/>
                  <a:t>This example shown as 2 ns</a:t>
                </a:r>
              </a:p>
              <a:p>
                <a:r>
                  <a:rPr lang="en-US" dirty="0">
                    <a:solidFill>
                      <a:srgbClr val="00B050"/>
                    </a:solidFill>
                  </a:rPr>
                  <a:t>Combinational PD</a:t>
                </a:r>
                <a:r>
                  <a:rPr lang="en-US" dirty="0"/>
                  <a:t>:  register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next value</a:t>
                </a:r>
              </a:p>
              <a:p>
                <a:pPr lvl="1"/>
                <a:r>
                  <a:rPr lang="en-US" dirty="0"/>
                  <a:t>This example shown as 3 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ABB343-4E03-AF53-B5B7-41A833EEC8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88509" y="3396180"/>
                <a:ext cx="6181248" cy="2602085"/>
              </a:xfrm>
              <a:blipFill>
                <a:blip r:embed="rId2"/>
                <a:stretch>
                  <a:fillRect l="-2367" t="-2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300B8-51AA-6F10-0295-CCC550E47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A9720D-F725-1741-31D4-7B1E2C0F2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430" y="1291286"/>
            <a:ext cx="3503296" cy="19092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17867F-40AD-47BD-D314-27482663E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19" y="1577984"/>
            <a:ext cx="7183113" cy="133580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781F197-0F20-BA53-FB49-F3F1E8A0D17A}"/>
              </a:ext>
            </a:extLst>
          </p:cNvPr>
          <p:cNvCxnSpPr>
            <a:cxnSpLocks/>
          </p:cNvCxnSpPr>
          <p:nvPr/>
        </p:nvCxnSpPr>
        <p:spPr>
          <a:xfrm>
            <a:off x="3005138" y="2883591"/>
            <a:ext cx="0" cy="71437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E8DDAF-C5B5-773D-FDAD-2E63427C6993}"/>
              </a:ext>
            </a:extLst>
          </p:cNvPr>
          <p:cNvCxnSpPr>
            <a:cxnSpLocks/>
          </p:cNvCxnSpPr>
          <p:nvPr/>
        </p:nvCxnSpPr>
        <p:spPr>
          <a:xfrm>
            <a:off x="3462338" y="2845491"/>
            <a:ext cx="0" cy="169068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D36453-BE13-0FB5-74B1-974F9D5494C4}"/>
              </a:ext>
            </a:extLst>
          </p:cNvPr>
          <p:cNvCxnSpPr>
            <a:cxnSpLocks/>
          </p:cNvCxnSpPr>
          <p:nvPr/>
        </p:nvCxnSpPr>
        <p:spPr>
          <a:xfrm>
            <a:off x="4100513" y="2883591"/>
            <a:ext cx="0" cy="165258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36B0AC-56F3-A7E5-4728-9FDAF233A74F}"/>
              </a:ext>
            </a:extLst>
          </p:cNvPr>
          <p:cNvCxnSpPr>
            <a:cxnSpLocks/>
          </p:cNvCxnSpPr>
          <p:nvPr/>
        </p:nvCxnSpPr>
        <p:spPr>
          <a:xfrm>
            <a:off x="2605088" y="3331266"/>
            <a:ext cx="400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DC0BA88-3CDF-3D8A-5FA7-65408B9BD862}"/>
              </a:ext>
            </a:extLst>
          </p:cNvPr>
          <p:cNvCxnSpPr>
            <a:cxnSpLocks/>
          </p:cNvCxnSpPr>
          <p:nvPr/>
        </p:nvCxnSpPr>
        <p:spPr>
          <a:xfrm flipH="1">
            <a:off x="3005138" y="3336028"/>
            <a:ext cx="4572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5B88AB5-79F1-510C-1739-70CB0E5681A1}"/>
              </a:ext>
            </a:extLst>
          </p:cNvPr>
          <p:cNvCxnSpPr>
            <a:cxnSpLocks/>
          </p:cNvCxnSpPr>
          <p:nvPr/>
        </p:nvCxnSpPr>
        <p:spPr>
          <a:xfrm flipH="1">
            <a:off x="3462338" y="4025141"/>
            <a:ext cx="63817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0ACAEB1-57E1-120A-CC99-F8435579C253}"/>
              </a:ext>
            </a:extLst>
          </p:cNvPr>
          <p:cNvCxnSpPr>
            <a:cxnSpLocks/>
          </p:cNvCxnSpPr>
          <p:nvPr/>
        </p:nvCxnSpPr>
        <p:spPr>
          <a:xfrm>
            <a:off x="3005138" y="4025141"/>
            <a:ext cx="400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8D47E78-C861-6E82-3156-8AC87CE3E85B}"/>
                  </a:ext>
                </a:extLst>
              </p:cNvPr>
              <p:cNvSpPr txBox="1"/>
              <p:nvPr/>
            </p:nvSpPr>
            <p:spPr>
              <a:xfrm>
                <a:off x="1704135" y="3150480"/>
                <a:ext cx="928459" cy="4217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𝑐𝑙𝑘</m:t>
                          </m:r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8D47E78-C861-6E82-3156-8AC87CE3E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4135" y="3150480"/>
                <a:ext cx="928459" cy="421782"/>
              </a:xfrm>
              <a:prstGeom prst="rect">
                <a:avLst/>
              </a:prstGeom>
              <a:blipFill>
                <a:blip r:embed="rId5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C13E5F9-5755-480A-DCF5-D7B9DB225755}"/>
                  </a:ext>
                </a:extLst>
              </p:cNvPr>
              <p:cNvSpPr txBox="1"/>
              <p:nvPr/>
            </p:nvSpPr>
            <p:spPr>
              <a:xfrm>
                <a:off x="2210078" y="3813256"/>
                <a:ext cx="622542" cy="423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𝑝𝑑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C13E5F9-5755-480A-DCF5-D7B9DB225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078" y="3813256"/>
                <a:ext cx="622542" cy="423770"/>
              </a:xfrm>
              <a:prstGeom prst="rect">
                <a:avLst/>
              </a:prstGeom>
              <a:blipFill>
                <a:blip r:embed="rId6"/>
                <a:stretch>
                  <a:fillRect b="-10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50651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7A93F-083D-81FC-9411-3A8F07445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51E93-7976-3448-BBA5-C24C74459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Timing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8333F-9760-B11B-DCDF-F198FFCF5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5791" y="1575386"/>
            <a:ext cx="5883966" cy="4422879"/>
          </a:xfrm>
        </p:spPr>
        <p:txBody>
          <a:bodyPr>
            <a:normAutofit/>
          </a:bodyPr>
          <a:lstStyle/>
          <a:p>
            <a:r>
              <a:rPr lang="en-US" dirty="0"/>
              <a:t>Timing diagram drawn called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detailed diagram</a:t>
            </a:r>
          </a:p>
          <a:p>
            <a:pPr lvl="1"/>
            <a:r>
              <a:rPr lang="en-US" dirty="0"/>
              <a:t>Sometimes called the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real timing diagram</a:t>
            </a:r>
          </a:p>
          <a:p>
            <a:r>
              <a:rPr lang="en-US" dirty="0">
                <a:solidFill>
                  <a:schemeClr val="tx1"/>
                </a:solidFill>
              </a:rPr>
              <a:t>Shows all details: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Register delays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All propagation delays in combinational paths</a:t>
            </a:r>
          </a:p>
          <a:p>
            <a:r>
              <a:rPr lang="en-US" dirty="0">
                <a:solidFill>
                  <a:schemeClr val="tx1"/>
                </a:solidFill>
              </a:rPr>
              <a:t>Good for reasoning about precise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timing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Can compute computation speed, throughput, …</a:t>
            </a:r>
          </a:p>
          <a:p>
            <a:r>
              <a:rPr lang="en-US" dirty="0">
                <a:solidFill>
                  <a:schemeClr val="tx1"/>
                </a:solidFill>
              </a:rPr>
              <a:t>But too many details to understand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functionality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EB686-E78B-1350-38ED-E04E6465F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45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0E35BC-2E64-AAD6-E60B-151AF237BA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94" r="30425"/>
          <a:stretch>
            <a:fillRect/>
          </a:stretch>
        </p:blipFill>
        <p:spPr>
          <a:xfrm>
            <a:off x="329719" y="1575386"/>
            <a:ext cx="4997655" cy="133840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BC06A0E-AEA0-A0C7-1D54-B62A5C07DF03}"/>
              </a:ext>
            </a:extLst>
          </p:cNvPr>
          <p:cNvCxnSpPr>
            <a:cxnSpLocks/>
          </p:cNvCxnSpPr>
          <p:nvPr/>
        </p:nvCxnSpPr>
        <p:spPr>
          <a:xfrm>
            <a:off x="3005138" y="2883591"/>
            <a:ext cx="0" cy="71437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07CD87-66F0-7D44-5F70-BD36D4826BF3}"/>
              </a:ext>
            </a:extLst>
          </p:cNvPr>
          <p:cNvCxnSpPr>
            <a:cxnSpLocks/>
          </p:cNvCxnSpPr>
          <p:nvPr/>
        </p:nvCxnSpPr>
        <p:spPr>
          <a:xfrm>
            <a:off x="3462338" y="2845491"/>
            <a:ext cx="0" cy="169068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3F25A28-E852-BA8E-5FF6-96AEE2E4E947}"/>
              </a:ext>
            </a:extLst>
          </p:cNvPr>
          <p:cNvCxnSpPr>
            <a:cxnSpLocks/>
          </p:cNvCxnSpPr>
          <p:nvPr/>
        </p:nvCxnSpPr>
        <p:spPr>
          <a:xfrm>
            <a:off x="4100513" y="2883591"/>
            <a:ext cx="0" cy="1652588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2C8F7A-E0C8-B2BB-3456-DF9F12617830}"/>
              </a:ext>
            </a:extLst>
          </p:cNvPr>
          <p:cNvCxnSpPr>
            <a:cxnSpLocks/>
          </p:cNvCxnSpPr>
          <p:nvPr/>
        </p:nvCxnSpPr>
        <p:spPr>
          <a:xfrm>
            <a:off x="2605088" y="3331266"/>
            <a:ext cx="400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9B400F-2C55-C436-913E-98C6DC6D2A2A}"/>
              </a:ext>
            </a:extLst>
          </p:cNvPr>
          <p:cNvCxnSpPr>
            <a:cxnSpLocks/>
          </p:cNvCxnSpPr>
          <p:nvPr/>
        </p:nvCxnSpPr>
        <p:spPr>
          <a:xfrm flipH="1">
            <a:off x="3005138" y="3336028"/>
            <a:ext cx="4572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02BBD72-0701-06CF-70C1-C1277DB66AF7}"/>
              </a:ext>
            </a:extLst>
          </p:cNvPr>
          <p:cNvCxnSpPr>
            <a:cxnSpLocks/>
          </p:cNvCxnSpPr>
          <p:nvPr/>
        </p:nvCxnSpPr>
        <p:spPr>
          <a:xfrm flipH="1">
            <a:off x="3462338" y="4025141"/>
            <a:ext cx="63817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4848BF-BAFE-96C8-353B-B1CAF0B33DE9}"/>
              </a:ext>
            </a:extLst>
          </p:cNvPr>
          <p:cNvCxnSpPr>
            <a:cxnSpLocks/>
          </p:cNvCxnSpPr>
          <p:nvPr/>
        </p:nvCxnSpPr>
        <p:spPr>
          <a:xfrm>
            <a:off x="3005138" y="4025141"/>
            <a:ext cx="400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071D33-A9C0-954D-4510-2E36FE81CC02}"/>
                  </a:ext>
                </a:extLst>
              </p:cNvPr>
              <p:cNvSpPr txBox="1"/>
              <p:nvPr/>
            </p:nvSpPr>
            <p:spPr>
              <a:xfrm>
                <a:off x="1704135" y="3150480"/>
                <a:ext cx="928459" cy="4217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𝑐𝑙𝑘</m:t>
                          </m:r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071D33-A9C0-954D-4510-2E36FE81C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4135" y="3150480"/>
                <a:ext cx="928459" cy="421782"/>
              </a:xfrm>
              <a:prstGeom prst="rect">
                <a:avLst/>
              </a:prstGeom>
              <a:blipFill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01A65E-313B-2A40-1F6E-B7CE75237502}"/>
                  </a:ext>
                </a:extLst>
              </p:cNvPr>
              <p:cNvSpPr txBox="1"/>
              <p:nvPr/>
            </p:nvSpPr>
            <p:spPr>
              <a:xfrm>
                <a:off x="2210078" y="3813256"/>
                <a:ext cx="622542" cy="423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𝑝𝑑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01A65E-313B-2A40-1F6E-B7CE75237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078" y="3813256"/>
                <a:ext cx="622542" cy="423770"/>
              </a:xfrm>
              <a:prstGeom prst="rect">
                <a:avLst/>
              </a:prstGeom>
              <a:blipFill>
                <a:blip r:embed="rId4"/>
                <a:stretch>
                  <a:fillRect b="-10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68592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45F44-2FA8-EEC8-2CB5-88EE1F923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5B369-7BBA-B8B9-E428-2D02734A2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Abstract or Cycle Accurate Timing Diagram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8FD11E-614E-BC45-732A-358AAFB135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13173" y="1575386"/>
                <a:ext cx="5456583" cy="4422879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Abstract timing diagram</a:t>
                </a:r>
              </a:p>
              <a:p>
                <a:pPr lvl="1"/>
                <a:r>
                  <a:rPr lang="en-US" dirty="0"/>
                  <a:t>Also called </a:t>
                </a: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cycle-accurate diagram</a:t>
                </a:r>
              </a:p>
              <a:p>
                <a:pPr lvl="1"/>
                <a:r>
                  <a:rPr lang="en-US" dirty="0"/>
                  <a:t>All delays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0</a:t>
                </a:r>
              </a:p>
              <a:p>
                <a:pPr lvl="1"/>
                <a:r>
                  <a:rPr lang="en-US" dirty="0"/>
                  <a:t>Ignores computation time</a:t>
                </a:r>
              </a:p>
              <a:p>
                <a:r>
                  <a:rPr lang="en-US" dirty="0"/>
                  <a:t>No unknown (X or ?) regions</a:t>
                </a:r>
              </a:p>
              <a:p>
                <a:r>
                  <a:rPr lang="en-US" dirty="0"/>
                  <a:t>Simpler to see functionality</a:t>
                </a:r>
              </a:p>
              <a:p>
                <a:r>
                  <a:rPr lang="en-US" dirty="0"/>
                  <a:t>Values in each cycle represent</a:t>
                </a:r>
              </a:p>
              <a:p>
                <a:pPr lvl="1"/>
                <a:r>
                  <a:rPr lang="en-US" dirty="0"/>
                  <a:t>Value immediately before rising edge at end of cycle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8FD11E-614E-BC45-732A-358AAFB135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13173" y="1575386"/>
                <a:ext cx="5456583" cy="4422879"/>
              </a:xfrm>
              <a:blipFill>
                <a:blip r:embed="rId2"/>
                <a:stretch>
                  <a:fillRect l="-2679" t="-1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B9A8C-6EF2-F5B7-1F7F-F85260F91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46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108262-3AA7-8F4E-8D5B-B0A2AD9869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94" r="30425"/>
          <a:stretch>
            <a:fillRect/>
          </a:stretch>
        </p:blipFill>
        <p:spPr>
          <a:xfrm>
            <a:off x="374304" y="1863645"/>
            <a:ext cx="4997655" cy="13384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A311D6-FCFF-AD7F-F3BB-780E3FAA2B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9171" b="-2830"/>
          <a:stretch>
            <a:fillRect/>
          </a:stretch>
        </p:blipFill>
        <p:spPr>
          <a:xfrm>
            <a:off x="294653" y="4254594"/>
            <a:ext cx="5156958" cy="1392307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4B0F473A-C808-CAE5-E739-1EA7C0463511}"/>
              </a:ext>
            </a:extLst>
          </p:cNvPr>
          <p:cNvSpPr/>
          <p:nvPr/>
        </p:nvSpPr>
        <p:spPr>
          <a:xfrm>
            <a:off x="2830761" y="3191619"/>
            <a:ext cx="484632" cy="978408"/>
          </a:xfrm>
          <a:prstGeom prst="down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2FB5BE-2E57-9894-103A-262A8385BE80}"/>
                  </a:ext>
                </a:extLst>
              </p:cNvPr>
              <p:cNvSpPr txBox="1"/>
              <p:nvPr/>
            </p:nvSpPr>
            <p:spPr>
              <a:xfrm>
                <a:off x="3393683" y="3244334"/>
                <a:ext cx="12105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Delays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0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2FB5BE-2E57-9894-103A-262A8385B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83" y="3244334"/>
                <a:ext cx="1210588" cy="369332"/>
              </a:xfrm>
              <a:prstGeom prst="rect">
                <a:avLst/>
              </a:prstGeom>
              <a:blipFill>
                <a:blip r:embed="rId5"/>
                <a:stretch>
                  <a:fillRect l="-4545" t="-8197" r="-404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7DAF411-79D0-256E-EFB2-B7EEF35ED2FB}"/>
              </a:ext>
            </a:extLst>
          </p:cNvPr>
          <p:cNvSpPr txBox="1"/>
          <p:nvPr/>
        </p:nvSpPr>
        <p:spPr>
          <a:xfrm>
            <a:off x="2000889" y="1441470"/>
            <a:ext cx="2437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Detailed timing diagram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48F1C5-8952-6109-3367-EBACF2B648CC}"/>
              </a:ext>
            </a:extLst>
          </p:cNvPr>
          <p:cNvSpPr txBox="1"/>
          <p:nvPr/>
        </p:nvSpPr>
        <p:spPr>
          <a:xfrm>
            <a:off x="1854217" y="5628933"/>
            <a:ext cx="2431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Abstract timing diagram</a:t>
            </a:r>
          </a:p>
        </p:txBody>
      </p:sp>
    </p:spTree>
    <p:extLst>
      <p:ext uri="{BB962C8B-B14F-4D97-AF65-F5344CB8AC3E}">
        <p14:creationId xmlns:p14="http://schemas.microsoft.com/office/powerpoint/2010/main" val="15362900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C700F-8425-AC74-ED49-156CC12AE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ReLU</a:t>
            </a:r>
            <a:r>
              <a:rPr lang="en-US" dirty="0"/>
              <a:t> + Linear Synchronous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44BE5-EE9C-4628-886D-D4D5F2635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5883" y="1683733"/>
            <a:ext cx="5859780" cy="3702156"/>
          </a:xfrm>
        </p:spPr>
        <p:txBody>
          <a:bodyPr/>
          <a:lstStyle/>
          <a:p>
            <a:r>
              <a:rPr lang="en-US" dirty="0"/>
              <a:t>Now consider synchronous version of </a:t>
            </a:r>
            <a:r>
              <a:rPr lang="en-US" dirty="0" err="1"/>
              <a:t>ReLU</a:t>
            </a:r>
            <a:r>
              <a:rPr lang="en-US" dirty="0"/>
              <a:t> + linear</a:t>
            </a:r>
          </a:p>
          <a:p>
            <a:r>
              <a:rPr lang="en-US" dirty="0"/>
              <a:t>Identical to Unit 2</a:t>
            </a:r>
          </a:p>
          <a:p>
            <a:r>
              <a:rPr lang="en-US" dirty="0"/>
              <a:t>We add two inputs to ports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Clock signal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Reset</a:t>
            </a:r>
            <a:r>
              <a:rPr lang="en-US" dirty="0"/>
              <a:t> on negative edge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190D6-424F-828D-4896-0CF21198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F991A0-6C34-B3F9-8FB8-A161EA3047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226" b="71813"/>
          <a:stretch>
            <a:fillRect/>
          </a:stretch>
        </p:blipFill>
        <p:spPr>
          <a:xfrm>
            <a:off x="7132710" y="2236489"/>
            <a:ext cx="3263550" cy="222310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1F6D6C2-1F24-DA7D-CA88-CFE36C37DDA4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9619629" y="2467322"/>
            <a:ext cx="1030725" cy="14252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A8007E4-4D36-BCA1-3B22-50B8E566D052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9843110" y="2947146"/>
            <a:ext cx="807244" cy="5357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8680E97-C491-5A57-BB00-7BF8B22CDD70}"/>
              </a:ext>
            </a:extLst>
          </p:cNvPr>
          <p:cNvSpPr txBox="1"/>
          <p:nvPr/>
        </p:nvSpPr>
        <p:spPr>
          <a:xfrm>
            <a:off x="10650354" y="2236489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Clock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8BFEFE-EAC6-C656-B88C-F6ECBB697A03}"/>
              </a:ext>
            </a:extLst>
          </p:cNvPr>
          <p:cNvSpPr txBox="1"/>
          <p:nvPr/>
        </p:nvSpPr>
        <p:spPr>
          <a:xfrm>
            <a:off x="10650354" y="2769889"/>
            <a:ext cx="874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Reset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4836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D53F-5A03-BB22-E08C-2B6B8D532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5EA93-333A-848E-930F-1BAD55552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identical implementation as in Unit 2</a:t>
            </a:r>
          </a:p>
          <a:p>
            <a:r>
              <a:rPr lang="en-US" dirty="0"/>
              <a:t>Next values computed in </a:t>
            </a:r>
            <a:r>
              <a:rPr lang="en-US" dirty="0" err="1"/>
              <a:t>always_comb</a:t>
            </a:r>
            <a:r>
              <a:rPr lang="en-US" dirty="0"/>
              <a:t> block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B4C9F-CEAE-BE7C-7287-337AF935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036926-9C6B-A618-7D90-C910277F70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5" t="27161" r="-236" b="-1"/>
          <a:stretch>
            <a:fillRect/>
          </a:stretch>
        </p:blipFill>
        <p:spPr>
          <a:xfrm>
            <a:off x="6916028" y="1424264"/>
            <a:ext cx="4969010" cy="42328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1916A1-7188-76FD-AA61-41D06F5CD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902" y="3077203"/>
            <a:ext cx="5269578" cy="133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6610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0390-4115-440C-DC17-54227B355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B5D85-6A2A-4111-C9C4-6F3B3F537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10058399" cy="4329817"/>
          </a:xfrm>
        </p:spPr>
        <p:txBody>
          <a:bodyPr/>
          <a:lstStyle/>
          <a:p>
            <a:r>
              <a:rPr lang="en-US" dirty="0"/>
              <a:t>Assume the propagation delays in table </a:t>
            </a:r>
          </a:p>
          <a:p>
            <a:r>
              <a:rPr lang="en-US" dirty="0"/>
              <a:t>Delay in each stage shown in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violet</a:t>
            </a:r>
          </a:p>
          <a:p>
            <a:r>
              <a:rPr lang="en-US" dirty="0">
                <a:solidFill>
                  <a:schemeClr val="tx1"/>
                </a:solidFill>
              </a:rPr>
              <a:t>Ignore CLK-Q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DEC50-644A-8FE6-6FA0-BAD586B87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F40314-A49F-93B1-1EB5-F2D2D90D3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365" y="2967991"/>
            <a:ext cx="10390228" cy="26325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6">
                <a:extLst>
                  <a:ext uri="{FF2B5EF4-FFF2-40B4-BE49-F238E27FC236}">
                    <a16:creationId xmlns:a16="http://schemas.microsoft.com/office/drawing/2014/main" id="{8672B652-A399-B114-388A-544BBA56B4C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967305319"/>
                  </p:ext>
                </p:extLst>
              </p:nvPr>
            </p:nvGraphicFramePr>
            <p:xfrm>
              <a:off x="7685732" y="465410"/>
              <a:ext cx="3910686" cy="2494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2882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187804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block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prop delay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Register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76834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𝑚𝑢𝑙𝑡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/>
                            <a:t>3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𝑎𝑑𝑑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b="0" dirty="0"/>
                            <a:t>1.5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operator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/>
                            <a:t>1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2939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Total</a:t>
                          </a:r>
                          <a:br>
                            <a:rPr lang="en-US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</a:br>
                          <a:r>
                            <a:rPr lang="en-US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=critical path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𝑐𝑟𝑖𝑡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5.5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6">
                <a:extLst>
                  <a:ext uri="{FF2B5EF4-FFF2-40B4-BE49-F238E27FC236}">
                    <a16:creationId xmlns:a16="http://schemas.microsoft.com/office/drawing/2014/main" id="{8672B652-A399-B114-388A-544BBA56B4C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967305319"/>
                  </p:ext>
                </p:extLst>
              </p:nvPr>
            </p:nvGraphicFramePr>
            <p:xfrm>
              <a:off x="7685732" y="465410"/>
              <a:ext cx="3910686" cy="2494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2882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187804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block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prop delay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Register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76834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889" t="-208197" r="-1111" b="-3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889" t="-308197" r="-1111" b="-2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operator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889" t="-408197" r="-1111" b="-1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229395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Total</a:t>
                          </a:r>
                          <a:br>
                            <a:rPr lang="en-US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</a:br>
                          <a:r>
                            <a:rPr lang="en-US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=critical path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889" t="-295238" r="-1111" b="-15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E79AE85-D813-7865-6FFF-486F24797969}"/>
              </a:ext>
            </a:extLst>
          </p:cNvPr>
          <p:cNvSpPr txBox="1"/>
          <p:nvPr/>
        </p:nvSpPr>
        <p:spPr>
          <a:xfrm>
            <a:off x="3419061" y="5078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72E782-4C6C-F30F-56AC-78D8EABF461D}"/>
              </a:ext>
            </a:extLst>
          </p:cNvPr>
          <p:cNvSpPr txBox="1"/>
          <p:nvPr/>
        </p:nvSpPr>
        <p:spPr>
          <a:xfrm>
            <a:off x="4167808" y="40236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5832F6-0980-F5AF-5DA9-479F71628BC1}"/>
              </a:ext>
            </a:extLst>
          </p:cNvPr>
          <p:cNvSpPr txBox="1"/>
          <p:nvPr/>
        </p:nvSpPr>
        <p:spPr>
          <a:xfrm>
            <a:off x="4837043" y="5078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4218A6-BD8A-54A6-8AC3-DA9F08FEB40B}"/>
              </a:ext>
            </a:extLst>
          </p:cNvPr>
          <p:cNvSpPr txBox="1"/>
          <p:nvPr/>
        </p:nvSpPr>
        <p:spPr>
          <a:xfrm>
            <a:off x="6833152" y="420835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2C1DF0-2158-7ACD-575E-5A23345BABD5}"/>
              </a:ext>
            </a:extLst>
          </p:cNvPr>
          <p:cNvSpPr txBox="1"/>
          <p:nvPr/>
        </p:nvSpPr>
        <p:spPr>
          <a:xfrm>
            <a:off x="7066724" y="5078896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3+1.5=4.5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64655E-B8B1-0DF6-455A-A973423867C1}"/>
              </a:ext>
            </a:extLst>
          </p:cNvPr>
          <p:cNvSpPr txBox="1"/>
          <p:nvPr/>
        </p:nvSpPr>
        <p:spPr>
          <a:xfrm>
            <a:off x="10371497" y="5134057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4.5+1=5.5</a:t>
            </a:r>
          </a:p>
        </p:txBody>
      </p:sp>
    </p:spTree>
    <p:extLst>
      <p:ext uri="{BB962C8B-B14F-4D97-AF65-F5344CB8AC3E}">
        <p14:creationId xmlns:p14="http://schemas.microsoft.com/office/powerpoint/2010/main" val="4545255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89065-9A44-E71D-15B1-D5C5A0A0C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A5AC167B-54C6-1582-9451-6CA51A9940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025"/>
          <a:stretch>
            <a:fillRect/>
          </a:stretch>
        </p:blipFill>
        <p:spPr>
          <a:xfrm>
            <a:off x="681400" y="1497569"/>
            <a:ext cx="4467964" cy="33279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DBAC81-41EA-227D-9B05-1E2739B68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ReLU+Linear</a:t>
            </a:r>
            <a:r>
              <a:rPr lang="en-US" dirty="0"/>
              <a:t> Timing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CAE10-E023-07FD-CF9C-61F2CEFA3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50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EFF6FC-8C7F-1D96-71B0-6BFC36005EB6}"/>
              </a:ext>
            </a:extLst>
          </p:cNvPr>
          <p:cNvCxnSpPr>
            <a:cxnSpLocks/>
          </p:cNvCxnSpPr>
          <p:nvPr/>
        </p:nvCxnSpPr>
        <p:spPr>
          <a:xfrm>
            <a:off x="2428422" y="1576388"/>
            <a:ext cx="0" cy="43053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841AD6A-F187-D540-A017-9AF935DB753A}"/>
              </a:ext>
            </a:extLst>
          </p:cNvPr>
          <p:cNvCxnSpPr>
            <a:cxnSpLocks/>
          </p:cNvCxnSpPr>
          <p:nvPr/>
        </p:nvCxnSpPr>
        <p:spPr>
          <a:xfrm>
            <a:off x="3033753" y="4191000"/>
            <a:ext cx="0" cy="9334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Content Placeholder 6">
                <a:extLst>
                  <a:ext uri="{FF2B5EF4-FFF2-40B4-BE49-F238E27FC236}">
                    <a16:creationId xmlns:a16="http://schemas.microsoft.com/office/drawing/2014/main" id="{03A77A43-E078-DA3A-D5BD-191D7C4507B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00230244"/>
                  </p:ext>
                </p:extLst>
              </p:nvPr>
            </p:nvGraphicFramePr>
            <p:xfrm>
              <a:off x="7605713" y="1727042"/>
              <a:ext cx="3904887" cy="2123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7083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187804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block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 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𝑚𝑢𝑙𝑡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/>
                            <a:t>3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𝑎𝑑𝑑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b="0" dirty="0"/>
                            <a:t>1.5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operator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dirty="0"/>
                            <a:t>1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2939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Total</a:t>
                          </a:r>
                          <a:br>
                            <a:rPr lang="en-US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</a:br>
                          <a:r>
                            <a:rPr lang="en-US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=critical path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𝑐𝑟𝑖𝑡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5.5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Content Placeholder 6">
                <a:extLst>
                  <a:ext uri="{FF2B5EF4-FFF2-40B4-BE49-F238E27FC236}">
                    <a16:creationId xmlns:a16="http://schemas.microsoft.com/office/drawing/2014/main" id="{03A77A43-E078-DA3A-D5BD-191D7C4507B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00230244"/>
                  </p:ext>
                </p:extLst>
              </p:nvPr>
            </p:nvGraphicFramePr>
            <p:xfrm>
              <a:off x="7605713" y="1727042"/>
              <a:ext cx="3904887" cy="2123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17083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187804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block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 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611" t="-108197" r="-1111" b="-3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611" t="-208197" r="-1111" b="-2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operator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611" t="-308197" r="-1111" b="-198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229395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Total</a:t>
                          </a:r>
                          <a:br>
                            <a:rPr lang="en-US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</a:br>
                          <a:r>
                            <a:rPr lang="en-US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</a:rPr>
                            <a:t>=critical path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611" t="-237143" r="-1111" b="-15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CAE1E1D-A283-7590-ACD3-01D9D9213F64}"/>
              </a:ext>
            </a:extLst>
          </p:cNvPr>
          <p:cNvCxnSpPr>
            <a:cxnSpLocks/>
          </p:cNvCxnSpPr>
          <p:nvPr/>
        </p:nvCxnSpPr>
        <p:spPr>
          <a:xfrm>
            <a:off x="2408758" y="5486400"/>
            <a:ext cx="1157902" cy="0"/>
          </a:xfrm>
          <a:prstGeom prst="line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11B6DAC-2758-F457-E56C-A567D23D76FE}"/>
                  </a:ext>
                </a:extLst>
              </p:cNvPr>
              <p:cNvSpPr txBox="1"/>
              <p:nvPr/>
            </p:nvSpPr>
            <p:spPr>
              <a:xfrm>
                <a:off x="714863" y="4811626"/>
                <a:ext cx="14883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=5.5 </m:t>
                    </m:r>
                  </m:oMath>
                </a14:m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ns</a:t>
                </a:r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11B6DAC-2758-F457-E56C-A567D23D7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63" y="4811626"/>
                <a:ext cx="1488356" cy="369332"/>
              </a:xfrm>
              <a:prstGeom prst="rect">
                <a:avLst/>
              </a:prstGeom>
              <a:blipFill>
                <a:blip r:embed="rId4"/>
                <a:stretch>
                  <a:fillRect t="-8197" r="-286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F17A9CD-4EE0-1C33-3734-D64F28EEA1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908" y="4470532"/>
            <a:ext cx="4829771" cy="1223686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08141DA-A05D-3A80-34FA-96FC9BCDF004}"/>
              </a:ext>
            </a:extLst>
          </p:cNvPr>
          <p:cNvCxnSpPr>
            <a:cxnSpLocks/>
          </p:cNvCxnSpPr>
          <p:nvPr/>
        </p:nvCxnSpPr>
        <p:spPr>
          <a:xfrm>
            <a:off x="3566660" y="1615090"/>
            <a:ext cx="0" cy="417611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B004340-2BB4-ADE4-6003-ACF8912432F7}"/>
              </a:ext>
            </a:extLst>
          </p:cNvPr>
          <p:cNvCxnSpPr>
            <a:cxnSpLocks/>
          </p:cNvCxnSpPr>
          <p:nvPr/>
        </p:nvCxnSpPr>
        <p:spPr>
          <a:xfrm>
            <a:off x="2408758" y="4919663"/>
            <a:ext cx="624995" cy="0"/>
          </a:xfrm>
          <a:prstGeom prst="line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1C946BD-E895-C1B7-2ECD-D26EC6C17BCD}"/>
                  </a:ext>
                </a:extLst>
              </p:cNvPr>
              <p:cNvSpPr txBox="1"/>
              <p:nvPr/>
            </p:nvSpPr>
            <p:spPr>
              <a:xfrm>
                <a:off x="714863" y="5235112"/>
                <a:ext cx="13798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𝑐𝑙𝑘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ns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1C946BD-E895-C1B7-2ECD-D26EC6C17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63" y="5235112"/>
                <a:ext cx="1379801" cy="369332"/>
              </a:xfrm>
              <a:prstGeom prst="rect">
                <a:avLst/>
              </a:prstGeom>
              <a:blipFill>
                <a:blip r:embed="rId6"/>
                <a:stretch>
                  <a:fillRect t="-10000" r="-308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50DC7418-475B-E318-5CF3-7E56A73C99F0}"/>
                  </a:ext>
                </a:extLst>
              </p:cNvPr>
              <p:cNvSpPr/>
              <p:nvPr/>
            </p:nvSpPr>
            <p:spPr>
              <a:xfrm>
                <a:off x="3877208" y="4957154"/>
                <a:ext cx="2575668" cy="757238"/>
              </a:xfrm>
              <a:prstGeom prst="roundRect">
                <a:avLst/>
              </a:prstGeom>
              <a:solidFill>
                <a:srgbClr val="CCFF9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0" dirty="0">
                    <a:solidFill>
                      <a:srgbClr val="00B050"/>
                    </a:solidFill>
                  </a:rPr>
                  <a:t>Meets timing: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𝑐𝑙𝑘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</m:oMath>
                </a14:m>
                <a:endParaRPr 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50DC7418-475B-E318-5CF3-7E56A73C99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208" y="4957154"/>
                <a:ext cx="2575668" cy="757238"/>
              </a:xfrm>
              <a:prstGeom prst="roundRect">
                <a:avLst/>
              </a:prstGeom>
              <a:blipFill>
                <a:blip r:embed="rId7"/>
                <a:stretch>
                  <a:fillRect t="-9449" b="-4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129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BB7C-2EDB-4318-7ECA-B6D74782A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1EA7F9C3-ADCE-8C8C-8DB0-B5D8663A67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025"/>
          <a:stretch>
            <a:fillRect/>
          </a:stretch>
        </p:blipFill>
        <p:spPr>
          <a:xfrm>
            <a:off x="681400" y="1497569"/>
            <a:ext cx="4467964" cy="33279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D983B7-EE45-A808-5323-B71DD096E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Max Clock Frequency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5789-2815-69F4-2BAB-81E2CB50C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51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6FCA914-19FE-FC90-18DD-98BAD9571328}"/>
              </a:ext>
            </a:extLst>
          </p:cNvPr>
          <p:cNvCxnSpPr>
            <a:cxnSpLocks/>
          </p:cNvCxnSpPr>
          <p:nvPr/>
        </p:nvCxnSpPr>
        <p:spPr>
          <a:xfrm>
            <a:off x="2428422" y="1576388"/>
            <a:ext cx="0" cy="430530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AA1A46-56A3-16D5-14EF-B8C3C116F576}"/>
              </a:ext>
            </a:extLst>
          </p:cNvPr>
          <p:cNvCxnSpPr>
            <a:cxnSpLocks/>
          </p:cNvCxnSpPr>
          <p:nvPr/>
        </p:nvCxnSpPr>
        <p:spPr>
          <a:xfrm>
            <a:off x="3033753" y="4191000"/>
            <a:ext cx="0" cy="93345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190F144-7EDE-DA80-539D-3E28F53A7832}"/>
              </a:ext>
            </a:extLst>
          </p:cNvPr>
          <p:cNvCxnSpPr>
            <a:cxnSpLocks/>
          </p:cNvCxnSpPr>
          <p:nvPr/>
        </p:nvCxnSpPr>
        <p:spPr>
          <a:xfrm>
            <a:off x="2408758" y="5486400"/>
            <a:ext cx="1157902" cy="0"/>
          </a:xfrm>
          <a:prstGeom prst="line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241A829-C28D-1D20-E805-3CB99EE3F56F}"/>
                  </a:ext>
                </a:extLst>
              </p:cNvPr>
              <p:cNvSpPr txBox="1"/>
              <p:nvPr/>
            </p:nvSpPr>
            <p:spPr>
              <a:xfrm>
                <a:off x="714863" y="4811626"/>
                <a:ext cx="14883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=5.5 </m:t>
                    </m:r>
                  </m:oMath>
                </a14:m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ns</a:t>
                </a:r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241A829-C28D-1D20-E805-3CB99EE3F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63" y="4811626"/>
                <a:ext cx="1488356" cy="369332"/>
              </a:xfrm>
              <a:prstGeom prst="rect">
                <a:avLst/>
              </a:prstGeom>
              <a:blipFill>
                <a:blip r:embed="rId3"/>
                <a:stretch>
                  <a:fillRect t="-8197" r="-286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C5F8F37-7FAA-1A79-F5B8-190542D4C5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988" y="3579157"/>
            <a:ext cx="4829771" cy="1223686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5C319D9-B8B4-1627-BBF6-F04DCBDDEF68}"/>
              </a:ext>
            </a:extLst>
          </p:cNvPr>
          <p:cNvCxnSpPr>
            <a:cxnSpLocks/>
          </p:cNvCxnSpPr>
          <p:nvPr/>
        </p:nvCxnSpPr>
        <p:spPr>
          <a:xfrm>
            <a:off x="3566660" y="1615090"/>
            <a:ext cx="0" cy="417611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00424EE-1AEC-43D1-9613-0448C601CA45}"/>
              </a:ext>
            </a:extLst>
          </p:cNvPr>
          <p:cNvCxnSpPr>
            <a:cxnSpLocks/>
          </p:cNvCxnSpPr>
          <p:nvPr/>
        </p:nvCxnSpPr>
        <p:spPr>
          <a:xfrm>
            <a:off x="2408758" y="4919663"/>
            <a:ext cx="624995" cy="0"/>
          </a:xfrm>
          <a:prstGeom prst="line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BC4ABD5-E209-38B5-5AB6-59EBDBACF362}"/>
                  </a:ext>
                </a:extLst>
              </p:cNvPr>
              <p:cNvSpPr txBox="1"/>
              <p:nvPr/>
            </p:nvSpPr>
            <p:spPr>
              <a:xfrm>
                <a:off x="714863" y="5235112"/>
                <a:ext cx="13798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𝑐𝑙𝑘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ns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BC4ABD5-E209-38B5-5AB6-59EBDBACF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63" y="5235112"/>
                <a:ext cx="1379801" cy="369332"/>
              </a:xfrm>
              <a:prstGeom prst="rect">
                <a:avLst/>
              </a:prstGeom>
              <a:blipFill>
                <a:blip r:embed="rId5"/>
                <a:stretch>
                  <a:fillRect t="-10000" r="-308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E15E6483-4210-090F-B633-4B7C02A7A8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95988" y="1539277"/>
                <a:ext cx="5159691" cy="4329817"/>
              </a:xfrm>
            </p:spPr>
            <p:txBody>
              <a:bodyPr/>
              <a:lstStyle/>
              <a:p>
                <a:r>
                  <a:rPr lang="en-US" dirty="0"/>
                  <a:t>Max clock frequency in our example:</a:t>
                </a:r>
              </a:p>
              <a:p>
                <a:pPr lvl="1"/>
                <a:r>
                  <a:rPr lang="en-US" dirty="0"/>
                  <a:t>Min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𝑐𝑙𝑘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=5.5</m:t>
                    </m:r>
                  </m:oMath>
                </a14:m>
                <a:r>
                  <a:rPr lang="en-US" dirty="0"/>
                  <a:t> ns</a:t>
                </a:r>
              </a:p>
              <a:p>
                <a:pPr lvl="1"/>
                <a:r>
                  <a:rPr lang="en-US" dirty="0"/>
                  <a:t>Max clock frequency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5.5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≅180 </m:t>
                    </m:r>
                  </m:oMath>
                </a14:m>
                <a:r>
                  <a:rPr lang="en-US" dirty="0"/>
                  <a:t>MHz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E15E6483-4210-090F-B633-4B7C02A7A8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95988" y="1539277"/>
                <a:ext cx="5159691" cy="4329817"/>
              </a:xfrm>
              <a:blipFill>
                <a:blip r:embed="rId6"/>
                <a:stretch>
                  <a:fillRect l="-2837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27137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4A4A-7EC3-F1D5-CCD1-F3A2252BE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50F2B-0267-F55D-667E-FCD9D833C6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a quadratic function: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For simplicity,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fixed parameters</a:t>
                </a:r>
              </a:p>
              <a:p>
                <a:r>
                  <a:rPr lang="en-US" dirty="0"/>
                  <a:t>Single cycle implementation to the right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50F2B-0267-F55D-667E-FCD9D833C6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83774-5CDF-B36B-08BA-D3D91EDB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52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EDCF24-DFBA-3C20-2850-3888BD5ED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863" y="861947"/>
            <a:ext cx="4002404" cy="48137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7B7621-A59E-9A00-279D-23D4462AF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577" y="2923049"/>
            <a:ext cx="5505573" cy="283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352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925CC-3FAE-1C38-5338-4F54381D7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Critical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EF3B3E-B8D7-F21E-CD8F-53C070E03A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20028" y="1539277"/>
                <a:ext cx="5029060" cy="4329817"/>
              </a:xfrm>
            </p:spPr>
            <p:txBody>
              <a:bodyPr/>
              <a:lstStyle/>
              <a:p>
                <a:r>
                  <a:rPr lang="en-US" dirty="0"/>
                  <a:t>Consider implementation with times in table</a:t>
                </a:r>
              </a:p>
              <a:p>
                <a:r>
                  <a:rPr lang="en-US" dirty="0"/>
                  <a:t>Two paths:</a:t>
                </a:r>
              </a:p>
              <a:p>
                <a:r>
                  <a:rPr lang="en-US" dirty="0"/>
                  <a:t>Path 1:  x, </a:t>
                </a:r>
                <a:r>
                  <a:rPr lang="en-US" dirty="0" err="1"/>
                  <a:t>x_reg</a:t>
                </a:r>
                <a:r>
                  <a:rPr lang="en-US" dirty="0"/>
                  <a:t>, xsq_w2, y</a:t>
                </a:r>
              </a:p>
              <a:p>
                <a:pPr lvl="1"/>
                <a:r>
                  <a:rPr lang="en-US" dirty="0"/>
                  <a:t>1 register, 2 </a:t>
                </a:r>
                <a:r>
                  <a:rPr lang="en-US" dirty="0" err="1"/>
                  <a:t>mults</a:t>
                </a:r>
                <a:r>
                  <a:rPr lang="en-US" dirty="0"/>
                  <a:t>, 2 adders = 12 ns</a:t>
                </a:r>
              </a:p>
              <a:p>
                <a:r>
                  <a:rPr lang="en-US" dirty="0"/>
                  <a:t>Path 2:  x, </a:t>
                </a:r>
                <a:r>
                  <a:rPr lang="en-US" dirty="0" err="1"/>
                  <a:t>x_reg</a:t>
                </a:r>
                <a:r>
                  <a:rPr lang="en-US" dirty="0"/>
                  <a:t>, x_w1, y</a:t>
                </a:r>
              </a:p>
              <a:p>
                <a:pPr lvl="1"/>
                <a:r>
                  <a:rPr lang="en-US" dirty="0"/>
                  <a:t>1 register, 1 </a:t>
                </a:r>
                <a:r>
                  <a:rPr lang="en-US" dirty="0" err="1"/>
                  <a:t>mult</a:t>
                </a:r>
                <a:r>
                  <a:rPr lang="en-US" dirty="0"/>
                  <a:t>, 2 adders = 8 ns</a:t>
                </a:r>
              </a:p>
              <a:p>
                <a:r>
                  <a:rPr lang="en-US" dirty="0"/>
                  <a:t>Path 1 is critical </a:t>
                </a:r>
              </a:p>
              <a:p>
                <a:r>
                  <a:rPr lang="en-US" dirty="0"/>
                  <a:t>Max clock frequency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𝑛𝑠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=83</m:t>
                    </m:r>
                  </m:oMath>
                </a14:m>
                <a:r>
                  <a:rPr lang="en-US" dirty="0"/>
                  <a:t> MHz</a:t>
                </a:r>
              </a:p>
              <a:p>
                <a:r>
                  <a:rPr lang="en-US" dirty="0"/>
                  <a:t>Would </a:t>
                </a:r>
                <a:r>
                  <a:rPr lang="en-US" dirty="0">
                    <a:solidFill>
                      <a:srgbClr val="FF0000"/>
                    </a:solidFill>
                  </a:rPr>
                  <a:t>fail timing </a:t>
                </a:r>
                <a:r>
                  <a:rPr lang="en-US" dirty="0"/>
                  <a:t>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MHz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EF3B3E-B8D7-F21E-CD8F-53C070E03A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20028" y="1539277"/>
                <a:ext cx="5029060" cy="4329817"/>
              </a:xfrm>
              <a:blipFill>
                <a:blip r:embed="rId2"/>
                <a:stretch>
                  <a:fillRect l="-2909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661ED-ACB6-1F1B-7341-4BFDA341A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E8A388-7D9A-964A-6E24-A30F124C1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95" y="3518335"/>
            <a:ext cx="4878705" cy="25120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6">
                <a:extLst>
                  <a:ext uri="{FF2B5EF4-FFF2-40B4-BE49-F238E27FC236}">
                    <a16:creationId xmlns:a16="http://schemas.microsoft.com/office/drawing/2014/main" id="{D0809D2E-1732-FB1C-B5B2-470369B4616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33947551"/>
                  </p:ext>
                </p:extLst>
              </p:nvPr>
            </p:nvGraphicFramePr>
            <p:xfrm>
              <a:off x="1320559" y="1539277"/>
              <a:ext cx="4267255" cy="22423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76425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390830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block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 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Register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𝑟𝑒𝑔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 1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170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𝑚𝑢𝑙𝑡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= 4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𝑎𝑑𝑑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b="0" dirty="0"/>
                            <a:t>1.5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Path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1+4+4+1.5+1.5 = 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Path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1+4+1.5+1.5=8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51623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6">
                <a:extLst>
                  <a:ext uri="{FF2B5EF4-FFF2-40B4-BE49-F238E27FC236}">
                    <a16:creationId xmlns:a16="http://schemas.microsoft.com/office/drawing/2014/main" id="{D0809D2E-1732-FB1C-B5B2-470369B4616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33947551"/>
                  </p:ext>
                </p:extLst>
              </p:nvPr>
            </p:nvGraphicFramePr>
            <p:xfrm>
              <a:off x="1320559" y="1539277"/>
              <a:ext cx="4267255" cy="22423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76425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390830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block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 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8811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Register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8626" t="-103125" r="-1018" b="-4046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170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8626" t="-213115" r="-1018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8626" t="-313115" r="-1018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Path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1+4+4+1.5+1.5 = 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Path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1+4+1.5+1.5=8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51623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504265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3B4F9-E779-590A-C8ED-63B7616F1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Two Cycle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50DFC-FB98-979E-4E4F-99F0FBA1C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improve throughput by breaking computation over two cycles</a:t>
            </a:r>
          </a:p>
          <a:p>
            <a:r>
              <a:rPr lang="en-US" dirty="0"/>
              <a:t>Register two intermediate terms: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lin_term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w1*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w0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5234D-CAB4-024E-EF1D-840B21D1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9E648D-5421-41D3-24F2-423FFF956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027" y="2604069"/>
            <a:ext cx="4385213" cy="27146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2F5FBB-9813-2E90-5E91-D9D54F972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56" y="3086100"/>
            <a:ext cx="5635271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1345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39BBA-A50E-FE84-C290-1308077A3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Stages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2673EF-ACCC-0796-B3DB-87EB7711CF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Design is processed in three stages = 2 cycles</a:t>
                </a:r>
              </a:p>
              <a:p>
                <a:r>
                  <a:rPr lang="en-US" dirty="0"/>
                  <a:t>Stage 0</a:t>
                </a:r>
              </a:p>
              <a:p>
                <a:pPr lvl="1"/>
                <a:r>
                  <a:rPr lang="en-US" dirty="0"/>
                  <a:t>Register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xreg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US" dirty="0"/>
                  <a:t>Stage 1:  Compute and register:</a:t>
                </a:r>
              </a:p>
              <a:p>
                <a:pPr lvl="1"/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xsq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xreg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*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xreg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lvl="1"/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lin_term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w1*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xreg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+ w0</a:t>
                </a:r>
              </a:p>
              <a:p>
                <a:r>
                  <a:rPr lang="en-US" dirty="0"/>
                  <a:t>Stage 2: Compute output</a:t>
                </a:r>
              </a:p>
              <a:p>
                <a:pPr lvl="1"/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y = w2*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xsq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+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lin_term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2673EF-ACCC-0796-B3DB-87EB7711CF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D5EA0-8335-E815-2F77-A4824334C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413C95-29D4-0DDB-81C3-4DC2051BF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906" y="1771988"/>
            <a:ext cx="4385213" cy="271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3591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7722C-C37C-3D3F-B9ED-542572540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D81B0E-BD91-1BD5-AEC9-BE67CA90A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823" y="4035500"/>
            <a:ext cx="4389679" cy="20700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4181E1-CA7D-8DCE-4EE2-F499B7C5F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Path with Three Stages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01DD4D-9432-C6BA-7C88-A938908D40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20028" y="1539277"/>
                <a:ext cx="5029060" cy="432981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Measure paths from register to register</a:t>
                </a:r>
              </a:p>
              <a:p>
                <a:r>
                  <a:rPr lang="en-US" dirty="0"/>
                  <a:t>Path 1: 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x,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x_reg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xsq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dirty="0"/>
                  <a:t>input</a:t>
                </a:r>
              </a:p>
              <a:p>
                <a:pPr lvl="1"/>
                <a:r>
                  <a:rPr lang="en-US" dirty="0"/>
                  <a:t>1 register, 1 </a:t>
                </a:r>
                <a:r>
                  <a:rPr lang="en-US" dirty="0" err="1"/>
                  <a:t>mult</a:t>
                </a:r>
                <a:r>
                  <a:rPr lang="en-US" dirty="0"/>
                  <a:t> = 5 ns</a:t>
                </a:r>
              </a:p>
              <a:p>
                <a:r>
                  <a:rPr lang="en-US" dirty="0"/>
                  <a:t>Path 2: 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x,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x_reg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w1_x,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lin_x</a:t>
                </a:r>
                <a:r>
                  <a:rPr lang="en-US" dirty="0"/>
                  <a:t> input</a:t>
                </a:r>
              </a:p>
              <a:p>
                <a:pPr lvl="1"/>
                <a:r>
                  <a:rPr lang="en-US" dirty="0"/>
                  <a:t>1 register, 1 </a:t>
                </a:r>
                <a:r>
                  <a:rPr lang="en-US" dirty="0" err="1"/>
                  <a:t>mult</a:t>
                </a:r>
                <a:r>
                  <a:rPr lang="en-US" dirty="0"/>
                  <a:t>, 1 add = 6.5 ns</a:t>
                </a:r>
              </a:p>
              <a:p>
                <a:r>
                  <a:rPr lang="en-US" dirty="0"/>
                  <a:t>Path 3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: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xsq_reg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lin_x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w2_xsq, y</a:t>
                </a:r>
              </a:p>
              <a:p>
                <a:pPr lvl="1"/>
                <a:r>
                  <a:rPr lang="en-US" dirty="0"/>
                  <a:t>1 register, 1 </a:t>
                </a:r>
                <a:r>
                  <a:rPr lang="en-US" dirty="0" err="1"/>
                  <a:t>mult</a:t>
                </a:r>
                <a:r>
                  <a:rPr lang="en-US" dirty="0"/>
                  <a:t>, 1 add = 6.5 ns </a:t>
                </a:r>
              </a:p>
              <a:p>
                <a:r>
                  <a:rPr lang="en-US" dirty="0"/>
                  <a:t>Critical path delay = 6.5 ns</a:t>
                </a:r>
              </a:p>
              <a:p>
                <a:r>
                  <a:rPr lang="en-US" dirty="0"/>
                  <a:t>Max </a:t>
                </a:r>
                <a:r>
                  <a:rPr lang="en-US" dirty="0" err="1"/>
                  <a:t>freq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6.5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≈153</m:t>
                    </m:r>
                  </m:oMath>
                </a14:m>
                <a:r>
                  <a:rPr lang="en-US" b="0" dirty="0"/>
                  <a:t> MHz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01DD4D-9432-C6BA-7C88-A938908D40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20028" y="1539277"/>
                <a:ext cx="5029060" cy="4329817"/>
              </a:xfrm>
              <a:blipFill>
                <a:blip r:embed="rId3"/>
                <a:stretch>
                  <a:fillRect l="-2909" t="-1549" r="-2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072DF-A5C9-274B-B44A-30ABBB1F3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6">
                <a:extLst>
                  <a:ext uri="{FF2B5EF4-FFF2-40B4-BE49-F238E27FC236}">
                    <a16:creationId xmlns:a16="http://schemas.microsoft.com/office/drawing/2014/main" id="{88C38444-713B-9C0E-7BE6-AC8C593AD61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329909816"/>
                  </p:ext>
                </p:extLst>
              </p:nvPr>
            </p:nvGraphicFramePr>
            <p:xfrm>
              <a:off x="1320559" y="1539277"/>
              <a:ext cx="4267255" cy="26131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76425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390830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block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 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Register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𝑟𝑒𝑔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 1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170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𝑚𝑢𝑙𝑡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= 4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𝑎𝑑𝑑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b="0" dirty="0"/>
                            <a:t>1.5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Path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1+4=5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Path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1+4+1.5=6.5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51623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Path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1+4+1.5=6.5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57946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6">
                <a:extLst>
                  <a:ext uri="{FF2B5EF4-FFF2-40B4-BE49-F238E27FC236}">
                    <a16:creationId xmlns:a16="http://schemas.microsoft.com/office/drawing/2014/main" id="{88C38444-713B-9C0E-7BE6-AC8C593AD61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329909816"/>
                  </p:ext>
                </p:extLst>
              </p:nvPr>
            </p:nvGraphicFramePr>
            <p:xfrm>
              <a:off x="1320559" y="1539277"/>
              <a:ext cx="4267255" cy="26131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76425">
                      <a:extLst>
                        <a:ext uri="{9D8B030D-6E8A-4147-A177-3AD203B41FA5}">
                          <a16:colId xmlns:a16="http://schemas.microsoft.com/office/drawing/2014/main" val="3489589385"/>
                        </a:ext>
                      </a:extLst>
                    </a:gridCol>
                    <a:gridCol w="2390830">
                      <a:extLst>
                        <a:ext uri="{9D8B030D-6E8A-4147-A177-3AD203B41FA5}">
                          <a16:colId xmlns:a16="http://schemas.microsoft.com/office/drawing/2014/main" val="16380971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Hardware block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 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4626930"/>
                      </a:ext>
                    </a:extLst>
                  </a:tr>
                  <a:tr h="38811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Register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8626" t="-103125" r="-1018" b="-4984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170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8626" t="-213115" r="-1018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0641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8626" t="-313115" r="-1018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4282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Path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1+4=5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0795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Path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1+4+1.5=6.5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51623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Path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1+4+1.5=6.5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57946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366784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7C07C-EB0B-97B4-859D-2F689E2CE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Cycle Timing Diagram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C86380-5297-40CD-2A67-625F22E27F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6225" y="1539277"/>
                <a:ext cx="3259454" cy="4329817"/>
              </a:xfrm>
            </p:spPr>
            <p:txBody>
              <a:bodyPr/>
              <a:lstStyle/>
              <a:p>
                <a:r>
                  <a:rPr lang="en-US" dirty="0"/>
                  <a:t>Example with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=[4,−7,5]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inputs 10, -4, 8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C86380-5297-40CD-2A67-625F22E27F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6225" y="1539277"/>
                <a:ext cx="3259454" cy="4329817"/>
              </a:xfrm>
              <a:blipFill>
                <a:blip r:embed="rId2"/>
                <a:stretch>
                  <a:fillRect l="-4486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3CCF7-5743-CF44-E716-EC09CD1C7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B012A9-BBEC-7F31-30C4-5DD516347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4" y="2021595"/>
            <a:ext cx="7291388" cy="301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46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216A1-8BB4-A975-14A1-78201A4AF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Latency, Throughput and Pipelining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7C4090-076C-FFCA-0064-AC011E5D91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that we run at our design at 100 MHz clock</a:t>
                </a:r>
              </a:p>
              <a:p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Latency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Suppose input is valid on rising edge of clock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 output is valid before rising edge of clock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Latency = 2 clock cycles = 20 ns</a:t>
                </a:r>
              </a:p>
              <a:p>
                <a:pPr lvl="1"/>
                <a:endParaRPr lang="en-US" dirty="0"/>
              </a:p>
              <a:p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Throughput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Circuit can take a new input each cycle</a:t>
                </a:r>
              </a:p>
              <a:p>
                <a:pPr lvl="1"/>
                <a:r>
                  <a:rPr lang="en-US" dirty="0"/>
                  <a:t>Throughput = 1 input / cycle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MHz</a:t>
                </a:r>
              </a:p>
              <a:p>
                <a:r>
                  <a:rPr lang="en-US" dirty="0"/>
                  <a:t>Process is called a pipeline</a:t>
                </a:r>
              </a:p>
              <a:p>
                <a:pPr lvl="1"/>
                <a:r>
                  <a:rPr lang="en-US" dirty="0"/>
                  <a:t>Circuit is processing multiple inputs</a:t>
                </a:r>
                <a:br>
                  <a:rPr lang="en-US" dirty="0"/>
                </a:br>
                <a:r>
                  <a:rPr lang="en-US" dirty="0"/>
                  <a:t>at the same time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7C4090-076C-FFCA-0064-AC011E5D91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A09E3-9481-B9AE-2A2B-7BEACEB3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402F70-DD93-3CBB-DD10-6025493B0C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329"/>
          <a:stretch>
            <a:fillRect/>
          </a:stretch>
        </p:blipFill>
        <p:spPr>
          <a:xfrm>
            <a:off x="5429592" y="3069963"/>
            <a:ext cx="6099199" cy="301159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499CF7F-004A-5C71-61E1-5C2DD396E2E6}"/>
              </a:ext>
            </a:extLst>
          </p:cNvPr>
          <p:cNvCxnSpPr>
            <a:cxnSpLocks/>
          </p:cNvCxnSpPr>
          <p:nvPr/>
        </p:nvCxnSpPr>
        <p:spPr>
          <a:xfrm>
            <a:off x="7355241" y="3583096"/>
            <a:ext cx="2247900" cy="1890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654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A6320-0BB0-59C0-96B5-D8F6F19B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Comparison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8DE64FD1-E8B6-43E8-490A-FC65782DB21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75800077"/>
                  </p:ext>
                </p:extLst>
              </p:nvPr>
            </p:nvGraphicFramePr>
            <p:xfrm>
              <a:off x="1096963" y="1539875"/>
              <a:ext cx="10058397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52799">
                      <a:extLst>
                        <a:ext uri="{9D8B030D-6E8A-4147-A177-3AD203B41FA5}">
                          <a16:colId xmlns:a16="http://schemas.microsoft.com/office/drawing/2014/main" val="2164064030"/>
                        </a:ext>
                      </a:extLst>
                    </a:gridCol>
                    <a:gridCol w="3352799">
                      <a:extLst>
                        <a:ext uri="{9D8B030D-6E8A-4147-A177-3AD203B41FA5}">
                          <a16:colId xmlns:a16="http://schemas.microsoft.com/office/drawing/2014/main" val="1511334170"/>
                        </a:ext>
                      </a:extLst>
                    </a:gridCol>
                    <a:gridCol w="3352799">
                      <a:extLst>
                        <a:ext uri="{9D8B030D-6E8A-4147-A177-3AD203B41FA5}">
                          <a16:colId xmlns:a16="http://schemas.microsoft.com/office/drawing/2014/main" val="193149238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Single Cycle Design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Two Cycle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34869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Critical path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 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6.5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47008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clock frequency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en-US" dirty="0"/>
                            <a:t> 80 MHz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en-US" dirty="0"/>
                            <a:t> 150 MHz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05552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throughput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80 MHz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150 MHz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65142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Latency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cycle = 12 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 cycles = 13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85107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8DE64FD1-E8B6-43E8-490A-FC65782DB21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75800077"/>
                  </p:ext>
                </p:extLst>
              </p:nvPr>
            </p:nvGraphicFramePr>
            <p:xfrm>
              <a:off x="1096963" y="1539875"/>
              <a:ext cx="10058397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52799">
                      <a:extLst>
                        <a:ext uri="{9D8B030D-6E8A-4147-A177-3AD203B41FA5}">
                          <a16:colId xmlns:a16="http://schemas.microsoft.com/office/drawing/2014/main" val="2164064030"/>
                        </a:ext>
                      </a:extLst>
                    </a:gridCol>
                    <a:gridCol w="3352799">
                      <a:extLst>
                        <a:ext uri="{9D8B030D-6E8A-4147-A177-3AD203B41FA5}">
                          <a16:colId xmlns:a16="http://schemas.microsoft.com/office/drawing/2014/main" val="1511334170"/>
                        </a:ext>
                      </a:extLst>
                    </a:gridCol>
                    <a:gridCol w="3352799">
                      <a:extLst>
                        <a:ext uri="{9D8B030D-6E8A-4147-A177-3AD203B41FA5}">
                          <a16:colId xmlns:a16="http://schemas.microsoft.com/office/drawing/2014/main" val="193149238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Single Cycle Design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Two Cycle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34869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Critical path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 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6.5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47008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clock frequency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208197" r="-100726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64" t="-208197" r="-909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05552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Max throughput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80 MHz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150 MHz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65142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Latency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cycle = 12 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 cycles = 13 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85107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F55EB-0A0C-8FAC-45AF-A3B48484E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59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9A15382-EAA1-95BB-DECE-0659165C35A3}"/>
              </a:ext>
            </a:extLst>
          </p:cNvPr>
          <p:cNvSpPr/>
          <p:nvPr/>
        </p:nvSpPr>
        <p:spPr>
          <a:xfrm>
            <a:off x="1274031" y="4111308"/>
            <a:ext cx="9881329" cy="11423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i="1" dirty="0">
                <a:solidFill>
                  <a:schemeClr val="accent1"/>
                </a:solidFill>
              </a:rPr>
              <a:t>Pipelining benefit:  </a:t>
            </a:r>
            <a:br>
              <a:rPr lang="en-US" sz="2400" i="1" dirty="0">
                <a:solidFill>
                  <a:schemeClr val="accent1"/>
                </a:solidFill>
              </a:rPr>
            </a:br>
            <a:r>
              <a:rPr lang="en-US" sz="2400" i="1" dirty="0">
                <a:solidFill>
                  <a:schemeClr val="accent1"/>
                </a:solidFill>
              </a:rPr>
              <a:t>For small increase in latency, we dramatically improve throughput</a:t>
            </a:r>
          </a:p>
        </p:txBody>
      </p:sp>
    </p:spTree>
    <p:extLst>
      <p:ext uri="{BB962C8B-B14F-4D97-AF65-F5344CB8AC3E}">
        <p14:creationId xmlns:p14="http://schemas.microsoft.com/office/powerpoint/2010/main" val="18261117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6EBAF-1561-2702-C7C9-EC7731AB1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12AD6-7C0C-432E-63F1-87A252AA6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2EDB9-7DBA-CD53-4701-3A933DCD7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Static Timing Analysis in Combinational Logic</a:t>
            </a:r>
          </a:p>
          <a:p>
            <a:r>
              <a:rPr lang="en-US" sz="2400" dirty="0"/>
              <a:t>Static Timing Analysis in Sequential Logic</a:t>
            </a:r>
          </a:p>
          <a:p>
            <a:r>
              <a:rPr lang="en-US" sz="2400" dirty="0"/>
              <a:t>Sequential Logic Timing Diagrams</a:t>
            </a:r>
          </a:p>
          <a:p>
            <a:r>
              <a:rPr lang="en-US" sz="2400" dirty="0"/>
              <a:t>VCD Files and Timing Diagrams from Vitis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C04C1-1993-FD20-F18D-8FF7BE39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60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AF872F8-E6D7-9AEA-4A0A-B16A5A9E6644}"/>
              </a:ext>
            </a:extLst>
          </p:cNvPr>
          <p:cNvSpPr/>
          <p:nvPr/>
        </p:nvSpPr>
        <p:spPr>
          <a:xfrm>
            <a:off x="416744" y="3020401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4818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B4D75-4931-40C1-EBC7-0FFCB99EE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Value-Change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ABBC8-94C7-4F6D-54E6-40FAED872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614488"/>
            <a:ext cx="10058400" cy="4254606"/>
          </a:xfrm>
        </p:spPr>
        <p:txBody>
          <a:bodyPr/>
          <a:lstStyle/>
          <a:p>
            <a:r>
              <a:rPr lang="en-US" sz="2400" dirty="0"/>
              <a:t>Simulation tools trace values over time for large numbers of signals</a:t>
            </a:r>
          </a:p>
          <a:p>
            <a:r>
              <a:rPr lang="en-US" sz="2400" dirty="0"/>
              <a:t>Data on each signal is typically stored via </a:t>
            </a:r>
            <a:r>
              <a:rPr lang="en-US" sz="2400" dirty="0">
                <a:solidFill>
                  <a:schemeClr val="accent1"/>
                </a:solidFill>
              </a:rPr>
              <a:t>value-change points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lvl="1"/>
            <a:r>
              <a:rPr lang="en-US" sz="2000" dirty="0"/>
              <a:t>Value change points also called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valued change events</a:t>
            </a:r>
            <a:r>
              <a:rPr lang="en-US" sz="2000" dirty="0"/>
              <a:t>,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transitions</a:t>
            </a:r>
            <a:r>
              <a:rPr lang="en-US" sz="2000" dirty="0"/>
              <a:t>, …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260DF-6DFE-EFB3-0FAB-2FB566189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63FB2108-4127-B3FB-E9F7-712A43794A70}"/>
                  </a:ext>
                </a:extLst>
              </p:cNvPr>
              <p:cNvSpPr/>
              <p:nvPr/>
            </p:nvSpPr>
            <p:spPr>
              <a:xfrm>
                <a:off x="1317626" y="2862262"/>
                <a:ext cx="9105900" cy="164162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Definition</a:t>
                </a:r>
                <a:r>
                  <a:rPr lang="en-US" sz="2000" dirty="0">
                    <a:solidFill>
                      <a:schemeClr val="tx1"/>
                    </a:solidFill>
                  </a:rPr>
                  <a:t>:  A signal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has </a:t>
                </a:r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value-change points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=0, …,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if:</a:t>
                </a:r>
                <a:br>
                  <a:rPr lang="en-US" sz="2000" dirty="0">
                    <a:solidFill>
                      <a:schemeClr val="tx1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  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=0,…,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63FB2108-4127-B3FB-E9F7-712A43794A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26" y="2862262"/>
                <a:ext cx="9105900" cy="164162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33403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0B3CF-6EB1-F0C4-33DD-F5ABD8AD4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Diagram and VCDs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78F721-F643-EB56-FAE6-FDE29667C7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Timing diagrams can be drawn from the VCDs</a:t>
                </a:r>
              </a:p>
              <a:p>
                <a:r>
                  <a:rPr lang="en-US" dirty="0"/>
                  <a:t>Example with two signals:</a:t>
                </a:r>
              </a:p>
              <a:p>
                <a:pPr lvl="1"/>
                <a:r>
                  <a:rPr lang="en-US" dirty="0"/>
                  <a:t>VC points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:  {(3,5), (20,17), (40,8)}</a:t>
                </a:r>
              </a:p>
              <a:p>
                <a:pPr lvl="1"/>
                <a:r>
                  <a:rPr lang="en-US" dirty="0"/>
                  <a:t>VC points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 : {(12,3), (25,12), (35,0)}</a:t>
                </a:r>
              </a:p>
              <a:p>
                <a:r>
                  <a:rPr lang="en-US" dirty="0"/>
                  <a:t>In this plot, times are in ns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78F721-F643-EB56-FAE6-FDE29667C7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35A32-A270-A4B9-D5D4-41484D8A8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52BD75-F1F7-9C23-7239-DBF74163F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23" y="3901267"/>
            <a:ext cx="10526753" cy="179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8307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5952E-E973-AEE7-DA48-4D813A3F6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Viewing Waveforms in </a:t>
            </a:r>
            <a:r>
              <a:rPr lang="en-US" dirty="0" err="1"/>
              <a:t>Vivado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38B56-A112-EB7E-1CAE-143AB7CA3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Vivado</a:t>
            </a:r>
            <a:r>
              <a:rPr lang="en-US" dirty="0"/>
              <a:t> has a built-in waveform viewer</a:t>
            </a:r>
          </a:p>
          <a:p>
            <a:r>
              <a:rPr lang="en-US" dirty="0"/>
              <a:t>But no way to download the data</a:t>
            </a:r>
          </a:p>
          <a:p>
            <a:pPr lvl="1"/>
            <a:r>
              <a:rPr lang="en-US" dirty="0"/>
              <a:t>Stored in a proprietary format</a:t>
            </a:r>
          </a:p>
          <a:p>
            <a:r>
              <a:rPr lang="en-US" dirty="0"/>
              <a:t>Can only be seen in GUI</a:t>
            </a:r>
          </a:p>
          <a:p>
            <a:r>
              <a:rPr lang="en-US" dirty="0"/>
              <a:t>As far as I know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71DF2-0EC3-C5F2-A972-558EF5472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63</a:t>
            </a:fld>
            <a:endParaRPr lang="en-US" dirty="0"/>
          </a:p>
        </p:txBody>
      </p:sp>
      <p:pic>
        <p:nvPicPr>
          <p:cNvPr id="1028" name="Picture 4" descr="SUMP2.py as a VCD waveform viewer for Xilinx Vivado RTL Simulator – Black  Mesa Labs">
            <a:extLst>
              <a:ext uri="{FF2B5EF4-FFF2-40B4-BE49-F238E27FC236}">
                <a16:creationId xmlns:a16="http://schemas.microsoft.com/office/drawing/2014/main" id="{E8777EFE-2CC4-F538-77CC-FFB37EBB6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378" y="2244417"/>
            <a:ext cx="6485457" cy="2369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4812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5140-FB42-9357-BFDE-D7B936D8E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Viewing Timing Diagrams in this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8B46A-6FE9-430F-7B8A-08D483C01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course package </a:t>
            </a:r>
            <a:r>
              <a:rPr lang="en-US" dirty="0" err="1"/>
              <a:t>xilinxutils</a:t>
            </a:r>
            <a:endParaRPr lang="en-US" dirty="0"/>
          </a:p>
          <a:p>
            <a:pPr lvl="1"/>
            <a:r>
              <a:rPr lang="en-US" dirty="0"/>
              <a:t>Many python utilities for Xilinx tools</a:t>
            </a:r>
          </a:p>
          <a:p>
            <a:r>
              <a:rPr lang="en-US" dirty="0"/>
              <a:t>Demonstrate on simple function demo</a:t>
            </a:r>
          </a:p>
          <a:p>
            <a:pPr lvl="1"/>
            <a:r>
              <a:rPr lang="en-US" dirty="0"/>
              <a:t>Covered in Unit 2</a:t>
            </a:r>
          </a:p>
          <a:p>
            <a:r>
              <a:rPr lang="en-US" dirty="0" err="1"/>
              <a:t>Sv_sim</a:t>
            </a:r>
            <a:r>
              <a:rPr lang="en-US" dirty="0"/>
              <a:t> utility:</a:t>
            </a:r>
          </a:p>
          <a:p>
            <a:pPr lvl="1"/>
            <a:r>
              <a:rPr lang="en-US" dirty="0"/>
              <a:t>Modifies the </a:t>
            </a:r>
            <a:r>
              <a:rPr lang="en-US" dirty="0" err="1"/>
              <a:t>vitis</a:t>
            </a:r>
            <a:r>
              <a:rPr lang="en-US" dirty="0"/>
              <a:t> simulation files</a:t>
            </a:r>
          </a:p>
          <a:p>
            <a:pPr lvl="1"/>
            <a:r>
              <a:rPr lang="en-US" dirty="0"/>
              <a:t>Adds a VCD file</a:t>
            </a:r>
          </a:p>
          <a:p>
            <a:pPr lvl="1"/>
            <a:r>
              <a:rPr lang="en-US" dirty="0"/>
              <a:t>Creates a </a:t>
            </a:r>
            <a:r>
              <a:rPr lang="en-US" dirty="0" err="1"/>
              <a:t>dump.vcd</a:t>
            </a:r>
            <a:r>
              <a:rPr lang="en-US" dirty="0"/>
              <a:t> file</a:t>
            </a:r>
          </a:p>
          <a:p>
            <a:r>
              <a:rPr lang="en-US" dirty="0"/>
              <a:t>In python:</a:t>
            </a:r>
          </a:p>
          <a:p>
            <a:pPr lvl="1"/>
            <a:r>
              <a:rPr lang="en-US" dirty="0"/>
              <a:t>Load the VCD file</a:t>
            </a:r>
          </a:p>
          <a:p>
            <a:pPr lvl="1"/>
            <a:r>
              <a:rPr lang="en-US" dirty="0"/>
              <a:t>Use VCD package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7F10F-E3AB-3B0B-E97C-F64951E72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4975B2-CCC8-6F45-52B5-897893A1C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723" y="2936362"/>
            <a:ext cx="7243485" cy="9331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B729E8B-F47C-517D-95AB-DAEC4FA85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481" y="4314648"/>
            <a:ext cx="6677957" cy="14639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601300-923C-0071-B1BD-92CD0CF2C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1644" y="1461492"/>
            <a:ext cx="3495855" cy="155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2782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1FC36-3193-8E74-9EAB-60AC5BE08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the Signals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ACBDC-15F9-94F8-1E71-3762106FC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</a:t>
            </a:r>
            <a:r>
              <a:rPr lang="en-US" dirty="0" err="1"/>
              <a:t>VcdParser</a:t>
            </a:r>
            <a:r>
              <a:rPr lang="en-US" dirty="0"/>
              <a:t> object</a:t>
            </a:r>
          </a:p>
          <a:p>
            <a:r>
              <a:rPr lang="en-US" dirty="0"/>
              <a:t>Define signals to parse</a:t>
            </a:r>
          </a:p>
          <a:p>
            <a:r>
              <a:rPr lang="en-US" dirty="0"/>
              <a:t>Add signals to parser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7972B-0741-8C81-2EEF-03C51C6C3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1B66D9-4295-1232-E848-A056AA2C4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667" y="2969119"/>
            <a:ext cx="2081509" cy="23723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407739-124B-61C7-88E9-A2AE42BEE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090" y="3378736"/>
            <a:ext cx="4705592" cy="26766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ADACB7-C8A1-924D-48D2-BAD7C84A3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8052" y="1370319"/>
            <a:ext cx="4021800" cy="107113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82C1CEF-0B37-31CA-B5C5-9126963203DD}"/>
              </a:ext>
            </a:extLst>
          </p:cNvPr>
          <p:cNvCxnSpPr>
            <a:cxnSpLocks/>
          </p:cNvCxnSpPr>
          <p:nvPr/>
        </p:nvCxnSpPr>
        <p:spPr>
          <a:xfrm>
            <a:off x="4061637" y="1701209"/>
            <a:ext cx="3318167" cy="11765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288DE29-9B3E-6146-F168-104CA42E0A41}"/>
              </a:ext>
            </a:extLst>
          </p:cNvPr>
          <p:cNvCxnSpPr>
            <a:cxnSpLocks/>
          </p:cNvCxnSpPr>
          <p:nvPr/>
        </p:nvCxnSpPr>
        <p:spPr>
          <a:xfrm>
            <a:off x="3753886" y="2209386"/>
            <a:ext cx="2342114" cy="107052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4DD16E4-0BA5-C617-E725-F895D58D8C7B}"/>
              </a:ext>
            </a:extLst>
          </p:cNvPr>
          <p:cNvCxnSpPr>
            <a:cxnSpLocks/>
          </p:cNvCxnSpPr>
          <p:nvPr/>
        </p:nvCxnSpPr>
        <p:spPr>
          <a:xfrm>
            <a:off x="2244896" y="2780672"/>
            <a:ext cx="0" cy="49924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5837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8082D-C98E-C3E0-610F-49422F9BF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Displaying the Signals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CEBB8-8C4F-1243-5093-DB4FD52F0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8974" y="1539277"/>
            <a:ext cx="4456705" cy="4329817"/>
          </a:xfrm>
        </p:spPr>
        <p:txBody>
          <a:bodyPr/>
          <a:lstStyle/>
          <a:p>
            <a:r>
              <a:rPr lang="en-US" dirty="0"/>
              <a:t>Create a </a:t>
            </a:r>
            <a:r>
              <a:rPr lang="en-US" dirty="0" err="1"/>
              <a:t>TimingDiagram</a:t>
            </a:r>
            <a:r>
              <a:rPr lang="en-US" dirty="0"/>
              <a:t> object</a:t>
            </a:r>
          </a:p>
          <a:p>
            <a:r>
              <a:rPr lang="en-US" dirty="0"/>
              <a:t>Add the signals from the parser</a:t>
            </a:r>
          </a:p>
          <a:p>
            <a:r>
              <a:rPr lang="en-US" dirty="0"/>
              <a:t>Plot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06FBA-2EAE-C374-F15D-8729DAFA3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FBF7E4-9D1D-7A8F-D532-5D5524F61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730" y="1628682"/>
            <a:ext cx="5696243" cy="18003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DAB411-7A27-E633-4D78-A2D5EFA7B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281" y="3730868"/>
            <a:ext cx="839152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4147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DE036-D666-EF45-CD63-FA963274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 Timing Diagrams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1D77C-3506-36B3-0A50-71D74310D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Course repo contains a </a:t>
            </a:r>
            <a:r>
              <a:rPr lang="en-US" dirty="0" err="1">
                <a:hlinkClick r:id="rId2"/>
              </a:rPr>
              <a:t>xilinxutils</a:t>
            </a:r>
            <a:r>
              <a:rPr lang="en-US" dirty="0">
                <a:hlinkClick r:id="rId2"/>
              </a:rPr>
              <a:t> package</a:t>
            </a:r>
            <a:endParaRPr lang="en-US" dirty="0"/>
          </a:p>
          <a:p>
            <a:pPr lvl="1"/>
            <a:r>
              <a:rPr lang="en-US" dirty="0"/>
              <a:t>Custom package in this class</a:t>
            </a:r>
          </a:p>
          <a:p>
            <a:pPr lvl="1"/>
            <a:r>
              <a:rPr lang="en-US" dirty="0"/>
              <a:t>Many helper routines for Xilinx tools</a:t>
            </a:r>
          </a:p>
          <a:p>
            <a:r>
              <a:rPr lang="en-US" dirty="0"/>
              <a:t>Tools for parsing and visualizing VCD files</a:t>
            </a:r>
          </a:p>
          <a:p>
            <a:r>
              <a:rPr lang="en-US" dirty="0"/>
              <a:t>Code to produce timing diagram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8AB31-4A4F-BDC8-BC22-90D7957B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76A5D7-7183-783F-8A99-303D99B9A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865" y="1462329"/>
            <a:ext cx="3495855" cy="15526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B13CDA-5F87-190D-BAAC-62557220B8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674" y="3227447"/>
            <a:ext cx="4603282" cy="30379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0BE597-03D8-D39F-2126-DB55488BE7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13" y="4383997"/>
            <a:ext cx="5521561" cy="93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32006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13096</TotalTime>
  <Words>3441</Words>
  <Application>Microsoft Office PowerPoint</Application>
  <PresentationFormat>Widescreen</PresentationFormat>
  <Paragraphs>785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2" baseType="lpstr">
      <vt:lpstr>Calibri</vt:lpstr>
      <vt:lpstr>Cambria Math</vt:lpstr>
      <vt:lpstr>Courier New</vt:lpstr>
      <vt:lpstr>Wingdings</vt:lpstr>
      <vt:lpstr>Retrospect</vt:lpstr>
      <vt:lpstr>Unit 6  Timing and Critical Path Analysis</vt:lpstr>
      <vt:lpstr>Learning Objectives</vt:lpstr>
      <vt:lpstr>Outline</vt:lpstr>
      <vt:lpstr>Static Timing Analysis</vt:lpstr>
      <vt:lpstr>Implementing Signal Physically</vt:lpstr>
      <vt:lpstr>Undefined Logic Value:  ‘X’ or ‘?’ </vt:lpstr>
      <vt:lpstr>Undefined Regions Illustrated</vt:lpstr>
      <vt:lpstr>Stable Values and Propagation Delays</vt:lpstr>
      <vt:lpstr>Maximum Propagation Delay</vt:lpstr>
      <vt:lpstr>Timing in a Series Circuit:  ReLU + Linear</vt:lpstr>
      <vt:lpstr>Timing Diagram for Series Connections</vt:lpstr>
      <vt:lpstr>Timing Diagram of a Series</vt:lpstr>
      <vt:lpstr>Series Timing:  Initial Component</vt:lpstr>
      <vt:lpstr>Series Timing:  Second Component</vt:lpstr>
      <vt:lpstr>Series Timing:  Third Component</vt:lpstr>
      <vt:lpstr>Example Total Propagation Delay</vt:lpstr>
      <vt:lpstr>Example Timing Over Multiple Inputs</vt:lpstr>
      <vt:lpstr>Example Problem</vt:lpstr>
      <vt:lpstr>Typical Propagation Delays:  Low-End FPGA</vt:lpstr>
      <vt:lpstr>Typical Propagation Delays:  ASIC</vt:lpstr>
      <vt:lpstr>Timing Diagram with Multiple Paths</vt:lpstr>
      <vt:lpstr>Timing Diagram:  Inputs</vt:lpstr>
      <vt:lpstr>Timing Diagram:  First Steps</vt:lpstr>
      <vt:lpstr>Multipath:  Final Output</vt:lpstr>
      <vt:lpstr>Conditional Circuits</vt:lpstr>
      <vt:lpstr>Implementing Conditional with Multiplexers</vt:lpstr>
      <vt:lpstr>Propagation Delay with Multiplexers</vt:lpstr>
      <vt:lpstr>Critical Path</vt:lpstr>
      <vt:lpstr>Critical Path Example</vt:lpstr>
      <vt:lpstr>Delay Depends on Implementation</vt:lpstr>
      <vt:lpstr>Outline</vt:lpstr>
      <vt:lpstr>Synchronous Logic</vt:lpstr>
      <vt:lpstr>STA for Synchronous Logic Overview</vt:lpstr>
      <vt:lpstr>Set-Up and Hold Time</vt:lpstr>
      <vt:lpstr>Clock-to-Q time</vt:lpstr>
      <vt:lpstr>Typical Times</vt:lpstr>
      <vt:lpstr>Register-to-Register Paths</vt:lpstr>
      <vt:lpstr>STA Analysis:  Verifying the Set-Up Time</vt:lpstr>
      <vt:lpstr>Meeting or Failing Timing</vt:lpstr>
      <vt:lpstr>Example:  Calculating Critical Path</vt:lpstr>
      <vt:lpstr>Example:  Maximum Clock Frequency</vt:lpstr>
      <vt:lpstr>Meeting the Min Hold Time Constraint</vt:lpstr>
      <vt:lpstr>Outline</vt:lpstr>
      <vt:lpstr>Synchronous Logic Detailed Timing Diagram</vt:lpstr>
      <vt:lpstr>Detailed Timing Diagram</vt:lpstr>
      <vt:lpstr>Abstract or Cycle Accurate Timing Diagram</vt:lpstr>
      <vt:lpstr>ReLU + Linear Synchronous Module</vt:lpstr>
      <vt:lpstr>Synchronous Implementation</vt:lpstr>
      <vt:lpstr>STA</vt:lpstr>
      <vt:lpstr>ReLU+Linear Timing Diagram</vt:lpstr>
      <vt:lpstr>Max Clock Frequency Example</vt:lpstr>
      <vt:lpstr>Quadratic Example</vt:lpstr>
      <vt:lpstr>Finding the Critical Path</vt:lpstr>
      <vt:lpstr>A Two Cycle Design</vt:lpstr>
      <vt:lpstr>Three Stages</vt:lpstr>
      <vt:lpstr>Critical Path with Three Stages</vt:lpstr>
      <vt:lpstr>Two Cycle Timing Diagram</vt:lpstr>
      <vt:lpstr>Latency, Throughput and Pipelining</vt:lpstr>
      <vt:lpstr>Performance Comparison</vt:lpstr>
      <vt:lpstr>Outline</vt:lpstr>
      <vt:lpstr>Value-Change Points</vt:lpstr>
      <vt:lpstr>Timing Diagram and VCDs</vt:lpstr>
      <vt:lpstr>Viewing Waveforms in Vivado</vt:lpstr>
      <vt:lpstr>Viewing Timing Diagrams in this Class</vt:lpstr>
      <vt:lpstr>Parsing the Signals in Python</vt:lpstr>
      <vt:lpstr>Displaying the Signals in Python</vt:lpstr>
      <vt:lpstr>Drawing Timing Diagrams in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603</cp:revision>
  <cp:lastPrinted>2018-09-04T19:00:14Z</cp:lastPrinted>
  <dcterms:created xsi:type="dcterms:W3CDTF">2015-03-22T11:15:32Z</dcterms:created>
  <dcterms:modified xsi:type="dcterms:W3CDTF">2026-03-24T01:26:37Z</dcterms:modified>
</cp:coreProperties>
</file>
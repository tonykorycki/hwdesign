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8" r:id="rId2"/>
    <p:sldId id="271" r:id="rId3"/>
    <p:sldId id="297" r:id="rId4"/>
    <p:sldId id="276" r:id="rId5"/>
    <p:sldId id="291" r:id="rId6"/>
    <p:sldId id="277" r:id="rId7"/>
    <p:sldId id="280" r:id="rId8"/>
    <p:sldId id="281" r:id="rId9"/>
    <p:sldId id="278" r:id="rId10"/>
    <p:sldId id="283" r:id="rId11"/>
    <p:sldId id="284" r:id="rId12"/>
    <p:sldId id="285" r:id="rId13"/>
    <p:sldId id="286" r:id="rId14"/>
    <p:sldId id="290" r:id="rId15"/>
    <p:sldId id="288" r:id="rId16"/>
    <p:sldId id="289" r:id="rId17"/>
    <p:sldId id="298" r:id="rId18"/>
    <p:sldId id="293" r:id="rId19"/>
    <p:sldId id="294" r:id="rId20"/>
    <p:sldId id="295" r:id="rId21"/>
    <p:sldId id="296" r:id="rId22"/>
    <p:sldId id="292" r:id="rId23"/>
    <p:sldId id="300" r:id="rId24"/>
    <p:sldId id="301" r:id="rId25"/>
    <p:sldId id="302" r:id="rId26"/>
    <p:sldId id="303" r:id="rId27"/>
    <p:sldId id="304" r:id="rId28"/>
    <p:sldId id="305" r:id="rId29"/>
    <p:sldId id="299" r:id="rId30"/>
    <p:sldId id="310" r:id="rId31"/>
    <p:sldId id="306" r:id="rId32"/>
    <p:sldId id="308" r:id="rId33"/>
    <p:sldId id="312" r:id="rId34"/>
    <p:sldId id="307" r:id="rId35"/>
    <p:sldId id="311" r:id="rId36"/>
    <p:sldId id="309" r:id="rId37"/>
    <p:sldId id="313" r:id="rId38"/>
    <p:sldId id="314" r:id="rId39"/>
    <p:sldId id="315" r:id="rId40"/>
    <p:sldId id="316" r:id="rId41"/>
    <p:sldId id="317" r:id="rId42"/>
    <p:sldId id="319" r:id="rId43"/>
    <p:sldId id="320" r:id="rId44"/>
    <p:sldId id="318" r:id="rId45"/>
    <p:sldId id="321" r:id="rId46"/>
    <p:sldId id="322" r:id="rId47"/>
    <p:sldId id="323" r:id="rId48"/>
    <p:sldId id="324" r:id="rId49"/>
  </p:sldIdLst>
  <p:sldSz cx="12192000" cy="6858000"/>
  <p:notesSz cx="7315200" cy="96012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FF99"/>
    <a:srgbClr val="92278F"/>
    <a:srgbClr val="E3DFF7"/>
    <a:srgbClr val="EAE5EB"/>
    <a:srgbClr val="DEE6F8"/>
    <a:srgbClr val="E0F8E0"/>
    <a:srgbClr val="CCFF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157" autoAdjust="0"/>
    <p:restoredTop sz="94660"/>
  </p:normalViewPr>
  <p:slideViewPr>
    <p:cSldViewPr snapToGrid="0">
      <p:cViewPr varScale="1">
        <p:scale>
          <a:sx n="81" d="100"/>
          <a:sy n="81" d="100"/>
        </p:scale>
        <p:origin x="58" y="25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143587" y="0"/>
            <a:ext cx="3169920" cy="481727"/>
          </a:xfrm>
          <a:prstGeom prst="rect">
            <a:avLst/>
          </a:prstGeom>
        </p:spPr>
        <p:txBody>
          <a:bodyPr vert="horz" lIns="96661" tIns="48331" rIns="96661" bIns="48331" rtlCol="0"/>
          <a:lstStyle>
            <a:lvl1pPr algn="r">
              <a:defRPr sz="1300"/>
            </a:lvl1pPr>
          </a:lstStyle>
          <a:p>
            <a:fld id="{B7D6DDD3-D7E9-488B-B626-1E8285E424D8}" type="datetimeFigureOut">
              <a:rPr lang="en-US" smtClean="0"/>
              <a:t>2/5/2026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77875" y="1200150"/>
            <a:ext cx="5759450" cy="32400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6661" tIns="48331" rIns="96661" bIns="48331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31520" y="4620577"/>
            <a:ext cx="5852160" cy="3780473"/>
          </a:xfrm>
          <a:prstGeom prst="rect">
            <a:avLst/>
          </a:prstGeom>
        </p:spPr>
        <p:txBody>
          <a:bodyPr vert="horz" lIns="96661" tIns="48331" rIns="96661" bIns="48331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143587" y="9119474"/>
            <a:ext cx="3169920" cy="481726"/>
          </a:xfrm>
          <a:prstGeom prst="rect">
            <a:avLst/>
          </a:prstGeom>
        </p:spPr>
        <p:txBody>
          <a:bodyPr vert="horz" lIns="96661" tIns="48331" rIns="96661" bIns="48331" rtlCol="0" anchor="b"/>
          <a:lstStyle>
            <a:lvl1pPr algn="r">
              <a:defRPr sz="1300"/>
            </a:lvl1pPr>
          </a:lstStyle>
          <a:p>
            <a:fld id="{65CF6084-2C3C-4FE7-B181-D16A3429058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54252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/>
          <p:cNvSpPr/>
          <p:nvPr userDrawn="1"/>
        </p:nvSpPr>
        <p:spPr>
          <a:xfrm>
            <a:off x="0" y="6171231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7" name="Rectangle 16"/>
          <p:cNvSpPr/>
          <p:nvPr userDrawn="1"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164" y="6292310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 marL="91440" indent="-91440">
              <a:buSzPct val="100000"/>
              <a:buFont typeface="Wingdings" panose="05000000000000000000" pitchFamily="2" charset="2"/>
              <a:buChar char="q"/>
              <a:defRPr/>
            </a:lvl1pPr>
          </a:lstStyle>
          <a:p>
            <a:pPr lvl="0"/>
            <a:r>
              <a:rPr lang="en-US" dirty="0"/>
              <a:t> 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7" name="Picture 16" descr="final-logo-3.eps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379551"/>
            <a:ext cx="1117381" cy="81740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045" y="6405564"/>
            <a:ext cx="2113225" cy="334949"/>
          </a:xfrm>
          <a:prstGeom prst="rect">
            <a:avLst/>
          </a:prstGeom>
        </p:spPr>
      </p:pic>
      <p:sp>
        <p:nvSpPr>
          <p:cNvPr id="12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5451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4"/>
            <a:ext cx="10058400" cy="1060198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214193"/>
            <a:ext cx="4937760" cy="33782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477911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214193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6339080"/>
            <a:ext cx="12192000" cy="518920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/>
          </a:p>
        </p:txBody>
      </p:sp>
      <p:sp>
        <p:nvSpPr>
          <p:cNvPr id="11" name="Rectangle 10"/>
          <p:cNvSpPr/>
          <p:nvPr userDrawn="1"/>
        </p:nvSpPr>
        <p:spPr>
          <a:xfrm>
            <a:off x="15" y="627259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32682" y="6508672"/>
            <a:ext cx="984019" cy="273844"/>
          </a:xfrm>
          <a:prstGeom prst="rect">
            <a:avLst/>
          </a:prstGeom>
        </p:spPr>
        <p:txBody>
          <a:bodyPr vert="horz" lIns="68567" tIns="34289" rIns="68567" bIns="34289" rtlCol="0" anchor="ctr"/>
          <a:lstStyle>
            <a:lvl1pPr algn="r">
              <a:defRPr sz="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  <p:pic>
        <p:nvPicPr>
          <p:cNvPr id="9" name="Pictur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507" y="6405564"/>
            <a:ext cx="2113225" cy="334949"/>
          </a:xfrm>
          <a:prstGeom prst="rect">
            <a:avLst/>
          </a:prstGeom>
        </p:spPr>
      </p:pic>
      <p:pic>
        <p:nvPicPr>
          <p:cNvPr id="16" name="Picture 15" descr="final-logo-3.eps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42543" y="6446621"/>
            <a:ext cx="923615" cy="675657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  <a:prstGeom prst="rect">
            <a:avLst/>
          </a:prstGeom>
        </p:spPr>
        <p:txBody>
          <a:bodyPr/>
          <a:lstStyle>
            <a:lvl1pPr algn="l">
              <a:defRPr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 userDrawn="1"/>
        </p:nvSpPr>
        <p:spPr>
          <a:xfrm>
            <a:off x="0" y="6160663"/>
            <a:ext cx="12192000" cy="697337"/>
          </a:xfrm>
          <a:prstGeom prst="rect">
            <a:avLst/>
          </a:prstGeom>
          <a:solidFill>
            <a:srgbClr val="5706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sz="1800" dirty="0"/>
          </a:p>
        </p:txBody>
      </p:sp>
      <p:sp>
        <p:nvSpPr>
          <p:cNvPr id="9" name="Rectangle 8"/>
          <p:cNvSpPr/>
          <p:nvPr/>
        </p:nvSpPr>
        <p:spPr>
          <a:xfrm>
            <a:off x="15" y="6094179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040211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539277"/>
            <a:ext cx="10058400" cy="4329817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346794" y="6314268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rgbClr val="FFFFFF"/>
                </a:solidFill>
              </a:defRPr>
            </a:lvl1pPr>
          </a:lstStyle>
          <a:p>
            <a:fld id="{4FAB73BC-B049-4115-A692-8D63A059BFB8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10" name="Straight Connector 9"/>
          <p:cNvCxnSpPr/>
          <p:nvPr/>
        </p:nvCxnSpPr>
        <p:spPr>
          <a:xfrm>
            <a:off x="1097280" y="14330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4307" y="6307398"/>
            <a:ext cx="2113225" cy="334949"/>
          </a:xfrm>
          <a:prstGeom prst="rect">
            <a:avLst/>
          </a:prstGeom>
        </p:spPr>
      </p:pic>
      <p:pic>
        <p:nvPicPr>
          <p:cNvPr id="15" name="Picture 14" descr="final-logo-3.eps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61914" y="6270691"/>
            <a:ext cx="1117381" cy="81740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13" Type="http://schemas.openxmlformats.org/officeDocument/2006/relationships/image" Target="../media/image39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12" Type="http://schemas.openxmlformats.org/officeDocument/2006/relationships/image" Target="../media/image38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11" Type="http://schemas.openxmlformats.org/officeDocument/2006/relationships/image" Target="../media/image37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Relationship Id="rId14" Type="http://schemas.openxmlformats.org/officeDocument/2006/relationships/image" Target="../media/image4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2.png"/><Relationship Id="rId3" Type="http://schemas.openxmlformats.org/officeDocument/2006/relationships/image" Target="../media/image47.png"/><Relationship Id="rId7" Type="http://schemas.openxmlformats.org/officeDocument/2006/relationships/image" Target="../media/image51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0.png"/><Relationship Id="rId5" Type="http://schemas.openxmlformats.org/officeDocument/2006/relationships/image" Target="../media/image49.png"/><Relationship Id="rId4" Type="http://schemas.openxmlformats.org/officeDocument/2006/relationships/image" Target="../media/image48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6.png"/><Relationship Id="rId4" Type="http://schemas.openxmlformats.org/officeDocument/2006/relationships/image" Target="../media/image55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mathworks.com/help/ecoder/xilinxzynq7000ec/ug/communicating-with-the-fpga-ip-core-on-the-xilinx-zynq-7000-platform-using-axi4-lite-protocol.html" TargetMode="External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2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1.png"/><Relationship Id="rId3" Type="http://schemas.openxmlformats.org/officeDocument/2006/relationships/image" Target="../media/image64.png"/><Relationship Id="rId7" Type="http://schemas.openxmlformats.org/officeDocument/2006/relationships/image" Target="../media/image67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2.png"/><Relationship Id="rId5" Type="http://schemas.openxmlformats.org/officeDocument/2006/relationships/image" Target="../media/image66.png"/><Relationship Id="rId4" Type="http://schemas.openxmlformats.org/officeDocument/2006/relationships/image" Target="../media/image65.png"/><Relationship Id="rId9" Type="http://schemas.openxmlformats.org/officeDocument/2006/relationships/image" Target="../media/image62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6600" dirty="0"/>
              <a:t>Unit 4 </a:t>
            </a:r>
            <a:br>
              <a:rPr lang="en-US" sz="6600" dirty="0"/>
            </a:br>
            <a:r>
              <a:rPr lang="en-US" sz="6600" dirty="0"/>
              <a:t>Memory and Basic Processor Interfaces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EL-GY 9463:  Introduction to Hardware Design</a:t>
            </a:r>
          </a:p>
          <a:p>
            <a:r>
              <a:rPr lang="en-US"/>
              <a:t>ProfS. Sundeep Rangan, Siddharth Garg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4FAB73BC-B049-4115-A692-8D63A059BFB8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42935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Describe the basic components of random access memory</a:t>
            </a:r>
          </a:p>
          <a:p>
            <a:pPr lvl="1"/>
            <a:r>
              <a:rPr lang="en-US" dirty="0"/>
              <a:t>Address and data bus, address decoder, storage</a:t>
            </a:r>
          </a:p>
          <a:p>
            <a:r>
              <a:rPr lang="en-US" dirty="0"/>
              <a:t>Identify which types of memory should be used for storage</a:t>
            </a:r>
          </a:p>
          <a:p>
            <a:pPr lvl="1"/>
            <a:r>
              <a:rPr lang="en-US" dirty="0"/>
              <a:t>External vs. internal</a:t>
            </a:r>
          </a:p>
          <a:p>
            <a:pPr lvl="1"/>
            <a:r>
              <a:rPr lang="en-US" dirty="0"/>
              <a:t>Registers vs. block memory</a:t>
            </a:r>
          </a:p>
          <a:p>
            <a:r>
              <a:rPr lang="en-US" dirty="0"/>
              <a:t>Describe and analyze timing for the AXI4-Lite protocol for reading and writing registers</a:t>
            </a:r>
          </a:p>
          <a:p>
            <a:r>
              <a:rPr lang="en-US" dirty="0"/>
              <a:t>Implement a simple IP with AXI4-Lite control registers using Vitis HLS</a:t>
            </a:r>
          </a:p>
          <a:p>
            <a:r>
              <a:rPr lang="en-US" dirty="0"/>
              <a:t>Synthesize and simulate the IP and analyze the timing diagrams</a:t>
            </a:r>
          </a:p>
          <a:p>
            <a:r>
              <a:rPr lang="en-US" dirty="0"/>
              <a:t>Deploy the IP on an FPGA board and interface with the IP via PYNQ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8553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EFFF6B-8453-395D-C9DF-D39D49D3F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AA98C3-C147-9B33-689D-5A5D264C6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28E2E2-EBC5-C8DE-A7D7-0B0A405420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AXI4-Lite</a:t>
            </a:r>
          </a:p>
          <a:p>
            <a:r>
              <a:rPr lang="en-US" sz="2400" dirty="0"/>
              <a:t>Implementing AXI4-Lite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D21FED-E321-4749-8167-3B80892DB5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E9FC670A-2850-C4F8-F818-E68FBC3C0972}"/>
              </a:ext>
            </a:extLst>
          </p:cNvPr>
          <p:cNvSpPr/>
          <p:nvPr/>
        </p:nvSpPr>
        <p:spPr>
          <a:xfrm>
            <a:off x="411472" y="1475738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8098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71287-0232-9A94-C28C-74572E229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Addressable Memory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</p:spPr>
            <p:txBody>
              <a:bodyPr/>
              <a:lstStyle/>
              <a:p>
                <a:r>
                  <a:rPr lang="en-US" dirty="0"/>
                  <a:t>An array of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elements</a:t>
                </a:r>
                <a:r>
                  <a:rPr lang="en-US" dirty="0"/>
                  <a:t> in storage</a:t>
                </a:r>
              </a:p>
              <a:p>
                <a:pPr lvl="1"/>
                <a:r>
                  <a:rPr lang="en-US" dirty="0"/>
                  <a:t>Use for vectors, matrices, packets, data, …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:  Each of the data element</a:t>
                </a:r>
              </a:p>
              <a:p>
                <a:pPr lvl="1"/>
                <a:r>
                  <a:rPr lang="en-US" dirty="0"/>
                  <a:t>Typically, has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word</a:t>
                </a:r>
                <a:r>
                  <a:rPr lang="en-US" dirty="0"/>
                  <a:t> /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data width </a:t>
                </a:r>
                <a:r>
                  <a:rPr lang="en-US" dirty="0"/>
                  <a:t>= 32 or 64 bits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depth</a:t>
                </a:r>
                <a:r>
                  <a:rPr lang="en-US" dirty="0"/>
                  <a:t> = number of words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size</a:t>
                </a:r>
                <a:r>
                  <a:rPr lang="en-US" dirty="0"/>
                  <a:t>=depth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dirty="0"/>
                  <a:t> word width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Address</a:t>
                </a:r>
                <a:r>
                  <a:rPr lang="en-US" dirty="0"/>
                  <a:t>:  A location of a word</a:t>
                </a:r>
              </a:p>
              <a:p>
                <a:pPr lvl="1"/>
                <a:r>
                  <a:rPr lang="en-US" dirty="0"/>
                  <a:t>Often byte-addressable</a:t>
                </a:r>
              </a:p>
              <a:p>
                <a:pPr lvl="1"/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is at byte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 when word width=32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F119B4-C48C-E552-39B1-033719E0CE6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446821" cy="4329817"/>
              </a:xfrm>
              <a:blipFill>
                <a:blip r:embed="rId2"/>
                <a:stretch>
                  <a:fillRect l="-268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94A085-3885-EAA3-78DD-905AF0DC9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DBB4FB6-254C-A247-A494-CFD5D073C5D5}"/>
              </a:ext>
            </a:extLst>
          </p:cNvPr>
          <p:cNvSpPr/>
          <p:nvPr/>
        </p:nvSpPr>
        <p:spPr>
          <a:xfrm>
            <a:off x="8470899" y="1842448"/>
            <a:ext cx="2426837" cy="323578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411A78BC-002A-8321-3A4A-A4C4AA05B9B5}"/>
              </a:ext>
            </a:extLst>
          </p:cNvPr>
          <p:cNvCxnSpPr/>
          <p:nvPr/>
        </p:nvCxnSpPr>
        <p:spPr>
          <a:xfrm>
            <a:off x="8470899" y="2203450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6B9CE4F8-E303-787E-86EA-C94FCAECFD9A}"/>
              </a:ext>
            </a:extLst>
          </p:cNvPr>
          <p:cNvSpPr/>
          <p:nvPr/>
        </p:nvSpPr>
        <p:spPr>
          <a:xfrm>
            <a:off x="8470899" y="1842448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DFDE105-D67B-B280-0201-5664B1DF2964}"/>
              </a:ext>
            </a:extLst>
          </p:cNvPr>
          <p:cNvSpPr/>
          <p:nvPr/>
        </p:nvSpPr>
        <p:spPr>
          <a:xfrm>
            <a:off x="7366000" y="184243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2EDAF46-D4DB-9396-0CBC-745752D3882D}"/>
              </a:ext>
            </a:extLst>
          </p:cNvPr>
          <p:cNvSpPr/>
          <p:nvPr/>
        </p:nvSpPr>
        <p:spPr>
          <a:xfrm>
            <a:off x="8470899" y="2203426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8FD44C-D21C-AE8E-554C-D8B859B00795}"/>
              </a:ext>
            </a:extLst>
          </p:cNvPr>
          <p:cNvSpPr/>
          <p:nvPr/>
        </p:nvSpPr>
        <p:spPr>
          <a:xfrm>
            <a:off x="7365999" y="2203426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2E70C487-3A98-A92F-CB88-194F26DDF075}"/>
              </a:ext>
            </a:extLst>
          </p:cNvPr>
          <p:cNvCxnSpPr/>
          <p:nvPr/>
        </p:nvCxnSpPr>
        <p:spPr>
          <a:xfrm>
            <a:off x="8470899" y="2564428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CE0ABD08-9AEE-EDBE-4C5E-406ED839D5EF}"/>
              </a:ext>
            </a:extLst>
          </p:cNvPr>
          <p:cNvSpPr/>
          <p:nvPr/>
        </p:nvSpPr>
        <p:spPr>
          <a:xfrm>
            <a:off x="8470899" y="2564404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40A6885-8CA0-FA31-616B-36D9BEB29508}"/>
              </a:ext>
            </a:extLst>
          </p:cNvPr>
          <p:cNvSpPr/>
          <p:nvPr/>
        </p:nvSpPr>
        <p:spPr>
          <a:xfrm>
            <a:off x="7365999" y="2564404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51E13A1-F07B-B5A2-48AE-D7AE57CEA4AF}"/>
              </a:ext>
            </a:extLst>
          </p:cNvPr>
          <p:cNvCxnSpPr/>
          <p:nvPr/>
        </p:nvCxnSpPr>
        <p:spPr>
          <a:xfrm>
            <a:off x="8470899" y="4708925"/>
            <a:ext cx="24268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301D20D1-BCD3-8109-CAFE-E2B1C35B1B08}"/>
              </a:ext>
            </a:extLst>
          </p:cNvPr>
          <p:cNvSpPr/>
          <p:nvPr/>
        </p:nvSpPr>
        <p:spPr>
          <a:xfrm>
            <a:off x="8470899" y="4708901"/>
            <a:ext cx="2426837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74C0F23-31E5-EB9A-A654-5EC2F4C88DAE}"/>
              </a:ext>
            </a:extLst>
          </p:cNvPr>
          <p:cNvSpPr/>
          <p:nvPr/>
        </p:nvSpPr>
        <p:spPr>
          <a:xfrm>
            <a:off x="7365999" y="4708901"/>
            <a:ext cx="1104899" cy="36097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206D41F-8FD9-B4A6-DF55-42C514687725}"/>
              </a:ext>
            </a:extLst>
          </p:cNvPr>
          <p:cNvCxnSpPr/>
          <p:nvPr/>
        </p:nvCxnSpPr>
        <p:spPr>
          <a:xfrm>
            <a:off x="7365999" y="2925382"/>
            <a:ext cx="0" cy="2193228"/>
          </a:xfrm>
          <a:prstGeom prst="line">
            <a:avLst/>
          </a:prstGeom>
          <a:ln w="158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89611376-9FF1-3BF9-096C-D58EE48AE8E7}"/>
              </a:ext>
            </a:extLst>
          </p:cNvPr>
          <p:cNvSpPr txBox="1"/>
          <p:nvPr/>
        </p:nvSpPr>
        <p:spPr>
          <a:xfrm>
            <a:off x="7227489" y="1450281"/>
            <a:ext cx="13819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Byte address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6FE6EA-05E4-2012-DEB0-32BC629A58F8}"/>
              </a:ext>
            </a:extLst>
          </p:cNvPr>
          <p:cNvSpPr txBox="1"/>
          <p:nvPr/>
        </p:nvSpPr>
        <p:spPr>
          <a:xfrm>
            <a:off x="9211756" y="1468921"/>
            <a:ext cx="6205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DAF47B2-2AAD-816D-BE97-3E1155488A03}"/>
              </a:ext>
            </a:extLst>
          </p:cNvPr>
          <p:cNvSpPr txBox="1"/>
          <p:nvPr/>
        </p:nvSpPr>
        <p:spPr>
          <a:xfrm>
            <a:off x="8064719" y="186943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30141E-11DC-4E2A-0509-2031F4BA10F9}"/>
              </a:ext>
            </a:extLst>
          </p:cNvPr>
          <p:cNvSpPr txBox="1"/>
          <p:nvPr/>
        </p:nvSpPr>
        <p:spPr>
          <a:xfrm>
            <a:off x="8064719" y="2207585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91DEDD-AF93-EB68-7B34-5309BBE40A04}"/>
              </a:ext>
            </a:extLst>
          </p:cNvPr>
          <p:cNvSpPr txBox="1"/>
          <p:nvPr/>
        </p:nvSpPr>
        <p:spPr>
          <a:xfrm>
            <a:off x="8064719" y="2533227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8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/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5DC00E75-A5BE-095E-5065-A30ACC427C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0407" y="4677699"/>
                <a:ext cx="1136080" cy="369332"/>
              </a:xfrm>
              <a:prstGeom prst="rect">
                <a:avLst/>
              </a:prstGeom>
              <a:blipFill>
                <a:blip r:embed="rId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TextBox 29">
            <a:extLst>
              <a:ext uri="{FF2B5EF4-FFF2-40B4-BE49-F238E27FC236}">
                <a16:creationId xmlns:a16="http://schemas.microsoft.com/office/drawing/2014/main" id="{30749B95-D5F7-2495-AE70-5088D4D0CDFE}"/>
              </a:ext>
            </a:extLst>
          </p:cNvPr>
          <p:cNvSpPr txBox="1"/>
          <p:nvPr/>
        </p:nvSpPr>
        <p:spPr>
          <a:xfrm>
            <a:off x="8648940" y="1869430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0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950064E-A93F-E7F7-CF19-E5BBA9BC6D5A}"/>
              </a:ext>
            </a:extLst>
          </p:cNvPr>
          <p:cNvSpPr txBox="1"/>
          <p:nvPr/>
        </p:nvSpPr>
        <p:spPr>
          <a:xfrm>
            <a:off x="8648939" y="221824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1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02F0C6F-9DAF-77F8-7AEC-AC9350668DE6}"/>
              </a:ext>
            </a:extLst>
          </p:cNvPr>
          <p:cNvSpPr txBox="1"/>
          <p:nvPr/>
        </p:nvSpPr>
        <p:spPr>
          <a:xfrm>
            <a:off x="8648939" y="2587252"/>
            <a:ext cx="8707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Word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/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56C8AA6C-DB13-EE46-2DD5-65D51EEEAB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52918" y="4693688"/>
                <a:ext cx="1331647" cy="369332"/>
              </a:xfrm>
              <a:prstGeom prst="rect">
                <a:avLst/>
              </a:prstGeom>
              <a:blipFill>
                <a:blip r:embed="rId4"/>
                <a:stretch>
                  <a:fillRect l="-3653" t="-9836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/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Example 32-bit memory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depth</a:t>
                </a: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FB19FF7-420C-10E9-9024-30DF058D36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27489" y="5188032"/>
                <a:ext cx="3736920" cy="369332"/>
              </a:xfrm>
              <a:prstGeom prst="rect">
                <a:avLst/>
              </a:prstGeom>
              <a:blipFill>
                <a:blip r:embed="rId5"/>
                <a:stretch>
                  <a:fillRect l="-1468" t="-8197" r="-653" b="-2459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527466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FEDAE-3E47-5581-CB50-54AC3C8551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Sequential vs Random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5E04C-E796-9577-582E-43BCBFE25A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chemeClr val="accent1"/>
                </a:solidFill>
              </a:rPr>
              <a:t>Sequential Access</a:t>
            </a:r>
          </a:p>
          <a:p>
            <a:pPr lvl="1"/>
            <a:r>
              <a:rPr lang="en-US" sz="2000" dirty="0"/>
              <a:t>Access time depends on </a:t>
            </a:r>
            <a:r>
              <a:rPr lang="en-US" sz="2000" i="1" dirty="0"/>
              <a:t>position</a:t>
            </a:r>
            <a:endParaRPr lang="en-US" sz="2000" dirty="0"/>
          </a:p>
          <a:p>
            <a:pPr lvl="1"/>
            <a:r>
              <a:rPr lang="en-US" sz="2000" dirty="0"/>
              <a:t>You must move through data in order</a:t>
            </a:r>
          </a:p>
          <a:p>
            <a:pPr lvl="1"/>
            <a:r>
              <a:rPr lang="en-US" sz="2000" dirty="0"/>
              <a:t>Ex:  Hard disks (seek + rotation)</a:t>
            </a:r>
          </a:p>
          <a:p>
            <a:pPr lvl="1"/>
            <a:r>
              <a:rPr lang="en-US" sz="2000" dirty="0"/>
              <a:t>FIFO queues (logical sequential access)</a:t>
            </a:r>
          </a:p>
          <a:p>
            <a:pPr lvl="1"/>
            <a:endParaRPr lang="en-US" sz="2000" dirty="0"/>
          </a:p>
          <a:p>
            <a:r>
              <a:rPr lang="en-US" sz="2400" dirty="0">
                <a:solidFill>
                  <a:schemeClr val="accent1"/>
                </a:solidFill>
              </a:rPr>
              <a:t>Random access</a:t>
            </a:r>
          </a:p>
          <a:p>
            <a:pPr lvl="1"/>
            <a:r>
              <a:rPr lang="en-US" sz="2000" dirty="0"/>
              <a:t>Any element can be accessed in constant time</a:t>
            </a:r>
          </a:p>
          <a:p>
            <a:pPr lvl="1"/>
            <a:r>
              <a:rPr lang="en-US" sz="2000" dirty="0"/>
              <a:t>SRAM (on chip block memory, FPGA BRAM)</a:t>
            </a:r>
          </a:p>
          <a:p>
            <a:pPr lvl="1"/>
            <a:r>
              <a:rPr lang="en-US" sz="2000" dirty="0"/>
              <a:t>DRAM (external memory)</a:t>
            </a:r>
          </a:p>
          <a:p>
            <a:pPr lvl="1"/>
            <a:r>
              <a:rPr lang="en-US" sz="2000" dirty="0"/>
              <a:t>Register files (architecturally random access)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90C79D-E2CD-09A5-736D-5B55C0B56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5</a:t>
            </a:fld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32F88781-B301-D232-E04A-602EA2C546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37035" y="1628886"/>
            <a:ext cx="2009775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7" name="Picture 7" descr="Memory ICs - EPROM, EEPROM and RAM">
            <a:extLst>
              <a:ext uri="{FF2B5EF4-FFF2-40B4-BE49-F238E27FC236}">
                <a16:creationId xmlns:a16="http://schemas.microsoft.com/office/drawing/2014/main" id="{9FF35CD7-0315-739E-3D55-D9234F444A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7350" y="3899498"/>
            <a:ext cx="184785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7929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Rectangle 79">
            <a:extLst>
              <a:ext uri="{FF2B5EF4-FFF2-40B4-BE49-F238E27FC236}">
                <a16:creationId xmlns:a16="http://schemas.microsoft.com/office/drawing/2014/main" id="{F6C25994-24DD-3620-4CAE-83A7CB132B95}"/>
              </a:ext>
            </a:extLst>
          </p:cNvPr>
          <p:cNvSpPr/>
          <p:nvPr/>
        </p:nvSpPr>
        <p:spPr>
          <a:xfrm>
            <a:off x="3902065" y="2308781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E0E6F91-FD9F-631E-2A33-E5131BB3B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Typical RAM Architecture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</p:spPr>
            <p:txBody>
              <a:bodyPr/>
              <a:lstStyle/>
              <a:p>
                <a:r>
                  <a:rPr lang="en-US" dirty="0"/>
                  <a:t>Three interface signals:</a:t>
                </a:r>
              </a:p>
              <a:p>
                <a:pPr lvl="1"/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</a:t>
                </a:r>
                <a:r>
                  <a:rPr lang="en-US" dirty="0"/>
                  <a:t> input:  Which word to select</a:t>
                </a:r>
              </a:p>
              <a:p>
                <a:pPr lvl="1"/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Read/Write</a:t>
                </a:r>
                <a:r>
                  <a:rPr lang="en-US" dirty="0"/>
                  <a:t>:  Which direction of transfer</a:t>
                </a:r>
              </a:p>
              <a:p>
                <a:pPr lvl="1"/>
                <a:r>
                  <a:rPr lang="en-US" dirty="0">
                    <a:solidFill>
                      <a:srgbClr val="00B050"/>
                    </a:solidFill>
                  </a:rPr>
                  <a:t>Data</a:t>
                </a:r>
                <a:r>
                  <a:rPr lang="en-US" dirty="0"/>
                  <a:t>:  Value to read or write</a:t>
                </a:r>
              </a:p>
              <a:p>
                <a:r>
                  <a:rPr lang="en-US" dirty="0"/>
                  <a:t>Address input:</a:t>
                </a:r>
              </a:p>
              <a:p>
                <a:pPr lvl="1"/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bits to select one of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words</a:t>
                </a:r>
              </a:p>
              <a:p>
                <a:pPr lvl="1"/>
                <a:r>
                  <a:rPr lang="en-US" dirty="0"/>
                  <a:t>Each word has a </a:t>
                </a:r>
                <a:r>
                  <a:rPr lang="en-US" dirty="0" err="1"/>
                  <a:t>wordline</a:t>
                </a:r>
                <a:r>
                  <a:rPr lang="en-US" dirty="0"/>
                  <a:t> select</a:t>
                </a:r>
              </a:p>
              <a:p>
                <a:pPr lvl="1"/>
                <a:r>
                  <a:rPr lang="en-US" dirty="0"/>
                  <a:t>Selection determined by </a:t>
                </a:r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address decoder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A0A823-80BF-DC23-A83C-883C1C8F965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533422" y="1539277"/>
                <a:ext cx="4622257" cy="4329817"/>
              </a:xfrm>
              <a:blipFill>
                <a:blip r:embed="rId2"/>
                <a:stretch>
                  <a:fillRect l="-316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8381D9-985C-08C7-AEB5-1EB087107A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5A1FAD5-8D48-A21C-8DF4-36148C5B302E}"/>
              </a:ext>
            </a:extLst>
          </p:cNvPr>
          <p:cNvSpPr/>
          <p:nvPr/>
        </p:nvSpPr>
        <p:spPr>
          <a:xfrm>
            <a:off x="1679370" y="2802744"/>
            <a:ext cx="914400" cy="914400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5B9A0E3-C243-06FE-69F7-6765D2A1CD2A}"/>
              </a:ext>
            </a:extLst>
          </p:cNvPr>
          <p:cNvSpPr/>
          <p:nvPr/>
        </p:nvSpPr>
        <p:spPr>
          <a:xfrm>
            <a:off x="5565006" y="2169329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E19483-793F-2739-2D1F-E802903699E3}"/>
              </a:ext>
            </a:extLst>
          </p:cNvPr>
          <p:cNvSpPr/>
          <p:nvPr/>
        </p:nvSpPr>
        <p:spPr>
          <a:xfrm>
            <a:off x="3911830" y="2899598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13B71A-C912-EBEC-25EA-1B920697ED87}"/>
                  </a:ext>
                </a:extLst>
              </p:cNvPr>
              <p:cNvSpPr txBox="1"/>
              <p:nvPr/>
            </p:nvSpPr>
            <p:spPr>
              <a:xfrm>
                <a:off x="324438" y="2579880"/>
                <a:ext cx="1334533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input</a:t>
                </a:r>
                <a:br>
                  <a:rPr lang="en-US" sz="1600" dirty="0"/>
                </a:br>
                <a14:m>
                  <m:oMath xmlns:m="http://schemas.openxmlformats.org/officeDocument/2006/math">
                    <m:func>
                      <m:func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1600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600" dirty="0"/>
                  <a:t>bits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813B71A-C912-EBEC-25EA-1B920697ED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4438" y="2579880"/>
                <a:ext cx="1334533" cy="584775"/>
              </a:xfrm>
              <a:prstGeom prst="rect">
                <a:avLst/>
              </a:prstGeom>
              <a:blipFill>
                <a:blip r:embed="rId3"/>
                <a:stretch>
                  <a:fillRect l="-2283" t="-3125" r="-137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9869FFE-A147-C690-6340-2F5C376B7EA2}"/>
              </a:ext>
            </a:extLst>
          </p:cNvPr>
          <p:cNvCxnSpPr>
            <a:cxnSpLocks/>
          </p:cNvCxnSpPr>
          <p:nvPr/>
        </p:nvCxnSpPr>
        <p:spPr>
          <a:xfrm flipH="1">
            <a:off x="3143624" y="2476733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454F599-A6A0-983D-571E-C1AE74BDCB60}"/>
              </a:ext>
            </a:extLst>
          </p:cNvPr>
          <p:cNvCxnSpPr/>
          <p:nvPr/>
        </p:nvCxnSpPr>
        <p:spPr>
          <a:xfrm>
            <a:off x="947217" y="3196939"/>
            <a:ext cx="738563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D36180D-2EDA-541A-94AF-D513A7E12E55}"/>
                  </a:ext>
                </a:extLst>
              </p:cNvPr>
              <p:cNvSpPr txBox="1"/>
              <p:nvPr/>
            </p:nvSpPr>
            <p:spPr>
              <a:xfrm>
                <a:off x="1643390" y="3747300"/>
                <a:ext cx="1350050" cy="107721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Address </a:t>
                </a:r>
                <a:b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decoder</a:t>
                </a:r>
                <a:br>
                  <a:rPr lang="en-US" sz="1600" dirty="0"/>
                </a:br>
                <a:r>
                  <a:rPr lang="en-US" sz="1600" dirty="0"/>
                  <a:t>Selects one of</a:t>
                </a:r>
              </a:p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ED36180D-2EDA-541A-94AF-D513A7E12E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3390" y="3747300"/>
                <a:ext cx="1350050" cy="1077218"/>
              </a:xfrm>
              <a:prstGeom prst="rect">
                <a:avLst/>
              </a:prstGeom>
              <a:blipFill>
                <a:blip r:embed="rId4"/>
                <a:stretch>
                  <a:fillRect l="-2715" t="-1705" r="-905" b="-68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527EA86-35F3-424D-82DB-21531A48F3B9}"/>
                  </a:ext>
                </a:extLst>
              </p:cNvPr>
              <p:cNvSpPr txBox="1"/>
              <p:nvPr/>
            </p:nvSpPr>
            <p:spPr>
              <a:xfrm>
                <a:off x="2197380" y="1990396"/>
                <a:ext cx="1201226" cy="33855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/>
                  <a:t> </a:t>
                </a:r>
                <a:r>
                  <a:rPr lang="en-US" sz="1600" dirty="0">
                    <a:solidFill>
                      <a:schemeClr val="accent6">
                        <a:lumMod val="75000"/>
                      </a:schemeClr>
                    </a:solidFill>
                  </a:rPr>
                  <a:t>wordlines</a:t>
                </a:r>
              </a:p>
            </p:txBody>
          </p:sp>
        </mc:Choice>
        <mc:Fallback xmlns=""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0527EA86-35F3-424D-82DB-21531A48F3B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97380" y="1990396"/>
                <a:ext cx="1201226" cy="338554"/>
              </a:xfrm>
              <a:prstGeom prst="rect">
                <a:avLst/>
              </a:prstGeom>
              <a:blipFill>
                <a:blip r:embed="rId5"/>
                <a:stretch>
                  <a:fillRect t="-5455" r="-1515" b="-236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F464507-89E5-BDF2-C5B1-B406436F7580}"/>
                  </a:ext>
                </a:extLst>
              </p:cNvPr>
              <p:cNvSpPr txBox="1"/>
              <p:nvPr/>
            </p:nvSpPr>
            <p:spPr>
              <a:xfrm>
                <a:off x="4190176" y="3473352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F464507-89E5-BDF2-C5B1-B406436F75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90176" y="3473352"/>
                <a:ext cx="349775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1DBB8A8-5A6E-D7C3-0CF7-7F2498B56FE4}"/>
                  </a:ext>
                </a:extLst>
              </p:cNvPr>
              <p:cNvSpPr txBox="1"/>
              <p:nvPr/>
            </p:nvSpPr>
            <p:spPr>
              <a:xfrm>
                <a:off x="3340700" y="3545028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F1DBB8A8-5A6E-D7C3-0CF7-7F2498B56F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40700" y="3545028"/>
                <a:ext cx="349775" cy="461665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1" name="Group 60">
            <a:extLst>
              <a:ext uri="{FF2B5EF4-FFF2-40B4-BE49-F238E27FC236}">
                <a16:creationId xmlns:a16="http://schemas.microsoft.com/office/drawing/2014/main" id="{EF733FA4-307B-C512-F380-F8D34A28BA50}"/>
              </a:ext>
            </a:extLst>
          </p:cNvPr>
          <p:cNvGrpSpPr/>
          <p:nvPr/>
        </p:nvGrpSpPr>
        <p:grpSpPr>
          <a:xfrm>
            <a:off x="3167386" y="2308781"/>
            <a:ext cx="2397325" cy="296148"/>
            <a:chOff x="3167386" y="2308781"/>
            <a:chExt cx="2397325" cy="296148"/>
          </a:xfrm>
        </p:grpSpPr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9A6A75BD-5C70-CFFA-DD52-79FD0A8AD96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AB523CD0-BADD-C065-EFF8-D48B3E63BD0D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A8788F5C-FDF1-39CC-0D44-A53EBE14875A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782C58E0-CB61-DFD4-D0C8-34BE336673A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6101463D-2ED4-556F-8691-B8F78C6B7597}"/>
              </a:ext>
            </a:extLst>
          </p:cNvPr>
          <p:cNvCxnSpPr/>
          <p:nvPr/>
        </p:nvCxnSpPr>
        <p:spPr>
          <a:xfrm>
            <a:off x="3172180" y="3068867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C6FE01C0-9FFA-6EAB-73B5-1D143D273C08}"/>
              </a:ext>
            </a:extLst>
          </p:cNvPr>
          <p:cNvSpPr/>
          <p:nvPr/>
        </p:nvSpPr>
        <p:spPr>
          <a:xfrm>
            <a:off x="3909916" y="2905122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8AE36616-2713-6219-9197-77F22DB27C13}"/>
              </a:ext>
            </a:extLst>
          </p:cNvPr>
          <p:cNvCxnSpPr/>
          <p:nvPr/>
        </p:nvCxnSpPr>
        <p:spPr>
          <a:xfrm>
            <a:off x="4830942" y="3104151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2296EBF3-3686-997A-895D-A805E1B38824}"/>
              </a:ext>
            </a:extLst>
          </p:cNvPr>
          <p:cNvCxnSpPr>
            <a:cxnSpLocks/>
          </p:cNvCxnSpPr>
          <p:nvPr/>
        </p:nvCxnSpPr>
        <p:spPr>
          <a:xfrm flipH="1">
            <a:off x="4830942" y="3002444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47F1818-3246-6025-8F83-6642EAB316DC}"/>
              </a:ext>
            </a:extLst>
          </p:cNvPr>
          <p:cNvCxnSpPr>
            <a:cxnSpLocks/>
          </p:cNvCxnSpPr>
          <p:nvPr/>
        </p:nvCxnSpPr>
        <p:spPr>
          <a:xfrm>
            <a:off x="2593770" y="3196939"/>
            <a:ext cx="580242" cy="0"/>
          </a:xfrm>
          <a:prstGeom prst="straightConnector1">
            <a:avLst/>
          </a:prstGeom>
          <a:ln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ADADB14-B164-1D09-68A4-0E5F78189626}"/>
              </a:ext>
            </a:extLst>
          </p:cNvPr>
          <p:cNvCxnSpPr>
            <a:cxnSpLocks/>
          </p:cNvCxnSpPr>
          <p:nvPr/>
        </p:nvCxnSpPr>
        <p:spPr>
          <a:xfrm flipH="1">
            <a:off x="5194436" y="2169329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AC00E66-F6DE-4763-C5D1-6A285C8F48AC}"/>
              </a:ext>
            </a:extLst>
          </p:cNvPr>
          <p:cNvSpPr txBox="1"/>
          <p:nvPr/>
        </p:nvSpPr>
        <p:spPr>
          <a:xfrm>
            <a:off x="5446248" y="1630137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3BE214C-0C61-D9C3-A14A-90EFDFD19676}"/>
              </a:ext>
            </a:extLst>
          </p:cNvPr>
          <p:cNvGrpSpPr/>
          <p:nvPr/>
        </p:nvGrpSpPr>
        <p:grpSpPr>
          <a:xfrm>
            <a:off x="3163502" y="2605830"/>
            <a:ext cx="2397325" cy="296148"/>
            <a:chOff x="3167386" y="2308781"/>
            <a:chExt cx="2397325" cy="296148"/>
          </a:xfrm>
        </p:grpSpPr>
        <p:cxnSp>
          <p:nvCxnSpPr>
            <p:cNvPr id="63" name="Straight Arrow Connector 62">
              <a:extLst>
                <a:ext uri="{FF2B5EF4-FFF2-40B4-BE49-F238E27FC236}">
                  <a16:creationId xmlns:a16="http://schemas.microsoft.com/office/drawing/2014/main" id="{92A9608B-D09E-FC52-42A7-1255BEB8CDD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B76BA245-15FD-6781-181D-1D5F2E63E6A2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3769AB36-0F08-C5FE-886B-6B7DEE6DEAEC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Arrow Connector 65">
              <a:extLst>
                <a:ext uri="{FF2B5EF4-FFF2-40B4-BE49-F238E27FC236}">
                  <a16:creationId xmlns:a16="http://schemas.microsoft.com/office/drawing/2014/main" id="{A2061DEC-B635-5343-3CA1-DEC6B0902F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23C15D42-54C0-8F3D-9D02-372FD33F0E9D}"/>
              </a:ext>
            </a:extLst>
          </p:cNvPr>
          <p:cNvGrpSpPr/>
          <p:nvPr/>
        </p:nvGrpSpPr>
        <p:grpSpPr>
          <a:xfrm>
            <a:off x="3150250" y="4652701"/>
            <a:ext cx="2397325" cy="296148"/>
            <a:chOff x="3167386" y="2308781"/>
            <a:chExt cx="2397325" cy="296148"/>
          </a:xfrm>
        </p:grpSpPr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844380C4-92E7-0497-592B-77D939FED30B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E9ADA6A9-A770-B752-D749-F9DA004178AB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0" name="Straight Arrow Connector 69">
              <a:extLst>
                <a:ext uri="{FF2B5EF4-FFF2-40B4-BE49-F238E27FC236}">
                  <a16:creationId xmlns:a16="http://schemas.microsoft.com/office/drawing/2014/main" id="{F702F6A0-4640-7363-F51D-D58887326223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Arrow Connector 70">
              <a:extLst>
                <a:ext uri="{FF2B5EF4-FFF2-40B4-BE49-F238E27FC236}">
                  <a16:creationId xmlns:a16="http://schemas.microsoft.com/office/drawing/2014/main" id="{5A26EBD6-192A-69F0-C19C-2D891FD309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6684B7C-11A2-5520-A488-D3CE9499C79E}"/>
                  </a:ext>
                </a:extLst>
              </p:cNvPr>
              <p:cNvSpPr txBox="1"/>
              <p:nvPr/>
            </p:nvSpPr>
            <p:spPr>
              <a:xfrm>
                <a:off x="3951413" y="1708762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36684B7C-11A2-5520-A488-D3CE9499C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951413" y="1708762"/>
                <a:ext cx="800797" cy="584775"/>
              </a:xfrm>
              <a:prstGeom prst="rect">
                <a:avLst/>
              </a:prstGeom>
              <a:blipFill>
                <a:blip r:embed="rId8"/>
                <a:stretch>
                  <a:fillRect l="-3788" t="-3125" r="-3030" b="-125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4115A449-FFD7-3923-3F8F-BDBB90560A3B}"/>
              </a:ext>
            </a:extLst>
          </p:cNvPr>
          <p:cNvSpPr txBox="1"/>
          <p:nvPr/>
        </p:nvSpPr>
        <p:spPr>
          <a:xfrm>
            <a:off x="4906650" y="1851863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22247537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FA1FB-37A4-5A49-792B-9D4C50C63A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Bus</a:t>
                </a:r>
                <a:r>
                  <a:rPr lang="en-US" dirty="0"/>
                  <a:t>:  A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shared</a:t>
                </a:r>
                <a:r>
                  <a:rPr lang="en-US" dirty="0"/>
                  <a:t> communication pathway for multiple units</a:t>
                </a:r>
              </a:p>
              <a:p>
                <a:pPr lvl="1"/>
                <a:r>
                  <a:rPr lang="en-US" dirty="0"/>
                  <a:t>Physically a set of wires </a:t>
                </a:r>
              </a:p>
              <a:p>
                <a:pPr lvl="1"/>
                <a:r>
                  <a:rPr lang="en-US" dirty="0"/>
                  <a:t>For data, addresses, and control</a:t>
                </a:r>
              </a:p>
              <a:p>
                <a:pPr lvl="1"/>
                <a:r>
                  <a:rPr lang="en-US" dirty="0"/>
                  <a:t>A shared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protocol</a:t>
                </a:r>
                <a:r>
                  <a:rPr lang="en-US" dirty="0"/>
                  <a:t> so only unit drives the bus at a time</a:t>
                </a:r>
              </a:p>
              <a:p>
                <a:r>
                  <a:rPr lang="en-US" dirty="0"/>
                  <a:t>Many examples: </a:t>
                </a:r>
              </a:p>
              <a:p>
                <a:pPr lvl="1"/>
                <a:r>
                  <a:rPr lang="en-US" dirty="0"/>
                  <a:t>Multiple memory units connected to a common data bus</a:t>
                </a:r>
              </a:p>
              <a:p>
                <a:pPr lvl="1"/>
                <a:r>
                  <a:rPr lang="en-US" dirty="0"/>
                  <a:t>A processor and multiple memory units sharing address or data</a:t>
                </a:r>
              </a:p>
              <a:p>
                <a:pPr lvl="1"/>
                <a:r>
                  <a:rPr lang="en-US" dirty="0"/>
                  <a:t>Multiple peripherals on an SoC sharing an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AXI bus</a:t>
                </a:r>
              </a:p>
              <a:p>
                <a:pPr lvl="1"/>
                <a:r>
                  <a:rPr lang="en-US" dirty="0"/>
                  <a:t>Multiple devices on an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b="0" i="1" smtClean="0">
                            <a:solidFill>
                              <a:schemeClr val="accent1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 </a:t>
                </a:r>
                <a:r>
                  <a:rPr lang="en-US" dirty="0"/>
                  <a:t>or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SPI bus</a:t>
                </a:r>
              </a:p>
              <a:p>
                <a:pPr lvl="1"/>
                <a:r>
                  <a:rPr lang="en-US" dirty="0"/>
                  <a:t>…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975CCBB-9E49-9D87-05AC-A5E3351341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402070" cy="4329817"/>
              </a:xfrm>
              <a:blipFill>
                <a:blip r:embed="rId2"/>
                <a:stretch>
                  <a:fillRect l="-2286" t="-1549" r="-2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B8CD7-B43C-D0F5-BCA5-90C5EF28FC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7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DE3B62-22F5-2CDA-7CC1-82F08CC8E43E}"/>
              </a:ext>
            </a:extLst>
          </p:cNvPr>
          <p:cNvSpPr/>
          <p:nvPr/>
        </p:nvSpPr>
        <p:spPr>
          <a:xfrm>
            <a:off x="8809535" y="2295478"/>
            <a:ext cx="264209" cy="2562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491DA0-4A47-A53E-7211-859E145A451D}"/>
              </a:ext>
            </a:extLst>
          </p:cNvPr>
          <p:cNvSpPr/>
          <p:nvPr/>
        </p:nvSpPr>
        <p:spPr>
          <a:xfrm>
            <a:off x="9640856" y="2489199"/>
            <a:ext cx="723900" cy="490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42983E-F41F-9A75-7633-0E5DD968538E}"/>
              </a:ext>
            </a:extLst>
          </p:cNvPr>
          <p:cNvSpPr/>
          <p:nvPr/>
        </p:nvSpPr>
        <p:spPr>
          <a:xfrm>
            <a:off x="9640856" y="3176758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616781F-27AE-DA2B-1D57-8C90A5EDBFC3}"/>
              </a:ext>
            </a:extLst>
          </p:cNvPr>
          <p:cNvSpPr/>
          <p:nvPr/>
        </p:nvSpPr>
        <p:spPr>
          <a:xfrm>
            <a:off x="9640856" y="3911596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044D5A6-B738-1D9B-0A61-AE644DAFFAA8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9073744" y="2734269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18C7B27-EF5B-AA1A-75E3-0B3B3EB603F6}"/>
              </a:ext>
            </a:extLst>
          </p:cNvPr>
          <p:cNvCxnSpPr>
            <a:cxnSpLocks/>
          </p:cNvCxnSpPr>
          <p:nvPr/>
        </p:nvCxnSpPr>
        <p:spPr>
          <a:xfrm>
            <a:off x="9092388" y="342900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862F8B8-6F50-BF8D-C185-3898B21A04F8}"/>
              </a:ext>
            </a:extLst>
          </p:cNvPr>
          <p:cNvCxnSpPr>
            <a:cxnSpLocks/>
          </p:cNvCxnSpPr>
          <p:nvPr/>
        </p:nvCxnSpPr>
        <p:spPr>
          <a:xfrm>
            <a:off x="9092388" y="4165600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18F4210-BC2A-F411-3A2C-CBAD68DE1FF3}"/>
              </a:ext>
            </a:extLst>
          </p:cNvPr>
          <p:cNvSpPr txBox="1"/>
          <p:nvPr/>
        </p:nvSpPr>
        <p:spPr>
          <a:xfrm>
            <a:off x="8629650" y="1811972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</p:spTree>
    <p:extLst>
      <p:ext uri="{BB962C8B-B14F-4D97-AF65-F5344CB8AC3E}">
        <p14:creationId xmlns:p14="http://schemas.microsoft.com/office/powerpoint/2010/main" val="1422591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C73B9B-E09A-EA03-11C8-9BC5E8C9E7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</p:spPr>
            <p:txBody>
              <a:bodyPr/>
              <a:lstStyle/>
              <a:p>
                <a:r>
                  <a:rPr lang="en-US" dirty="0"/>
                  <a:t>Method to share a common bus</a:t>
                </a:r>
              </a:p>
              <a:p>
                <a:pPr lvl="1"/>
                <a:r>
                  <a:rPr lang="en-US" dirty="0"/>
                  <a:t>One unit drives a value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on the bus</a:t>
                </a:r>
              </a:p>
              <a:p>
                <a:pPr lvl="1"/>
                <a:r>
                  <a:rPr lang="en-US" dirty="0"/>
                  <a:t>Other units go into a </a:t>
                </a:r>
                <a:r>
                  <a:rPr lang="en-US" dirty="0">
                    <a:solidFill>
                      <a:schemeClr val="tx2">
                        <a:lumMod val="60000"/>
                        <a:lumOff val="40000"/>
                      </a:schemeClr>
                    </a:solidFill>
                  </a:rPr>
                  <a:t>high-impedance state</a:t>
                </a:r>
                <a:r>
                  <a:rPr lang="en-US" dirty="0"/>
                  <a:t>, noted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US" dirty="0"/>
                  <a:t>	</a:t>
                </a:r>
              </a:p>
              <a:p>
                <a:pPr lvl="1"/>
                <a:r>
                  <a:rPr lang="en-US" dirty="0"/>
                  <a:t>High impedance units are disconnected</a:t>
                </a:r>
              </a:p>
              <a:p>
                <a:pPr lvl="1"/>
                <a:r>
                  <a:rPr lang="en-US" dirty="0"/>
                  <a:t>Bus value=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/>
                  <a:t> </a:t>
                </a:r>
              </a:p>
              <a:p>
                <a:r>
                  <a:rPr lang="en-US" dirty="0"/>
                  <a:t>Sometimes called </a:t>
                </a:r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Tri-State</a:t>
                </a:r>
              </a:p>
              <a:p>
                <a:pPr lvl="1"/>
                <a:r>
                  <a:rPr lang="en-US" dirty="0"/>
                  <a:t>Each bit is 0, 1 or Z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1A38595-AF86-6AE6-472C-D2417F214AF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5836920" cy="4329817"/>
              </a:xfrm>
              <a:blipFill>
                <a:blip r:embed="rId2"/>
                <a:stretch>
                  <a:fillRect l="-250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B3FED2-49B6-B908-8B3D-17CE46E7C6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8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F8F0D0-15D4-7B7D-EFDE-BE664922BC33}"/>
              </a:ext>
            </a:extLst>
          </p:cNvPr>
          <p:cNvSpPr/>
          <p:nvPr/>
        </p:nvSpPr>
        <p:spPr>
          <a:xfrm>
            <a:off x="10041435" y="2147864"/>
            <a:ext cx="264209" cy="2562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85371FE-FE60-2B31-10B3-18FCE3695AC5}"/>
              </a:ext>
            </a:extLst>
          </p:cNvPr>
          <p:cNvSpPr/>
          <p:nvPr/>
        </p:nvSpPr>
        <p:spPr>
          <a:xfrm>
            <a:off x="10872756" y="2341585"/>
            <a:ext cx="723900" cy="490139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D0F9C7E-BADB-6912-67F9-42FAB96D5A06}"/>
              </a:ext>
            </a:extLst>
          </p:cNvPr>
          <p:cNvSpPr/>
          <p:nvPr/>
        </p:nvSpPr>
        <p:spPr>
          <a:xfrm>
            <a:off x="10872756" y="3029144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FD0101-2579-EB79-A1E9-62035E3B92C0}"/>
              </a:ext>
            </a:extLst>
          </p:cNvPr>
          <p:cNvSpPr/>
          <p:nvPr/>
        </p:nvSpPr>
        <p:spPr>
          <a:xfrm>
            <a:off x="10872756" y="3763982"/>
            <a:ext cx="723900" cy="49013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C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4CC64FE9-F436-6DC0-C46F-D280BC45C160}"/>
              </a:ext>
            </a:extLst>
          </p:cNvPr>
          <p:cNvCxnSpPr>
            <a:cxnSpLocks/>
            <a:endCxn id="6" idx="1"/>
          </p:cNvCxnSpPr>
          <p:nvPr/>
        </p:nvCxnSpPr>
        <p:spPr>
          <a:xfrm>
            <a:off x="10305644" y="2586655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535F6F6-5307-2CF5-6EFA-AB6404B6DCD4}"/>
              </a:ext>
            </a:extLst>
          </p:cNvPr>
          <p:cNvCxnSpPr>
            <a:cxnSpLocks/>
          </p:cNvCxnSpPr>
          <p:nvPr/>
        </p:nvCxnSpPr>
        <p:spPr>
          <a:xfrm>
            <a:off x="10324288" y="3281386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09F5E75-DDC1-6236-BD13-4AB52E60F166}"/>
              </a:ext>
            </a:extLst>
          </p:cNvPr>
          <p:cNvCxnSpPr>
            <a:cxnSpLocks/>
          </p:cNvCxnSpPr>
          <p:nvPr/>
        </p:nvCxnSpPr>
        <p:spPr>
          <a:xfrm>
            <a:off x="10324288" y="4017986"/>
            <a:ext cx="567112" cy="0"/>
          </a:xfrm>
          <a:prstGeom prst="straightConnector1">
            <a:avLst/>
          </a:prstGeom>
          <a:ln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4106380-1DBB-CF00-D24C-72351E405B3E}"/>
              </a:ext>
            </a:extLst>
          </p:cNvPr>
          <p:cNvSpPr txBox="1"/>
          <p:nvPr/>
        </p:nvSpPr>
        <p:spPr>
          <a:xfrm>
            <a:off x="9912890" y="1673147"/>
            <a:ext cx="5212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</a:t>
            </a:r>
          </a:p>
        </p:txBody>
      </p:sp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C197165-257C-FFD5-A176-83C15926E8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951106"/>
              </p:ext>
            </p:extLst>
          </p:nvPr>
        </p:nvGraphicFramePr>
        <p:xfrm>
          <a:off x="1211580" y="4009051"/>
          <a:ext cx="755777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3570">
                  <a:extLst>
                    <a:ext uri="{9D8B030D-6E8A-4147-A177-3AD203B41FA5}">
                      <a16:colId xmlns:a16="http://schemas.microsoft.com/office/drawing/2014/main" val="1156041786"/>
                    </a:ext>
                  </a:extLst>
                </a:gridCol>
                <a:gridCol w="704850">
                  <a:extLst>
                    <a:ext uri="{9D8B030D-6E8A-4147-A177-3AD203B41FA5}">
                      <a16:colId xmlns:a16="http://schemas.microsoft.com/office/drawing/2014/main" val="2457232743"/>
                    </a:ext>
                  </a:extLst>
                </a:gridCol>
                <a:gridCol w="736600">
                  <a:extLst>
                    <a:ext uri="{9D8B030D-6E8A-4147-A177-3AD203B41FA5}">
                      <a16:colId xmlns:a16="http://schemas.microsoft.com/office/drawing/2014/main" val="2240075927"/>
                    </a:ext>
                  </a:extLst>
                </a:gridCol>
                <a:gridCol w="1485900">
                  <a:extLst>
                    <a:ext uri="{9D8B030D-6E8A-4147-A177-3AD203B41FA5}">
                      <a16:colId xmlns:a16="http://schemas.microsoft.com/office/drawing/2014/main" val="362277745"/>
                    </a:ext>
                  </a:extLst>
                </a:gridCol>
                <a:gridCol w="4006850">
                  <a:extLst>
                    <a:ext uri="{9D8B030D-6E8A-4147-A177-3AD203B41FA5}">
                      <a16:colId xmlns:a16="http://schemas.microsoft.com/office/drawing/2014/main" val="2343733387"/>
                    </a:ext>
                  </a:extLst>
                </a:gridCol>
              </a:tblGrid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Bus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Remarks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1031490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B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4383036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A drives bus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3915302"/>
                  </a:ext>
                </a:extLst>
              </a:tr>
              <a:tr h="320904"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No driver- no reliable value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9809493"/>
                  </a:ext>
                </a:extLst>
              </a:tr>
              <a:tr h="561582"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00B050"/>
                          </a:solidFill>
                        </a:rPr>
                        <a:t>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Z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>
                          <a:solidFill>
                            <a:srgbClr val="FF0000"/>
                          </a:solidFill>
                        </a:rPr>
                        <a:t>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Collision of A, B – no reliable value</a:t>
                      </a:r>
                      <a:br>
                        <a:rPr lang="en-US" sz="1600" dirty="0"/>
                      </a:br>
                      <a:r>
                        <a:rPr lang="en-US" sz="1600" dirty="0"/>
                        <a:t>Protocols will avoid this condition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99090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410202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257BF-391D-1E04-0C85-233E14127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High Impedance on a Data Bus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</p:spPr>
            <p:txBody>
              <a:bodyPr/>
              <a:lstStyle/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read </a:t>
                </a:r>
                <a:r>
                  <a:rPr lang="en-US" dirty="0"/>
                  <a:t>(Tri-State Bus)</a:t>
                </a:r>
              </a:p>
              <a:p>
                <a:pPr lvl="1"/>
                <a:r>
                  <a:rPr lang="en-US" dirty="0"/>
                  <a:t>Selected memory element drives its value</a:t>
                </a:r>
              </a:p>
              <a:p>
                <a:pPr lvl="1"/>
                <a:r>
                  <a:rPr lang="en-US" dirty="0"/>
                  <a:t>Other units go to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Data bus value = selected memory element’s value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Memory write </a:t>
                </a:r>
                <a:r>
                  <a:rPr lang="en-US" dirty="0"/>
                  <a:t>(Broadcast + Selective Capture)</a:t>
                </a:r>
              </a:p>
              <a:p>
                <a:pPr lvl="1"/>
                <a:r>
                  <a:rPr lang="en-US" dirty="0"/>
                  <a:t>Data bus value appears at all units</a:t>
                </a:r>
              </a:p>
              <a:p>
                <a:pPr lvl="1"/>
                <a:r>
                  <a:rPr lang="en-US" dirty="0"/>
                  <a:t>Selected element loads value into its storage element</a:t>
                </a:r>
              </a:p>
              <a:p>
                <a:pPr lvl="1"/>
                <a:r>
                  <a:rPr lang="en-US" dirty="0"/>
                  <a:t>Other elements ignore value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5300028-2CDF-4220-8748-1D922A8D01C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109472" y="1539277"/>
                <a:ext cx="6046207" cy="4329817"/>
              </a:xfrm>
              <a:blipFill>
                <a:blip r:embed="rId2"/>
                <a:stretch>
                  <a:fillRect l="-241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CF2C19-7D1D-22D3-20FF-3E321E189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9</a:t>
            </a:fld>
            <a:endParaRPr lang="en-US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DA94C02-13A2-DC4B-47B1-C0BBD9BBE1B5}"/>
              </a:ext>
            </a:extLst>
          </p:cNvPr>
          <p:cNvSpPr/>
          <p:nvPr/>
        </p:nvSpPr>
        <p:spPr>
          <a:xfrm>
            <a:off x="1592556" y="2108967"/>
            <a:ext cx="914317" cy="2640065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D20E056-ED82-35AD-1B93-4C06622FBC65}"/>
              </a:ext>
            </a:extLst>
          </p:cNvPr>
          <p:cNvSpPr/>
          <p:nvPr/>
        </p:nvSpPr>
        <p:spPr>
          <a:xfrm>
            <a:off x="3255497" y="1969515"/>
            <a:ext cx="310060" cy="2882346"/>
          </a:xfrm>
          <a:prstGeom prst="rect">
            <a:avLst/>
          </a:prstGeom>
          <a:solidFill>
            <a:srgbClr val="CCFF99"/>
          </a:solidFill>
          <a:ln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9954B05-670C-B7F5-AE7B-C6F93EEC39F1}"/>
              </a:ext>
            </a:extLst>
          </p:cNvPr>
          <p:cNvSpPr/>
          <p:nvPr/>
        </p:nvSpPr>
        <p:spPr>
          <a:xfrm>
            <a:off x="1602321" y="2699784"/>
            <a:ext cx="914317" cy="304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08CD2BB3-D531-33F8-D9C2-9CF309256B45}"/>
              </a:ext>
            </a:extLst>
          </p:cNvPr>
          <p:cNvCxnSpPr>
            <a:cxnSpLocks/>
          </p:cNvCxnSpPr>
          <p:nvPr/>
        </p:nvCxnSpPr>
        <p:spPr>
          <a:xfrm flipH="1">
            <a:off x="834115" y="2276919"/>
            <a:ext cx="30388" cy="2334152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7BDB80-7E23-E2F4-2BF1-59C9549508AF}"/>
                  </a:ext>
                </a:extLst>
              </p:cNvPr>
              <p:cNvSpPr txBox="1"/>
              <p:nvPr/>
            </p:nvSpPr>
            <p:spPr>
              <a:xfrm>
                <a:off x="1880667" y="3273538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57BDB80-7E23-E2F4-2BF1-59C9549508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667" y="3273538"/>
                <a:ext cx="34977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621F63F-99ED-EF52-A2B0-F719055234E8}"/>
                  </a:ext>
                </a:extLst>
              </p:cNvPr>
              <p:cNvSpPr txBox="1"/>
              <p:nvPr/>
            </p:nvSpPr>
            <p:spPr>
              <a:xfrm>
                <a:off x="1031191" y="334521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6621F63F-99ED-EF52-A2B0-F719055234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1191" y="3345214"/>
                <a:ext cx="349775" cy="461665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3">
            <a:extLst>
              <a:ext uri="{FF2B5EF4-FFF2-40B4-BE49-F238E27FC236}">
                <a16:creationId xmlns:a16="http://schemas.microsoft.com/office/drawing/2014/main" id="{F6AB511F-4E17-66C5-854E-638563562FB6}"/>
              </a:ext>
            </a:extLst>
          </p:cNvPr>
          <p:cNvGrpSpPr/>
          <p:nvPr/>
        </p:nvGrpSpPr>
        <p:grpSpPr>
          <a:xfrm>
            <a:off x="857877" y="2108967"/>
            <a:ext cx="2397325" cy="296148"/>
            <a:chOff x="3167386" y="2308781"/>
            <a:chExt cx="2397325" cy="296148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BACA92F-F4F8-B130-84FB-54AEBF3251D5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0B254A6-B156-3540-02C0-43AAF3719FCA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29A155DD-5D59-E66A-0398-63A1638B3615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Arrow Connector 27">
              <a:extLst>
                <a:ext uri="{FF2B5EF4-FFF2-40B4-BE49-F238E27FC236}">
                  <a16:creationId xmlns:a16="http://schemas.microsoft.com/office/drawing/2014/main" id="{050EFBAB-50DD-EF8B-BF52-3EBAD1A5143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6EE6398-7462-290E-8924-53FA138D28A7}"/>
              </a:ext>
            </a:extLst>
          </p:cNvPr>
          <p:cNvCxnSpPr/>
          <p:nvPr/>
        </p:nvCxnSpPr>
        <p:spPr>
          <a:xfrm>
            <a:off x="862671" y="2869053"/>
            <a:ext cx="738563" cy="0"/>
          </a:xfrm>
          <a:prstGeom prst="straightConnector1">
            <a:avLst/>
          </a:prstGeom>
          <a:ln w="25400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C63A49A2-9D6E-3D1A-9A05-79B3A342BE8A}"/>
              </a:ext>
            </a:extLst>
          </p:cNvPr>
          <p:cNvSpPr/>
          <p:nvPr/>
        </p:nvSpPr>
        <p:spPr>
          <a:xfrm>
            <a:off x="1600407" y="2705308"/>
            <a:ext cx="914400" cy="29614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7E113D02-B2F9-F4B3-A22B-30328113AD19}"/>
              </a:ext>
            </a:extLst>
          </p:cNvPr>
          <p:cNvCxnSpPr/>
          <p:nvPr/>
        </p:nvCxnSpPr>
        <p:spPr>
          <a:xfrm>
            <a:off x="2521433" y="2904337"/>
            <a:ext cx="738563" cy="0"/>
          </a:xfrm>
          <a:prstGeom prst="straightConnector1">
            <a:avLst/>
          </a:prstGeom>
          <a:ln>
            <a:solidFill>
              <a:srgbClr val="00B05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CE602BAF-A5DF-DBDA-01D5-6FB072B22980}"/>
              </a:ext>
            </a:extLst>
          </p:cNvPr>
          <p:cNvCxnSpPr>
            <a:cxnSpLocks/>
          </p:cNvCxnSpPr>
          <p:nvPr/>
        </p:nvCxnSpPr>
        <p:spPr>
          <a:xfrm flipH="1">
            <a:off x="2521433" y="2802630"/>
            <a:ext cx="3812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4EE090F-6804-25A1-3637-B47502717961}"/>
              </a:ext>
            </a:extLst>
          </p:cNvPr>
          <p:cNvCxnSpPr>
            <a:cxnSpLocks/>
          </p:cNvCxnSpPr>
          <p:nvPr/>
        </p:nvCxnSpPr>
        <p:spPr>
          <a:xfrm flipH="1">
            <a:off x="2884927" y="1969515"/>
            <a:ext cx="12957" cy="258069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8FDA5543-136F-E6C5-2AAF-032FA4714C4F}"/>
              </a:ext>
            </a:extLst>
          </p:cNvPr>
          <p:cNvSpPr txBox="1"/>
          <p:nvPr/>
        </p:nvSpPr>
        <p:spPr>
          <a:xfrm>
            <a:off x="3136739" y="1430323"/>
            <a:ext cx="5713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rgbClr val="00B050"/>
                </a:solidFill>
              </a:rPr>
              <a:t>Data</a:t>
            </a:r>
            <a:br>
              <a:rPr lang="en-US" sz="1600" dirty="0">
                <a:solidFill>
                  <a:srgbClr val="00B050"/>
                </a:solidFill>
              </a:rPr>
            </a:br>
            <a:r>
              <a:rPr lang="en-US" sz="1600" dirty="0">
                <a:solidFill>
                  <a:srgbClr val="00B050"/>
                </a:solidFill>
              </a:rPr>
              <a:t>Bus</a:t>
            </a:r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3BC489C-E5FB-7321-08CA-252B9E079285}"/>
              </a:ext>
            </a:extLst>
          </p:cNvPr>
          <p:cNvGrpSpPr/>
          <p:nvPr/>
        </p:nvGrpSpPr>
        <p:grpSpPr>
          <a:xfrm>
            <a:off x="853993" y="2406016"/>
            <a:ext cx="2397325" cy="296148"/>
            <a:chOff x="3167386" y="2308781"/>
            <a:chExt cx="2397325" cy="296148"/>
          </a:xfrm>
        </p:grpSpPr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655D200-663A-91C5-A071-A9B37030A377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2D5E53AA-6FC1-67C3-54D8-893DD428D8B3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8" name="Straight Arrow Connector 37">
              <a:extLst>
                <a:ext uri="{FF2B5EF4-FFF2-40B4-BE49-F238E27FC236}">
                  <a16:creationId xmlns:a16="http://schemas.microsoft.com/office/drawing/2014/main" id="{BFCF5BFF-464E-DC46-5B7C-F06455340D24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15584630-337E-6A8B-937B-A087711E89F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69CBE185-74E3-A765-2B39-0F6505D0EC63}"/>
              </a:ext>
            </a:extLst>
          </p:cNvPr>
          <p:cNvGrpSpPr/>
          <p:nvPr/>
        </p:nvGrpSpPr>
        <p:grpSpPr>
          <a:xfrm>
            <a:off x="840741" y="4452887"/>
            <a:ext cx="2397325" cy="296148"/>
            <a:chOff x="3167386" y="2308781"/>
            <a:chExt cx="2397325" cy="296148"/>
          </a:xfrm>
        </p:grpSpPr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A09AF0B9-1C73-88ED-E562-0B07B7E73E7A}"/>
                </a:ext>
              </a:extLst>
            </p:cNvPr>
            <p:cNvCxnSpPr/>
            <p:nvPr/>
          </p:nvCxnSpPr>
          <p:spPr>
            <a:xfrm>
              <a:off x="3167386" y="2472526"/>
              <a:ext cx="738563" cy="0"/>
            </a:xfrm>
            <a:prstGeom prst="straightConnector1">
              <a:avLst/>
            </a:prstGeom>
            <a:ln>
              <a:solidFill>
                <a:schemeClr val="accent6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E4F036C-7C02-EC3D-6BF5-9B24F1FD78B8}"/>
                </a:ext>
              </a:extLst>
            </p:cNvPr>
            <p:cNvSpPr/>
            <p:nvPr/>
          </p:nvSpPr>
          <p:spPr>
            <a:xfrm>
              <a:off x="3911748" y="2308781"/>
              <a:ext cx="914400" cy="296148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33DA15D9-146F-3AAE-7D1E-8AE8D6F3721F}"/>
                </a:ext>
              </a:extLst>
            </p:cNvPr>
            <p:cNvCxnSpPr/>
            <p:nvPr/>
          </p:nvCxnSpPr>
          <p:spPr>
            <a:xfrm>
              <a:off x="4826148" y="2507810"/>
              <a:ext cx="738563" cy="0"/>
            </a:xfrm>
            <a:prstGeom prst="straightConnector1">
              <a:avLst/>
            </a:prstGeom>
            <a:ln>
              <a:solidFill>
                <a:srgbClr val="00B050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EB1BEEA5-675E-F86C-DD2D-D7306949E6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826148" y="2406103"/>
              <a:ext cx="381245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9EBC92E-E617-9445-1A35-E5508B409537}"/>
                  </a:ext>
                </a:extLst>
              </p:cNvPr>
              <p:cNvSpPr txBox="1"/>
              <p:nvPr/>
            </p:nvSpPr>
            <p:spPr>
              <a:xfrm>
                <a:off x="1641904" y="1508948"/>
                <a:ext cx="80079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600" b="0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 data </a:t>
                </a:r>
                <a:b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</a:br>
                <a:r>
                  <a:rPr lang="en-US" sz="1600" dirty="0">
                    <a:solidFill>
                      <a:schemeClr val="accent2">
                        <a:lumMod val="75000"/>
                      </a:schemeClr>
                    </a:solidFill>
                  </a:rPr>
                  <a:t>words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29EBC92E-E617-9445-1A35-E5508B4095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41904" y="1508948"/>
                <a:ext cx="800797" cy="584775"/>
              </a:xfrm>
              <a:prstGeom prst="rect">
                <a:avLst/>
              </a:prstGeom>
              <a:blipFill>
                <a:blip r:embed="rId5"/>
                <a:stretch>
                  <a:fillRect l="-3788" t="-3158" r="-3030" b="-136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TextBox 45">
            <a:extLst>
              <a:ext uri="{FF2B5EF4-FFF2-40B4-BE49-F238E27FC236}">
                <a16:creationId xmlns:a16="http://schemas.microsoft.com/office/drawing/2014/main" id="{61A2F84E-686A-BA7E-933D-AC43330534D5}"/>
              </a:ext>
            </a:extLst>
          </p:cNvPr>
          <p:cNvSpPr txBox="1"/>
          <p:nvPr/>
        </p:nvSpPr>
        <p:spPr>
          <a:xfrm>
            <a:off x="2597141" y="1652049"/>
            <a:ext cx="5581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>
                <a:solidFill>
                  <a:schemeClr val="accent2">
                    <a:lumMod val="75000"/>
                  </a:schemeClr>
                </a:solidFill>
              </a:rPr>
              <a:t>R/W</a:t>
            </a:r>
          </a:p>
        </p:txBody>
      </p:sp>
    </p:spTree>
    <p:extLst>
      <p:ext uri="{BB962C8B-B14F-4D97-AF65-F5344CB8AC3E}">
        <p14:creationId xmlns:p14="http://schemas.microsoft.com/office/powerpoint/2010/main" val="40783706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FBA5F6-5E26-8D75-0855-34784D07E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Memory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C604F48-B267-0EB5-F448-3F2C70F749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2ACFC2D-1B84-87FE-050E-FD07883AEBD7}"/>
              </a:ext>
            </a:extLst>
          </p:cNvPr>
          <p:cNvSpPr/>
          <p:nvPr/>
        </p:nvSpPr>
        <p:spPr>
          <a:xfrm>
            <a:off x="6126480" y="1716882"/>
            <a:ext cx="2333626" cy="171211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B9163E-7D9A-1AE1-2866-60DFFE8BB4E1}"/>
              </a:ext>
            </a:extLst>
          </p:cNvPr>
          <p:cNvSpPr/>
          <p:nvPr/>
        </p:nvSpPr>
        <p:spPr>
          <a:xfrm>
            <a:off x="6347461" y="1958474"/>
            <a:ext cx="555047" cy="97046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B89316-B2AE-7670-EB3C-140481039C92}"/>
              </a:ext>
            </a:extLst>
          </p:cNvPr>
          <p:cNvSpPr/>
          <p:nvPr/>
        </p:nvSpPr>
        <p:spPr>
          <a:xfrm>
            <a:off x="2411731" y="1716882"/>
            <a:ext cx="1557338" cy="157638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75E2EFC-8925-D4F0-A25A-E8DFEB3B51F6}"/>
              </a:ext>
            </a:extLst>
          </p:cNvPr>
          <p:cNvSpPr txBox="1"/>
          <p:nvPr/>
        </p:nvSpPr>
        <p:spPr>
          <a:xfrm>
            <a:off x="2200275" y="3683338"/>
            <a:ext cx="269221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External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Off-chip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High capacity (GBs)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But need I/O to process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D38DF3-3485-2F4B-1316-2DD1598A958D}"/>
              </a:ext>
            </a:extLst>
          </p:cNvPr>
          <p:cNvSpPr txBox="1"/>
          <p:nvPr/>
        </p:nvSpPr>
        <p:spPr>
          <a:xfrm>
            <a:off x="6053138" y="3670592"/>
            <a:ext cx="2988960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Internal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On-chip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capacity (KB-MB)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Direct access to processing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Low latency</a:t>
            </a:r>
          </a:p>
        </p:txBody>
      </p:sp>
      <p:sp>
        <p:nvSpPr>
          <p:cNvPr id="14" name="Arrow: Left-Right 13">
            <a:extLst>
              <a:ext uri="{FF2B5EF4-FFF2-40B4-BE49-F238E27FC236}">
                <a16:creationId xmlns:a16="http://schemas.microsoft.com/office/drawing/2014/main" id="{0D48810D-D9E9-B3C0-8B74-6CDF87B71BFB}"/>
              </a:ext>
            </a:extLst>
          </p:cNvPr>
          <p:cNvSpPr/>
          <p:nvPr/>
        </p:nvSpPr>
        <p:spPr>
          <a:xfrm>
            <a:off x="4094799" y="2404157"/>
            <a:ext cx="1905950" cy="337567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282818-847C-0494-0016-5878FD2289A2}"/>
              </a:ext>
            </a:extLst>
          </p:cNvPr>
          <p:cNvSpPr txBox="1"/>
          <p:nvPr/>
        </p:nvSpPr>
        <p:spPr>
          <a:xfrm>
            <a:off x="8585837" y="1680819"/>
            <a:ext cx="123091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Processing </a:t>
            </a:r>
            <a:b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</a:b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</a:t>
            </a:r>
          </a:p>
        </p:txBody>
      </p:sp>
    </p:spTree>
    <p:extLst>
      <p:ext uri="{BB962C8B-B14F-4D97-AF65-F5344CB8AC3E}">
        <p14:creationId xmlns:p14="http://schemas.microsoft.com/office/powerpoint/2010/main" val="2767760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FC95-1F0D-DB56-A957-3EBE15A741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vs. Internal Compared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BC73CA-4C9C-E40B-560C-2F7688034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2B0ECCD-A753-5336-A610-E9661F37E1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9129" y="1452456"/>
            <a:ext cx="6753572" cy="4134062"/>
          </a:xfrm>
          <a:prstGeom prst="rect">
            <a:avLst/>
          </a:prstGeom>
        </p:spPr>
      </p:pic>
      <p:pic>
        <p:nvPicPr>
          <p:cNvPr id="2050" name="Picture 2" descr="DRAM cells structure. | Download ...">
            <a:extLst>
              <a:ext uri="{FF2B5EF4-FFF2-40B4-BE49-F238E27FC236}">
                <a16:creationId xmlns:a16="http://schemas.microsoft.com/office/drawing/2014/main" id="{2618FF11-6E0C-3F8D-066C-DB8CF2D5D2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94982" y="4397376"/>
            <a:ext cx="1795462" cy="115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transistors - SRAM memory cell - what ...">
            <a:extLst>
              <a:ext uri="{FF2B5EF4-FFF2-40B4-BE49-F238E27FC236}">
                <a16:creationId xmlns:a16="http://schemas.microsoft.com/office/drawing/2014/main" id="{747C7916-0D02-2F3E-236E-65DAA4EB1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25584" y="1824038"/>
            <a:ext cx="2134258" cy="16049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7017C22-E701-DCC7-6270-5673A4603CE0}"/>
              </a:ext>
            </a:extLst>
          </p:cNvPr>
          <p:cNvSpPr txBox="1"/>
          <p:nvPr/>
        </p:nvSpPr>
        <p:spPr>
          <a:xfrm>
            <a:off x="9346794" y="1450123"/>
            <a:ext cx="1117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SRAM cell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EC8240-B1AC-AE30-3528-0D9BDB231CBB}"/>
              </a:ext>
            </a:extLst>
          </p:cNvPr>
          <p:cNvSpPr txBox="1"/>
          <p:nvPr/>
        </p:nvSpPr>
        <p:spPr>
          <a:xfrm>
            <a:off x="9443999" y="3825623"/>
            <a:ext cx="1154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DRAM cell</a:t>
            </a:r>
          </a:p>
        </p:txBody>
      </p:sp>
    </p:spTree>
    <p:extLst>
      <p:ext uri="{BB962C8B-B14F-4D97-AF65-F5344CB8AC3E}">
        <p14:creationId xmlns:p14="http://schemas.microsoft.com/office/powerpoint/2010/main" val="27839974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1E590-AABB-9C8F-D802-15136EA529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Memory Internal Sizes</a:t>
            </a:r>
          </a:p>
        </p:txBody>
      </p:sp>
      <p:graphicFrame>
        <p:nvGraphicFramePr>
          <p:cNvPr id="11" name="Content Placeholder 10">
            <a:extLst>
              <a:ext uri="{FF2B5EF4-FFF2-40B4-BE49-F238E27FC236}">
                <a16:creationId xmlns:a16="http://schemas.microsoft.com/office/drawing/2014/main" id="{FB4FF6BE-BD9F-368B-EE1F-F89BDD11526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06459562"/>
              </p:ext>
            </p:extLst>
          </p:nvPr>
        </p:nvGraphicFramePr>
        <p:xfrm>
          <a:off x="1097280" y="1654175"/>
          <a:ext cx="10058400" cy="23507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>
                  <a:extLst>
                    <a:ext uri="{9D8B030D-6E8A-4147-A177-3AD203B41FA5}">
                      <a16:colId xmlns:a16="http://schemas.microsoft.com/office/drawing/2014/main" val="3049324481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1098402917"/>
                    </a:ext>
                  </a:extLst>
                </a:gridCol>
                <a:gridCol w="1417637">
                  <a:extLst>
                    <a:ext uri="{9D8B030D-6E8A-4147-A177-3AD203B41FA5}">
                      <a16:colId xmlns:a16="http://schemas.microsoft.com/office/drawing/2014/main" val="2297578426"/>
                    </a:ext>
                  </a:extLst>
                </a:gridCol>
                <a:gridCol w="3611563">
                  <a:extLst>
                    <a:ext uri="{9D8B030D-6E8A-4147-A177-3AD203B41FA5}">
                      <a16:colId xmlns:a16="http://schemas.microsoft.com/office/drawing/2014/main" val="543605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Platform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On-Chip Memory Type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Typical Size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chemeClr val="bg1"/>
                          </a:solidFill>
                          <a:effectLst/>
                          <a:latin typeface="+mn-lt"/>
                        </a:rPr>
                        <a:t>Notes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902066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Laptop CPU (Intel Core)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 (L1/L2/L3)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20–40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L3 dominates; very fast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404200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NVIDIA A100 GPU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 (L2 cache)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~40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HBM2e (40–80 GB) is off-chip/on-package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3355791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Xilinx Virtex-7 FPGA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BRAM (36 </a:t>
                      </a:r>
                      <a:r>
                        <a:rPr lang="en-US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Kb</a:t>
                      </a: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 blocks)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2–6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Distributed across fabric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7128110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Custom ASIC </a:t>
                      </a:r>
                      <a:b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</a:b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(5 mm² @16nm)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SRAM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5–10 MB</a:t>
                      </a: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+mn-lt"/>
                        </a:rPr>
                        <a:t>Depends on layout &amp; redundancy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252215513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64AF5B-DE91-DE3A-1E11-3DE042405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12</a:t>
            </a:fld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83F3628-094B-23BC-C220-428CD41011E2}"/>
              </a:ext>
            </a:extLst>
          </p:cNvPr>
          <p:cNvSpPr/>
          <p:nvPr/>
        </p:nvSpPr>
        <p:spPr>
          <a:xfrm>
            <a:off x="2719386" y="4384676"/>
            <a:ext cx="6948489" cy="9144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000" dirty="0">
                <a:solidFill>
                  <a:schemeClr val="accent1"/>
                </a:solidFill>
              </a:rPr>
              <a:t>Lesson:  Internal memory is limited!   Use judiciously.</a:t>
            </a:r>
            <a:endParaRPr lang="en-US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47422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EC5342-EF7D-2AA1-35EE-9119B4DB2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Example:  Video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DD6E44-E25C-751E-6580-30F7D80549D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A video processor needs to store 8 frames of raw video</a:t>
                </a:r>
              </a:p>
              <a:p>
                <a:pPr lvl="1"/>
                <a:r>
                  <a:rPr lang="en-US" dirty="0"/>
                  <a:t>512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 </m:t>
                    </m:r>
                  </m:oMath>
                </a14:m>
                <a:r>
                  <a:rPr lang="en-US" dirty="0"/>
                  <a:t>512 pixels, 3 color channels, 8-bits per pixel</a:t>
                </a:r>
              </a:p>
              <a:p>
                <a:r>
                  <a:rPr lang="en-US" dirty="0"/>
                  <a:t>What is the memory capacity needed?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512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×512 </m:t>
                    </m:r>
                  </m:oMath>
                </a14:m>
                <a:r>
                  <a:rPr lang="en-US" dirty="0"/>
                  <a:t>pixels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×3</m:t>
                    </m:r>
                  </m:oMath>
                </a14:m>
                <a:r>
                  <a:rPr lang="en-US" dirty="0"/>
                  <a:t> channels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×8</m:t>
                    </m:r>
                  </m:oMath>
                </a14:m>
                <a:r>
                  <a:rPr lang="en-US" dirty="0"/>
                  <a:t> frames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×1</m:t>
                    </m:r>
                  </m:oMath>
                </a14:m>
                <a:r>
                  <a:rPr lang="en-US" dirty="0"/>
                  <a:t> B/pixel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/>
                  <a:t>6.2 MB</a:t>
                </a:r>
              </a:p>
              <a:p>
                <a:pPr lvl="1"/>
                <a:r>
                  <a:rPr lang="en-US" dirty="0"/>
                  <a:t>A sizeable portion of memory even on a large chip</a:t>
                </a:r>
              </a:p>
              <a:p>
                <a:r>
                  <a:rPr lang="en-US" dirty="0"/>
                  <a:t>If the data is stored as 32-bit words, how many words are in the storage</a:t>
                </a:r>
              </a:p>
              <a:p>
                <a:pPr lvl="1"/>
                <a:r>
                  <a:rPr lang="en-US" b="0" dirty="0"/>
                  <a:t>There are 4B/word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6.2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≈1.6 </m:t>
                    </m:r>
                  </m:oMath>
                </a14:m>
                <a:r>
                  <a:rPr lang="en-US" dirty="0"/>
                  <a:t>Mwords</a:t>
                </a:r>
              </a:p>
              <a:p>
                <a:r>
                  <a:rPr lang="en-US" dirty="0"/>
                  <a:t>How many address bits are needed assuming byte addressing?</a:t>
                </a:r>
              </a:p>
              <a:p>
                <a:pPr lvl="1"/>
                <a:r>
                  <a:rPr lang="en-US" dirty="0"/>
                  <a:t>For byte addressing we need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K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=9+9+3+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log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(3)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Smallest integer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=25</m:t>
                    </m:r>
                  </m:oMath>
                </a14:m>
                <a:r>
                  <a:rPr lang="en-US" dirty="0"/>
                  <a:t> bits 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ADD6E44-E25C-751E-6580-30F7D80549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4B9706-4D85-43A0-F10C-490CC85AC9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46121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7C0BB-2FDD-7159-2549-B5A98F86F2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DB5B64B-896C-630A-DAB2-0A10CAE4DA15}"/>
              </a:ext>
            </a:extLst>
          </p:cNvPr>
          <p:cNvSpPr/>
          <p:nvPr/>
        </p:nvSpPr>
        <p:spPr>
          <a:xfrm>
            <a:off x="8470899" y="1916987"/>
            <a:ext cx="1856932" cy="7357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DD08F72-C651-4ECE-C8A1-5D7735022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Registers vs. Block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F3E11-D038-6B52-A823-2710F9161F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/>
          <a:p>
            <a:r>
              <a:rPr lang="en-US" dirty="0"/>
              <a:t>We have seen two storage types</a:t>
            </a:r>
          </a:p>
          <a:p>
            <a:r>
              <a:rPr lang="en-US" sz="2400" dirty="0">
                <a:solidFill>
                  <a:schemeClr val="accent6"/>
                </a:solidFill>
              </a:rPr>
              <a:t>Registers</a:t>
            </a:r>
          </a:p>
          <a:p>
            <a:pPr lvl="1"/>
            <a:r>
              <a:rPr lang="en-US" sz="2000" dirty="0"/>
              <a:t>Typically implemented as flip-flops</a:t>
            </a:r>
          </a:p>
          <a:p>
            <a:pPr lvl="1"/>
            <a:r>
              <a:rPr lang="en-US" sz="2000" dirty="0"/>
              <a:t>Useful for small, individual data pieces</a:t>
            </a:r>
          </a:p>
          <a:p>
            <a:pPr lvl="1"/>
            <a:r>
              <a:rPr lang="en-US" sz="2000" dirty="0"/>
              <a:t>Control registers, intermediate calculations, …</a:t>
            </a:r>
          </a:p>
          <a:p>
            <a:r>
              <a:rPr lang="en-US" sz="2400" dirty="0">
                <a:solidFill>
                  <a:schemeClr val="accent1"/>
                </a:solidFill>
              </a:rPr>
              <a:t>Block memory</a:t>
            </a:r>
          </a:p>
          <a:p>
            <a:pPr lvl="1"/>
            <a:r>
              <a:rPr lang="en-US" sz="2000" dirty="0"/>
              <a:t>Typically, DRAM or SRAM</a:t>
            </a:r>
          </a:p>
          <a:p>
            <a:pPr lvl="1"/>
            <a:r>
              <a:rPr lang="en-US" sz="2000" dirty="0"/>
              <a:t>Ideal for large arrays</a:t>
            </a:r>
          </a:p>
          <a:p>
            <a:pPr lvl="1"/>
            <a:r>
              <a:rPr lang="en-US" sz="2000" dirty="0"/>
              <a:t>Vectors or arrays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C54D72-219D-4E3B-EE8F-8F47E220E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14</a:t>
            </a:fld>
            <a:endParaRPr lang="en-US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B1A75E4-CACE-E181-59AA-94B16B38D291}"/>
              </a:ext>
            </a:extLst>
          </p:cNvPr>
          <p:cNvSpPr/>
          <p:nvPr/>
        </p:nvSpPr>
        <p:spPr>
          <a:xfrm>
            <a:off x="8470900" y="3063092"/>
            <a:ext cx="1856932" cy="1838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63624AB-95DD-AC6E-5F02-604E6534F4D6}"/>
              </a:ext>
            </a:extLst>
          </p:cNvPr>
          <p:cNvSpPr/>
          <p:nvPr/>
        </p:nvSpPr>
        <p:spPr>
          <a:xfrm>
            <a:off x="8470899" y="1912144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E38B11-BBE1-6C9B-A141-9F8035670E39}"/>
              </a:ext>
            </a:extLst>
          </p:cNvPr>
          <p:cNvSpPr/>
          <p:nvPr/>
        </p:nvSpPr>
        <p:spPr>
          <a:xfrm>
            <a:off x="8470899" y="2096683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B1B6E2B-57AE-A4A2-01A1-3ED00C853FFF}"/>
              </a:ext>
            </a:extLst>
          </p:cNvPr>
          <p:cNvSpPr/>
          <p:nvPr/>
        </p:nvSpPr>
        <p:spPr>
          <a:xfrm>
            <a:off x="8470899" y="2282420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F5A7DA9-495E-79C7-E2A4-9022D4D318E8}"/>
              </a:ext>
            </a:extLst>
          </p:cNvPr>
          <p:cNvSpPr/>
          <p:nvPr/>
        </p:nvSpPr>
        <p:spPr>
          <a:xfrm>
            <a:off x="8470899" y="2466959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964835C-1BD4-6D2B-8540-986A83009567}"/>
              </a:ext>
            </a:extLst>
          </p:cNvPr>
          <p:cNvSpPr/>
          <p:nvPr/>
        </p:nvSpPr>
        <p:spPr>
          <a:xfrm>
            <a:off x="8470899" y="306309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F195057-071A-BBC8-B76B-9AA1BD57CD2F}"/>
              </a:ext>
            </a:extLst>
          </p:cNvPr>
          <p:cNvSpPr/>
          <p:nvPr/>
        </p:nvSpPr>
        <p:spPr>
          <a:xfrm>
            <a:off x="8470899" y="324763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370568E-BCEA-B0C9-0CD2-46FBE841E37E}"/>
              </a:ext>
            </a:extLst>
          </p:cNvPr>
          <p:cNvSpPr/>
          <p:nvPr/>
        </p:nvSpPr>
        <p:spPr>
          <a:xfrm>
            <a:off x="8470899" y="3433368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7A0560D-C6EB-E642-6A04-F270C624C96D}"/>
              </a:ext>
            </a:extLst>
          </p:cNvPr>
          <p:cNvSpPr/>
          <p:nvPr/>
        </p:nvSpPr>
        <p:spPr>
          <a:xfrm>
            <a:off x="8470899" y="471674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DFC0E6-0B90-5A77-D4DC-BF7DEE2D1F58}"/>
                  </a:ext>
                </a:extLst>
              </p:cNvPr>
              <p:cNvSpPr txBox="1"/>
              <p:nvPr/>
            </p:nvSpPr>
            <p:spPr>
              <a:xfrm>
                <a:off x="9224477" y="3863334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8DFC0E6-0B90-5A77-D4DC-BF7DEE2D1F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224477" y="3863334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89A5D1F6-46E9-8E98-AF82-7E4750AB02C2}"/>
              </a:ext>
            </a:extLst>
          </p:cNvPr>
          <p:cNvSpPr txBox="1"/>
          <p:nvPr/>
        </p:nvSpPr>
        <p:spPr>
          <a:xfrm>
            <a:off x="8652733" y="5053304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6B98A5-EC2B-673E-F8A4-26C7C20A831F}"/>
              </a:ext>
            </a:extLst>
          </p:cNvPr>
          <p:cNvSpPr txBox="1"/>
          <p:nvPr/>
        </p:nvSpPr>
        <p:spPr>
          <a:xfrm>
            <a:off x="8930032" y="1494815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19096235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Arrow: Left-Right 45">
            <a:extLst>
              <a:ext uri="{FF2B5EF4-FFF2-40B4-BE49-F238E27FC236}">
                <a16:creationId xmlns:a16="http://schemas.microsoft.com/office/drawing/2014/main" id="{E4A2EA17-91F4-9996-71FA-E665AACC81CE}"/>
              </a:ext>
            </a:extLst>
          </p:cNvPr>
          <p:cNvSpPr/>
          <p:nvPr/>
        </p:nvSpPr>
        <p:spPr>
          <a:xfrm>
            <a:off x="6785482" y="4774345"/>
            <a:ext cx="2734756" cy="161353"/>
          </a:xfrm>
          <a:prstGeom prst="leftRightArrow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Arrow: Left-Right 46">
            <a:extLst>
              <a:ext uri="{FF2B5EF4-FFF2-40B4-BE49-F238E27FC236}">
                <a16:creationId xmlns:a16="http://schemas.microsoft.com/office/drawing/2014/main" id="{172C6A77-12E0-91D1-E4EF-60920B5E847D}"/>
              </a:ext>
            </a:extLst>
          </p:cNvPr>
          <p:cNvSpPr/>
          <p:nvPr/>
        </p:nvSpPr>
        <p:spPr>
          <a:xfrm>
            <a:off x="6785482" y="2862380"/>
            <a:ext cx="2734756" cy="166876"/>
          </a:xfrm>
          <a:prstGeom prst="leftRightArrow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1EC87FE-43B9-CB2D-926A-02E1676E0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Mapped Registers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1F28A-791D-8E60-69BD-4F5F79122A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399213" cy="4329817"/>
          </a:xfrm>
        </p:spPr>
        <p:txBody>
          <a:bodyPr/>
          <a:lstStyle/>
          <a:p>
            <a:r>
              <a:rPr lang="en-US" dirty="0"/>
              <a:t>Registers can also be memory-mapped</a:t>
            </a:r>
          </a:p>
          <a:p>
            <a:pPr lvl="1"/>
            <a:r>
              <a:rPr lang="en-US" dirty="0"/>
              <a:t>Connected to their own address decoder</a:t>
            </a:r>
          </a:p>
          <a:p>
            <a:pPr lvl="1"/>
            <a:r>
              <a:rPr lang="en-US" dirty="0"/>
              <a:t>Determines which register to read/write</a:t>
            </a:r>
          </a:p>
          <a:p>
            <a:endParaRPr lang="en-US" dirty="0"/>
          </a:p>
          <a:p>
            <a:r>
              <a:rPr lang="en-US" dirty="0"/>
              <a:t>Common interface to processor</a:t>
            </a:r>
          </a:p>
          <a:p>
            <a:pPr lvl="1"/>
            <a:r>
              <a:rPr lang="en-US" dirty="0"/>
              <a:t>Processor sees registers &amp; block memory together</a:t>
            </a:r>
          </a:p>
          <a:p>
            <a:pPr lvl="1"/>
            <a:r>
              <a:rPr lang="en-US" dirty="0"/>
              <a:t>One continuous address space 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FC3D1A-64AB-C839-848B-F6555E63F8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15</a:t>
            </a:fld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6504B7B-BFA4-2285-61F8-B6BB0B9141CD}"/>
              </a:ext>
            </a:extLst>
          </p:cNvPr>
          <p:cNvSpPr/>
          <p:nvPr/>
        </p:nvSpPr>
        <p:spPr>
          <a:xfrm>
            <a:off x="8394699" y="2324922"/>
            <a:ext cx="444499" cy="456565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4E4B139-148F-2634-A9C8-0D142DE9F020}"/>
              </a:ext>
            </a:extLst>
          </p:cNvPr>
          <p:cNvSpPr txBox="1"/>
          <p:nvPr/>
        </p:nvSpPr>
        <p:spPr>
          <a:xfrm>
            <a:off x="8261348" y="1533336"/>
            <a:ext cx="79143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Register</a:t>
            </a:r>
            <a:br>
              <a:rPr lang="en-US" sz="1400" dirty="0"/>
            </a:br>
            <a:r>
              <a:rPr lang="en-US" sz="1400" dirty="0"/>
              <a:t>address </a:t>
            </a:r>
          </a:p>
          <a:p>
            <a:r>
              <a:rPr lang="en-US" sz="1400" dirty="0"/>
              <a:t>decoder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23F131C-8D87-DF41-45FF-1856BA17A47E}"/>
              </a:ext>
            </a:extLst>
          </p:cNvPr>
          <p:cNvSpPr/>
          <p:nvPr/>
        </p:nvSpPr>
        <p:spPr>
          <a:xfrm>
            <a:off x="8386757" y="3958725"/>
            <a:ext cx="444499" cy="711417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6F3078-7DA1-6FC7-2DC4-8B5E53AC7E4E}"/>
              </a:ext>
            </a:extLst>
          </p:cNvPr>
          <p:cNvSpPr/>
          <p:nvPr/>
        </p:nvSpPr>
        <p:spPr>
          <a:xfrm>
            <a:off x="9585389" y="2393236"/>
            <a:ext cx="1856932" cy="73571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7C2A586-4436-20E8-6FD0-FAE5BD8A103B}"/>
              </a:ext>
            </a:extLst>
          </p:cNvPr>
          <p:cNvSpPr/>
          <p:nvPr/>
        </p:nvSpPr>
        <p:spPr>
          <a:xfrm>
            <a:off x="9585390" y="3539341"/>
            <a:ext cx="1856932" cy="183831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28384D-B440-A920-57F0-661799306FAC}"/>
              </a:ext>
            </a:extLst>
          </p:cNvPr>
          <p:cNvSpPr/>
          <p:nvPr/>
        </p:nvSpPr>
        <p:spPr>
          <a:xfrm>
            <a:off x="9585389" y="2388393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979A047-A6DD-F1BF-D721-07FDED28C508}"/>
              </a:ext>
            </a:extLst>
          </p:cNvPr>
          <p:cNvSpPr/>
          <p:nvPr/>
        </p:nvSpPr>
        <p:spPr>
          <a:xfrm>
            <a:off x="9585389" y="2572932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705ED80-3B0B-8138-AB13-C55282AD756C}"/>
              </a:ext>
            </a:extLst>
          </p:cNvPr>
          <p:cNvSpPr/>
          <p:nvPr/>
        </p:nvSpPr>
        <p:spPr>
          <a:xfrm>
            <a:off x="9585389" y="2758669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3CBE9F4-EBA1-B704-D176-8BC524F0BB06}"/>
              </a:ext>
            </a:extLst>
          </p:cNvPr>
          <p:cNvSpPr/>
          <p:nvPr/>
        </p:nvSpPr>
        <p:spPr>
          <a:xfrm>
            <a:off x="9585389" y="2943208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D2E5A52-5757-3121-D04B-3DF64819EBCA}"/>
              </a:ext>
            </a:extLst>
          </p:cNvPr>
          <p:cNvSpPr/>
          <p:nvPr/>
        </p:nvSpPr>
        <p:spPr>
          <a:xfrm>
            <a:off x="9585389" y="353934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E93CD9B-C999-F876-52AA-51C6001858B9}"/>
              </a:ext>
            </a:extLst>
          </p:cNvPr>
          <p:cNvSpPr/>
          <p:nvPr/>
        </p:nvSpPr>
        <p:spPr>
          <a:xfrm>
            <a:off x="9585389" y="3723880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708383A3-498E-4C06-3A47-61F4C97E3484}"/>
              </a:ext>
            </a:extLst>
          </p:cNvPr>
          <p:cNvSpPr/>
          <p:nvPr/>
        </p:nvSpPr>
        <p:spPr>
          <a:xfrm>
            <a:off x="9585389" y="3909617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AA05184-2B19-85DD-295F-8B9ABFBD56C3}"/>
              </a:ext>
            </a:extLst>
          </p:cNvPr>
          <p:cNvSpPr/>
          <p:nvPr/>
        </p:nvSpPr>
        <p:spPr>
          <a:xfrm>
            <a:off x="9585389" y="5192991"/>
            <a:ext cx="1856932" cy="1857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46050A2-9976-F012-90CA-85F57DC3FDEA}"/>
                  </a:ext>
                </a:extLst>
              </p:cNvPr>
              <p:cNvSpPr txBox="1"/>
              <p:nvPr/>
            </p:nvSpPr>
            <p:spPr>
              <a:xfrm>
                <a:off x="10338967" y="433958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246050A2-9976-F012-90CA-85F57DC3F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38967" y="4339583"/>
                <a:ext cx="349775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5" name="TextBox 34">
            <a:extLst>
              <a:ext uri="{FF2B5EF4-FFF2-40B4-BE49-F238E27FC236}">
                <a16:creationId xmlns:a16="http://schemas.microsoft.com/office/drawing/2014/main" id="{A8B74A61-94D2-FAFD-41DA-7FEE3BD7AD0A}"/>
              </a:ext>
            </a:extLst>
          </p:cNvPr>
          <p:cNvSpPr txBox="1"/>
          <p:nvPr/>
        </p:nvSpPr>
        <p:spPr>
          <a:xfrm>
            <a:off x="8196835" y="3135100"/>
            <a:ext cx="99097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Block mem</a:t>
            </a:r>
          </a:p>
          <a:p>
            <a:r>
              <a:rPr lang="en-US" sz="1400" dirty="0"/>
              <a:t>address </a:t>
            </a:r>
            <a:br>
              <a:rPr lang="en-US" sz="1400" dirty="0"/>
            </a:br>
            <a:r>
              <a:rPr lang="en-US" sz="1400" dirty="0"/>
              <a:t>decoder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0435506-73F3-01EE-13E5-182937597166}"/>
              </a:ext>
            </a:extLst>
          </p:cNvPr>
          <p:cNvSpPr/>
          <p:nvPr/>
        </p:nvSpPr>
        <p:spPr>
          <a:xfrm>
            <a:off x="7531674" y="2388392"/>
            <a:ext cx="195734" cy="3374211"/>
          </a:xfrm>
          <a:prstGeom prst="rect">
            <a:avLst/>
          </a:prstGeom>
          <a:solidFill>
            <a:srgbClr val="E0F8E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DF7149-53F6-80C5-3832-7E5BA362F356}"/>
              </a:ext>
            </a:extLst>
          </p:cNvPr>
          <p:cNvSpPr txBox="1"/>
          <p:nvPr/>
        </p:nvSpPr>
        <p:spPr>
          <a:xfrm>
            <a:off x="7311614" y="1641058"/>
            <a:ext cx="647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ADDR </a:t>
            </a:r>
            <a:br>
              <a:rPr lang="en-US" sz="1400" dirty="0"/>
            </a:br>
            <a:r>
              <a:rPr lang="en-US" sz="1400" dirty="0"/>
              <a:t>bus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8601286-DF7C-7F79-FA82-570CA7B39BEB}"/>
              </a:ext>
            </a:extLst>
          </p:cNvPr>
          <p:cNvCxnSpPr>
            <a:cxnSpLocks/>
            <a:endCxn id="12" idx="1"/>
          </p:cNvCxnSpPr>
          <p:nvPr/>
        </p:nvCxnSpPr>
        <p:spPr>
          <a:xfrm>
            <a:off x="7784457" y="2553205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100DD31-9C84-CD9E-747A-DB7E6149F0D9}"/>
              </a:ext>
            </a:extLst>
          </p:cNvPr>
          <p:cNvCxnSpPr/>
          <p:nvPr/>
        </p:nvCxnSpPr>
        <p:spPr>
          <a:xfrm>
            <a:off x="7727409" y="4371630"/>
            <a:ext cx="627061" cy="1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C6CA98FB-7190-31C4-5DFD-4BAD214FB795}"/>
              </a:ext>
            </a:extLst>
          </p:cNvPr>
          <p:cNvSpPr/>
          <p:nvPr/>
        </p:nvSpPr>
        <p:spPr>
          <a:xfrm>
            <a:off x="6589493" y="2388392"/>
            <a:ext cx="195990" cy="3307557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A5E97BF-391F-3CD9-1D2D-DEDB47E8B15B}"/>
              </a:ext>
            </a:extLst>
          </p:cNvPr>
          <p:cNvSpPr txBox="1"/>
          <p:nvPr/>
        </p:nvSpPr>
        <p:spPr>
          <a:xfrm>
            <a:off x="6404718" y="1727099"/>
            <a:ext cx="5655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Data </a:t>
            </a:r>
            <a:br>
              <a:rPr lang="en-US" sz="1400" dirty="0"/>
            </a:br>
            <a:r>
              <a:rPr lang="en-US" sz="1400" dirty="0"/>
              <a:t>bus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8123089-5993-6D7C-E629-ACA6A611A07B}"/>
              </a:ext>
            </a:extLst>
          </p:cNvPr>
          <p:cNvCxnSpPr>
            <a:cxnSpLocks/>
          </p:cNvCxnSpPr>
          <p:nvPr/>
        </p:nvCxnSpPr>
        <p:spPr>
          <a:xfrm>
            <a:off x="8852206" y="2539421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758EC30-5AC7-4A0C-B6C6-42FFB4460873}"/>
              </a:ext>
            </a:extLst>
          </p:cNvPr>
          <p:cNvCxnSpPr>
            <a:cxnSpLocks/>
          </p:cNvCxnSpPr>
          <p:nvPr/>
        </p:nvCxnSpPr>
        <p:spPr>
          <a:xfrm>
            <a:off x="8909996" y="4310679"/>
            <a:ext cx="610242" cy="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CF225C18-9198-249E-2D64-61B4E3CBE408}"/>
              </a:ext>
            </a:extLst>
          </p:cNvPr>
          <p:cNvSpPr txBox="1"/>
          <p:nvPr/>
        </p:nvSpPr>
        <p:spPr>
          <a:xfrm>
            <a:off x="9752871" y="5418721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A9F7E5F-8614-B8F3-64BD-4DF0FCDA4A74}"/>
              </a:ext>
            </a:extLst>
          </p:cNvPr>
          <p:cNvSpPr txBox="1"/>
          <p:nvPr/>
        </p:nvSpPr>
        <p:spPr>
          <a:xfrm>
            <a:off x="9934919" y="1979612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32418913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45E129-0CDF-72E1-65F4-FD7AD48AB6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</p:spPr>
            <p:txBody>
              <a:bodyPr/>
              <a:lstStyle/>
              <a:p>
                <a:r>
                  <a:rPr lang="en-US" dirty="0"/>
                  <a:t>A HW module computes a cubic function: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+⋯+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p>
                    </m:sSubSup>
                  </m:oMath>
                </a14:m>
                <a:endParaRPr lang="en-US" dirty="0"/>
              </a:p>
              <a:p>
                <a:r>
                  <a:rPr lang="en-US" dirty="0">
                    <a:solidFill>
                      <a:schemeClr val="accent5">
                        <a:lumMod val="75000"/>
                      </a:schemeClr>
                    </a:solidFill>
                  </a:rPr>
                  <a:t>Registers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Store polynomial coefficients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Small, individual pieces</a:t>
                </a:r>
              </a:p>
              <a:p>
                <a:pPr lvl="1"/>
                <a:r>
                  <a:rPr lang="en-US" dirty="0"/>
                  <a:t>Want parallel access</a:t>
                </a:r>
              </a:p>
              <a:p>
                <a:pPr lvl="1"/>
                <a:r>
                  <a:rPr lang="en-US" dirty="0"/>
                  <a:t>Could have control registers, e.g. count, data valid, ready, …</a:t>
                </a:r>
              </a:p>
              <a:p>
                <a:r>
                  <a:rPr lang="en-US" dirty="0">
                    <a:solidFill>
                      <a:schemeClr val="accent1">
                        <a:lumMod val="60000"/>
                        <a:lumOff val="40000"/>
                      </a:schemeClr>
                    </a:solidFill>
                  </a:rPr>
                  <a:t>Block memory</a:t>
                </a:r>
              </a:p>
              <a:p>
                <a:pPr lvl="1"/>
                <a:r>
                  <a:rPr lang="en-US" dirty="0"/>
                  <a:t>Store input and output data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…,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Ideal for large vectors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F9E4EB8-B89F-A3AA-E83A-99523076E9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178610" y="1655632"/>
                <a:ext cx="7660590" cy="4329817"/>
              </a:xfrm>
              <a:blipFill>
                <a:blip r:embed="rId2"/>
                <a:stretch>
                  <a:fillRect l="-1909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B22F95-B851-E362-6094-B72EDC0207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3A7C664-2DBA-0371-8C56-198BF6C58024}"/>
              </a:ext>
            </a:extLst>
          </p:cNvPr>
          <p:cNvSpPr/>
          <p:nvPr/>
        </p:nvSpPr>
        <p:spPr>
          <a:xfrm>
            <a:off x="9942511" y="3429000"/>
            <a:ext cx="1358902" cy="19194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9AFE3FC-52E2-080E-496B-C7278F5CA98E}"/>
              </a:ext>
            </a:extLst>
          </p:cNvPr>
          <p:cNvSpPr/>
          <p:nvPr/>
        </p:nvSpPr>
        <p:spPr>
          <a:xfrm>
            <a:off x="9942511" y="342900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41CFDBD-15AD-988A-58B7-D1CCB5DC4687}"/>
                  </a:ext>
                </a:extLst>
              </p:cNvPr>
              <p:cNvSpPr txBox="1"/>
              <p:nvPr/>
            </p:nvSpPr>
            <p:spPr>
              <a:xfrm>
                <a:off x="10447074" y="434933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41CFDBD-15AD-988A-58B7-D1CCB5DC46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47074" y="4349333"/>
                <a:ext cx="349775" cy="46166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EA0D58E-7169-9C59-A1E8-6BA51CBF9001}"/>
                  </a:ext>
                </a:extLst>
              </p:cNvPr>
              <p:cNvSpPr txBox="1"/>
              <p:nvPr/>
            </p:nvSpPr>
            <p:spPr>
              <a:xfrm>
                <a:off x="10263188" y="342900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2EA0D58E-7169-9C59-A1E8-6BA51CBF90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3188" y="3429000"/>
                <a:ext cx="571500" cy="369332"/>
              </a:xfrm>
              <a:prstGeom prst="rect">
                <a:avLst/>
              </a:prstGeom>
              <a:blipFill>
                <a:blip r:embed="rId4"/>
                <a:stretch>
                  <a:fillRect r="-9677" b="-15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Rectangle 13">
            <a:extLst>
              <a:ext uri="{FF2B5EF4-FFF2-40B4-BE49-F238E27FC236}">
                <a16:creationId xmlns:a16="http://schemas.microsoft.com/office/drawing/2014/main" id="{B4A6132C-6F0B-64DF-10CD-4E6C163802BC}"/>
              </a:ext>
            </a:extLst>
          </p:cNvPr>
          <p:cNvSpPr/>
          <p:nvPr/>
        </p:nvSpPr>
        <p:spPr>
          <a:xfrm>
            <a:off x="9942511" y="380757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C3638D-3A61-0898-5ACE-520DBDE9AC3B}"/>
                  </a:ext>
                </a:extLst>
              </p:cNvPr>
              <p:cNvSpPr txBox="1"/>
              <p:nvPr/>
            </p:nvSpPr>
            <p:spPr>
              <a:xfrm>
                <a:off x="10263188" y="380757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3C3638D-3A61-0898-5ACE-520DBDE9AC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263188" y="3807570"/>
                <a:ext cx="571500" cy="369332"/>
              </a:xfrm>
              <a:prstGeom prst="rect">
                <a:avLst/>
              </a:prstGeom>
              <a:blipFill>
                <a:blip r:embed="rId5"/>
                <a:stretch>
                  <a:fillRect r="-9677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5">
            <a:extLst>
              <a:ext uri="{FF2B5EF4-FFF2-40B4-BE49-F238E27FC236}">
                <a16:creationId xmlns:a16="http://schemas.microsoft.com/office/drawing/2014/main" id="{6C3F49D8-7AF6-61C6-792D-DACE62BE7C16}"/>
              </a:ext>
            </a:extLst>
          </p:cNvPr>
          <p:cNvSpPr/>
          <p:nvPr/>
        </p:nvSpPr>
        <p:spPr>
          <a:xfrm>
            <a:off x="9942511" y="497914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4EA007-81C9-70E5-B6F7-FC5A3E59465A}"/>
                  </a:ext>
                </a:extLst>
              </p:cNvPr>
              <p:cNvSpPr txBox="1"/>
              <p:nvPr/>
            </p:nvSpPr>
            <p:spPr>
              <a:xfrm>
                <a:off x="10086975" y="4979145"/>
                <a:ext cx="11191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A64EA007-81C9-70E5-B6F7-FC5A3E5946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86975" y="4979145"/>
                <a:ext cx="1119187" cy="369332"/>
              </a:xfrm>
              <a:prstGeom prst="rect">
                <a:avLst/>
              </a:prstGeom>
              <a:blipFill>
                <a:blip r:embed="rId6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Rectangle 17">
            <a:extLst>
              <a:ext uri="{FF2B5EF4-FFF2-40B4-BE49-F238E27FC236}">
                <a16:creationId xmlns:a16="http://schemas.microsoft.com/office/drawing/2014/main" id="{4664520A-5723-6D4F-788D-A39FC1CA9BE3}"/>
              </a:ext>
            </a:extLst>
          </p:cNvPr>
          <p:cNvSpPr/>
          <p:nvPr/>
        </p:nvSpPr>
        <p:spPr>
          <a:xfrm>
            <a:off x="9811684" y="1326814"/>
            <a:ext cx="1358902" cy="1480046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7D2886D-0FF1-0227-CC67-EB3F83F081A4}"/>
              </a:ext>
            </a:extLst>
          </p:cNvPr>
          <p:cNvSpPr/>
          <p:nvPr/>
        </p:nvSpPr>
        <p:spPr>
          <a:xfrm>
            <a:off x="9813916" y="1314196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6060E1-669A-6813-4741-B544C7946304}"/>
                  </a:ext>
                </a:extLst>
              </p:cNvPr>
              <p:cNvSpPr txBox="1"/>
              <p:nvPr/>
            </p:nvSpPr>
            <p:spPr>
              <a:xfrm>
                <a:off x="10162570" y="1326926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4C6060E1-669A-6813-4741-B544C79463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1326926"/>
                <a:ext cx="571500" cy="369332"/>
              </a:xfrm>
              <a:prstGeom prst="rect">
                <a:avLst/>
              </a:prstGeom>
              <a:blipFill>
                <a:blip r:embed="rId7"/>
                <a:stretch>
                  <a:fillRect r="-957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Rectangle 21">
            <a:extLst>
              <a:ext uri="{FF2B5EF4-FFF2-40B4-BE49-F238E27FC236}">
                <a16:creationId xmlns:a16="http://schemas.microsoft.com/office/drawing/2014/main" id="{0C6A618E-FF51-657B-4DC8-98FE7ADD5AFC}"/>
              </a:ext>
            </a:extLst>
          </p:cNvPr>
          <p:cNvSpPr/>
          <p:nvPr/>
        </p:nvSpPr>
        <p:spPr>
          <a:xfrm>
            <a:off x="9813916" y="1690744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3264308-DA35-A609-A753-EBFBDC8FB42B}"/>
                  </a:ext>
                </a:extLst>
              </p:cNvPr>
              <p:cNvSpPr txBox="1"/>
              <p:nvPr/>
            </p:nvSpPr>
            <p:spPr>
              <a:xfrm>
                <a:off x="10162570" y="1705496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B3264308-DA35-A609-A753-EBFBDC8FB42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1705496"/>
                <a:ext cx="571500" cy="369332"/>
              </a:xfrm>
              <a:prstGeom prst="rect">
                <a:avLst/>
              </a:prstGeom>
              <a:blipFill>
                <a:blip r:embed="rId8"/>
                <a:stretch>
                  <a:fillRect r="-9574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760EA0-6637-948F-2DD2-A9C2A698B8AA}"/>
                  </a:ext>
                </a:extLst>
              </p:cNvPr>
              <p:cNvSpPr txBox="1"/>
              <p:nvPr/>
            </p:nvSpPr>
            <p:spPr>
              <a:xfrm>
                <a:off x="10162570" y="2055802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[2]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EE760EA0-6637-948F-2DD2-A9C2A698B8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2570" y="2055802"/>
                <a:ext cx="571500" cy="369332"/>
              </a:xfrm>
              <a:prstGeom prst="rect">
                <a:avLst/>
              </a:prstGeom>
              <a:blipFill>
                <a:blip r:embed="rId9"/>
                <a:stretch>
                  <a:fillRect r="-9574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C776D7E-E739-EE16-A7F0-05FE4AC5EEC9}"/>
                  </a:ext>
                </a:extLst>
              </p:cNvPr>
              <p:cNvSpPr txBox="1"/>
              <p:nvPr/>
            </p:nvSpPr>
            <p:spPr>
              <a:xfrm>
                <a:off x="10161324" y="2429473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[3]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BC776D7E-E739-EE16-A7F0-05FE4AC5EE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61324" y="2429473"/>
                <a:ext cx="571500" cy="369332"/>
              </a:xfrm>
              <a:prstGeom prst="rect">
                <a:avLst/>
              </a:prstGeom>
              <a:blipFill>
                <a:blip r:embed="rId10"/>
                <a:stretch>
                  <a:fillRect r="-8511"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6" name="Rectangle 45">
            <a:extLst>
              <a:ext uri="{FF2B5EF4-FFF2-40B4-BE49-F238E27FC236}">
                <a16:creationId xmlns:a16="http://schemas.microsoft.com/office/drawing/2014/main" id="{30CFF2EA-B652-C160-9F39-74BCA56F44D2}"/>
              </a:ext>
            </a:extLst>
          </p:cNvPr>
          <p:cNvSpPr/>
          <p:nvPr/>
        </p:nvSpPr>
        <p:spPr>
          <a:xfrm>
            <a:off x="8261348" y="3464180"/>
            <a:ext cx="1358902" cy="1919477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7E69D2F-7105-4F64-9B9E-9B1091EC3430}"/>
              </a:ext>
            </a:extLst>
          </p:cNvPr>
          <p:cNvSpPr/>
          <p:nvPr/>
        </p:nvSpPr>
        <p:spPr>
          <a:xfrm>
            <a:off x="8261348" y="346418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47D749-9EE9-5DAF-F701-43A612C2BC8E}"/>
                  </a:ext>
                </a:extLst>
              </p:cNvPr>
              <p:cNvSpPr txBox="1"/>
              <p:nvPr/>
            </p:nvSpPr>
            <p:spPr>
              <a:xfrm>
                <a:off x="8765911" y="4384513"/>
                <a:ext cx="349775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lang="en-US" sz="2400" dirty="0">
                  <a:solidFill>
                    <a:schemeClr val="accent1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8" name="TextBox 47">
                <a:extLst>
                  <a:ext uri="{FF2B5EF4-FFF2-40B4-BE49-F238E27FC236}">
                    <a16:creationId xmlns:a16="http://schemas.microsoft.com/office/drawing/2014/main" id="{0A47D749-9EE9-5DAF-F701-43A612C2BC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65911" y="4384513"/>
                <a:ext cx="349775" cy="461665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9368DE-A641-8E7D-CD62-C18EA3C8FF7E}"/>
                  </a:ext>
                </a:extLst>
              </p:cNvPr>
              <p:cNvSpPr txBox="1"/>
              <p:nvPr/>
            </p:nvSpPr>
            <p:spPr>
              <a:xfrm>
                <a:off x="8582025" y="346418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[0]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149368DE-A641-8E7D-CD62-C18EA3C8FF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025" y="3464180"/>
                <a:ext cx="571500" cy="369332"/>
              </a:xfrm>
              <a:prstGeom prst="rect">
                <a:avLst/>
              </a:prstGeom>
              <a:blipFill>
                <a:blip r:embed="rId12"/>
                <a:stretch>
                  <a:fillRect r="-7447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0" name="Rectangle 49">
            <a:extLst>
              <a:ext uri="{FF2B5EF4-FFF2-40B4-BE49-F238E27FC236}">
                <a16:creationId xmlns:a16="http://schemas.microsoft.com/office/drawing/2014/main" id="{52052C78-5D0A-01D5-E155-10AF94A17539}"/>
              </a:ext>
            </a:extLst>
          </p:cNvPr>
          <p:cNvSpPr/>
          <p:nvPr/>
        </p:nvSpPr>
        <p:spPr>
          <a:xfrm>
            <a:off x="8261348" y="3842750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77ADC41-593E-8B06-E9F5-3AFE23CEB625}"/>
                  </a:ext>
                </a:extLst>
              </p:cNvPr>
              <p:cNvSpPr txBox="1"/>
              <p:nvPr/>
            </p:nvSpPr>
            <p:spPr>
              <a:xfrm>
                <a:off x="8582025" y="3842750"/>
                <a:ext cx="5715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077ADC41-593E-8B06-E9F5-3AFE23CEB62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82025" y="3842750"/>
                <a:ext cx="571500" cy="369332"/>
              </a:xfrm>
              <a:prstGeom prst="rect">
                <a:avLst/>
              </a:prstGeom>
              <a:blipFill>
                <a:blip r:embed="rId13"/>
                <a:stretch>
                  <a:fillRect r="-7447" b="-1475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2" name="Rectangle 51">
            <a:extLst>
              <a:ext uri="{FF2B5EF4-FFF2-40B4-BE49-F238E27FC236}">
                <a16:creationId xmlns:a16="http://schemas.microsoft.com/office/drawing/2014/main" id="{FFFF83BF-4775-698D-E816-F1C57EBD375B}"/>
              </a:ext>
            </a:extLst>
          </p:cNvPr>
          <p:cNvSpPr/>
          <p:nvPr/>
        </p:nvSpPr>
        <p:spPr>
          <a:xfrm>
            <a:off x="8261348" y="501432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3C82AE-CDB4-A237-754B-D23CEDD98C67}"/>
                  </a:ext>
                </a:extLst>
              </p:cNvPr>
              <p:cNvSpPr txBox="1"/>
              <p:nvPr/>
            </p:nvSpPr>
            <p:spPr>
              <a:xfrm>
                <a:off x="8405812" y="5014325"/>
                <a:ext cx="1119187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−1]</m:t>
                    </m:r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073C82AE-CDB4-A237-754B-D23CEDD98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05812" y="5014325"/>
                <a:ext cx="1119187" cy="369332"/>
              </a:xfrm>
              <a:prstGeom prst="rect">
                <a:avLst/>
              </a:prstGeom>
              <a:blipFill>
                <a:blip r:embed="rId14"/>
                <a:stretch>
                  <a:fillRect b="-1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4" name="Rectangle 53">
            <a:extLst>
              <a:ext uri="{FF2B5EF4-FFF2-40B4-BE49-F238E27FC236}">
                <a16:creationId xmlns:a16="http://schemas.microsoft.com/office/drawing/2014/main" id="{114CCC56-E996-06AC-B34A-C0E3117104DF}"/>
              </a:ext>
            </a:extLst>
          </p:cNvPr>
          <p:cNvSpPr/>
          <p:nvPr/>
        </p:nvSpPr>
        <p:spPr>
          <a:xfrm>
            <a:off x="9811684" y="2069205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9CF3FF5B-74E4-D7BA-6086-1D73FAA0F299}"/>
              </a:ext>
            </a:extLst>
          </p:cNvPr>
          <p:cNvSpPr/>
          <p:nvPr/>
        </p:nvSpPr>
        <p:spPr>
          <a:xfrm>
            <a:off x="9811684" y="2445753"/>
            <a:ext cx="1358902" cy="36933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A46165F-2A90-FB71-ABE4-028ED279A7FE}"/>
              </a:ext>
            </a:extLst>
          </p:cNvPr>
          <p:cNvSpPr txBox="1"/>
          <p:nvPr/>
        </p:nvSpPr>
        <p:spPr>
          <a:xfrm>
            <a:off x="8944766" y="5515952"/>
            <a:ext cx="23648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Block memory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FD79A8D-060B-E67C-6802-BE441BC62D62}"/>
              </a:ext>
            </a:extLst>
          </p:cNvPr>
          <p:cNvSpPr txBox="1"/>
          <p:nvPr/>
        </p:nvSpPr>
        <p:spPr>
          <a:xfrm>
            <a:off x="9942511" y="899921"/>
            <a:ext cx="144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>
                <a:solidFill>
                  <a:schemeClr val="accent6"/>
                </a:solidFill>
              </a:rPr>
              <a:t>Registers</a:t>
            </a:r>
          </a:p>
        </p:txBody>
      </p:sp>
    </p:spTree>
    <p:extLst>
      <p:ext uri="{BB962C8B-B14F-4D97-AF65-F5344CB8AC3E}">
        <p14:creationId xmlns:p14="http://schemas.microsoft.com/office/powerpoint/2010/main" val="134473569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EB63-B3F4-ACD6-9740-DD1A05C774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DDCBF-2DFA-2AAD-1BB7-585AA366D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9726BD-F89F-D6C7-72E4-B3E6F9E4F0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0E0901-AF8F-DC1C-D149-E0DF97406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17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7FFE26-B288-8DA2-44A2-71E0BB8EACBB}"/>
              </a:ext>
            </a:extLst>
          </p:cNvPr>
          <p:cNvSpPr/>
          <p:nvPr/>
        </p:nvSpPr>
        <p:spPr>
          <a:xfrm>
            <a:off x="396317" y="203650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313939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56CF8-2739-9D9B-21E1-C44C78579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Protocol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D0FC1E-8223-98FF-5EDE-863D66D2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ARM Extensible Interface family of protocols</a:t>
            </a:r>
          </a:p>
          <a:p>
            <a:pPr lvl="1"/>
            <a:r>
              <a:rPr lang="en-US" sz="2000" dirty="0"/>
              <a:t>Others we will use in class are AXI4-Full and AXI4-Stream</a:t>
            </a:r>
          </a:p>
          <a:p>
            <a:r>
              <a:rPr lang="en-US" sz="2400" dirty="0"/>
              <a:t>Industry-standard, ubiquitously used</a:t>
            </a:r>
          </a:p>
          <a:p>
            <a:r>
              <a:rPr lang="en-US" sz="2400" dirty="0"/>
              <a:t>AXI4-Lite:</a:t>
            </a:r>
          </a:p>
          <a:p>
            <a:pPr lvl="1"/>
            <a:r>
              <a:rPr lang="en-US" sz="2000" dirty="0"/>
              <a:t>Simple</a:t>
            </a:r>
          </a:p>
          <a:p>
            <a:pPr lvl="1"/>
            <a:r>
              <a:rPr lang="en-US" sz="2000" dirty="0"/>
              <a:t>Ideal for programming registers</a:t>
            </a:r>
          </a:p>
          <a:p>
            <a:pPr lvl="1"/>
            <a:r>
              <a:rPr lang="en-US" sz="2000" dirty="0"/>
              <a:t>Modular enables flexibility in delays and scheduling at both ends</a:t>
            </a:r>
          </a:p>
          <a:p>
            <a:pPr lvl="1"/>
            <a:r>
              <a:rPr lang="en-US" sz="2000" dirty="0"/>
              <a:t>Typical throughput: 1 read / 1 write every 3-5 clock cycles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6E33A-56A5-816D-F87B-941D4D0D7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47246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57345A-5E81-6FBB-1397-396D34A76C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BA381-9BA7-7F84-52A4-8A9393AA9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AXI4-Lite Use Case:  Processor to Hardware IP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69207E-69D0-372A-E0FA-0CE9E1801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19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1FF4CE-AE0E-9405-FDBF-6313B6880BDD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2387AB-E646-8D26-A9C4-E1ED8BE4F8B5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F1B9D96-F9DD-03AD-9EF0-74D55ED94817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A719557-BBBD-650E-3732-D62BFCF1B0B7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3FA11C-B31E-4968-1673-21611F9A0EBE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BFE6154-C76E-CDEC-5D30-9309AF561A1C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BB87E252-7BCB-307E-1556-D03B1E35E90C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DD13DB5-1217-604B-48DD-885FD914755E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5B5A790-0B2B-81C5-75AA-9E9FC2077A4A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2A80E85-07E8-87CE-29F3-A6A4543603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7660590" cy="1719150"/>
          </a:xfrm>
        </p:spPr>
        <p:txBody>
          <a:bodyPr/>
          <a:lstStyle/>
          <a:p>
            <a:r>
              <a:rPr lang="en-US" dirty="0"/>
              <a:t>Widely-used use case</a:t>
            </a:r>
          </a:p>
          <a:p>
            <a:r>
              <a:rPr lang="en-US" dirty="0"/>
              <a:t>Hardware IP has control registers </a:t>
            </a:r>
          </a:p>
          <a:p>
            <a:r>
              <a:rPr lang="en-US" dirty="0"/>
              <a:t>Need read / write access from an embedded processor</a:t>
            </a:r>
          </a:p>
        </p:txBody>
      </p:sp>
    </p:spTree>
    <p:extLst>
      <p:ext uri="{BB962C8B-B14F-4D97-AF65-F5344CB8AC3E}">
        <p14:creationId xmlns:p14="http://schemas.microsoft.com/office/powerpoint/2010/main" val="10865205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07B4CC-8E80-B401-1F51-91A2086541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7E2A44-B3ED-6D68-D99A-91F419D500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Master-Slave and Transactions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88605C-8513-5563-A40B-65E055263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72B16C3-A3B5-30F5-2D33-7ED3B6F183C5}"/>
              </a:ext>
            </a:extLst>
          </p:cNvPr>
          <p:cNvSpPr/>
          <p:nvPr/>
        </p:nvSpPr>
        <p:spPr>
          <a:xfrm>
            <a:off x="6893966" y="1768893"/>
            <a:ext cx="1983059" cy="134412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72FF4E4-2AC8-9B91-E2C7-EA9D95096129}"/>
              </a:ext>
            </a:extLst>
          </p:cNvPr>
          <p:cNvSpPr/>
          <p:nvPr/>
        </p:nvSpPr>
        <p:spPr>
          <a:xfrm>
            <a:off x="7120593" y="2050551"/>
            <a:ext cx="407205" cy="78081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EA909A-F96C-4134-7CD9-450714805AB8}"/>
              </a:ext>
            </a:extLst>
          </p:cNvPr>
          <p:cNvSpPr/>
          <p:nvPr/>
        </p:nvSpPr>
        <p:spPr>
          <a:xfrm>
            <a:off x="2015439" y="1768893"/>
            <a:ext cx="1215427" cy="12302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422BF39-5173-989A-8E06-6C8D17BDAAEB}"/>
              </a:ext>
            </a:extLst>
          </p:cNvPr>
          <p:cNvSpPr txBox="1"/>
          <p:nvPr/>
        </p:nvSpPr>
        <p:spPr>
          <a:xfrm>
            <a:off x="1731337" y="3048239"/>
            <a:ext cx="178363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/>
                </a:solidFill>
              </a:rPr>
              <a:t>Processor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E.g. ARM core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CD3A83D-A11D-7BA2-605B-16A9267574D2}"/>
              </a:ext>
            </a:extLst>
          </p:cNvPr>
          <p:cNvSpPr txBox="1"/>
          <p:nvPr/>
        </p:nvSpPr>
        <p:spPr>
          <a:xfrm>
            <a:off x="6816049" y="3122796"/>
            <a:ext cx="3925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Hardware 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Ex:  FPGA module you have designed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D735558-3EAD-1B84-ABAE-E5112DFB238F}"/>
              </a:ext>
            </a:extLst>
          </p:cNvPr>
          <p:cNvSpPr txBox="1"/>
          <p:nvPr/>
        </p:nvSpPr>
        <p:spPr>
          <a:xfrm>
            <a:off x="9427578" y="2227879"/>
            <a:ext cx="17281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Control registers</a:t>
            </a:r>
          </a:p>
        </p:txBody>
      </p:sp>
      <p:sp>
        <p:nvSpPr>
          <p:cNvPr id="3" name="Arrow: Left-Right 2">
            <a:extLst>
              <a:ext uri="{FF2B5EF4-FFF2-40B4-BE49-F238E27FC236}">
                <a16:creationId xmlns:a16="http://schemas.microsoft.com/office/drawing/2014/main" id="{6ADABCC0-029F-E25E-1AE7-EE6EDD0C9F71}"/>
              </a:ext>
            </a:extLst>
          </p:cNvPr>
          <p:cNvSpPr/>
          <p:nvPr/>
        </p:nvSpPr>
        <p:spPr>
          <a:xfrm>
            <a:off x="3318032" y="2278421"/>
            <a:ext cx="3575934" cy="308169"/>
          </a:xfrm>
          <a:prstGeom prst="leftRightArrow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92B87522-CB19-933E-5DAD-4BB371F4E273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7527798" y="2440957"/>
            <a:ext cx="18126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90495985-6E07-0B48-7F44-549A712AE435}"/>
              </a:ext>
            </a:extLst>
          </p:cNvPr>
          <p:cNvSpPr txBox="1"/>
          <p:nvPr/>
        </p:nvSpPr>
        <p:spPr>
          <a:xfrm>
            <a:off x="4330637" y="2661131"/>
            <a:ext cx="174765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Bus signals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Address, data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Control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16D6BA6-5A4A-1F95-238F-27D2573D5C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6435" y="4085663"/>
            <a:ext cx="9442384" cy="171915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In AXI4-Lite:</a:t>
            </a:r>
          </a:p>
          <a:p>
            <a:r>
              <a:rPr lang="en-US" dirty="0"/>
              <a:t>Each read or write of a single word is a </a:t>
            </a:r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transaction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Master</a:t>
            </a:r>
            <a:r>
              <a:rPr lang="en-US" dirty="0"/>
              <a:t>:  The unit that initiates all transaction (typically the processor in this example)</a:t>
            </a:r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Slave</a:t>
            </a:r>
            <a:r>
              <a:rPr lang="en-US" dirty="0"/>
              <a:t>:  The unit that responds to the transaction (typically the hardware IP)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5AAD0F-6F85-3087-D6F6-6EF577FB61A3}"/>
              </a:ext>
            </a:extLst>
          </p:cNvPr>
          <p:cNvSpPr txBox="1"/>
          <p:nvPr/>
        </p:nvSpPr>
        <p:spPr>
          <a:xfrm>
            <a:off x="1919734" y="1368783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8BE24C-B98C-FD49-8BEA-9BB1DC7BB816}"/>
              </a:ext>
            </a:extLst>
          </p:cNvPr>
          <p:cNvSpPr txBox="1"/>
          <p:nvPr/>
        </p:nvSpPr>
        <p:spPr>
          <a:xfrm>
            <a:off x="7452443" y="134779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983255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021FD-8C52-CBA4-8FA1-0E9389702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Write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master</a:t>
                </a:r>
                <a:r>
                  <a:rPr lang="en-US" dirty="0"/>
                  <a:t> wants to write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to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AWADDR=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AWVALID=1 </a:t>
                </a:r>
              </a:p>
              <a:p>
                <a:pPr lvl="1"/>
                <a:r>
                  <a:rPr lang="en-US" dirty="0"/>
                  <a:t>WDATA=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Both can occur in independent clock cycles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slave</a:t>
                </a:r>
                <a:r>
                  <a:rPr lang="en-US" dirty="0"/>
                  <a:t> is ready for address or data it sets:</a:t>
                </a:r>
              </a:p>
              <a:p>
                <a:pPr lvl="1"/>
                <a:r>
                  <a:rPr lang="en-US" dirty="0"/>
                  <a:t>AWREADY=1 and WREADY=1</a:t>
                </a:r>
              </a:p>
              <a:p>
                <a:pPr lvl="1"/>
                <a:r>
                  <a:rPr lang="en-US" dirty="0"/>
                  <a:t>Slave can set these independently and any time it is ready</a:t>
                </a:r>
              </a:p>
              <a:p>
                <a:r>
                  <a:rPr lang="en-US" dirty="0"/>
                  <a:t>Transfer:</a:t>
                </a:r>
              </a:p>
              <a:p>
                <a:pPr lvl="1"/>
                <a:r>
                  <a:rPr lang="en-US" dirty="0"/>
                  <a:t>When AWREADY=AWVALID=1 together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pPr lvl="1"/>
                <a:r>
                  <a:rPr lang="en-US" dirty="0"/>
                  <a:t>When WREADY=WVALID=1 together data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is transferred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After both are transferred, slave set BREADY=1</a:t>
                </a:r>
              </a:p>
              <a:p>
                <a:pPr lvl="1"/>
                <a:r>
                  <a:rPr lang="en-US" dirty="0"/>
                  <a:t>Master sets BVALID=1 to acknowledge</a:t>
                </a:r>
              </a:p>
              <a:p>
                <a:pPr lvl="1"/>
                <a:r>
                  <a:rPr lang="en-US" dirty="0"/>
                  <a:t>Can start next transaction in same clock cycle as BVALID=1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996A1B7-2FAD-A3B6-51C6-225A856D47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198" t="-23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129212-6EC2-EAF1-54ED-AC7824216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21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FC51ABD-E695-844B-27AC-06C0BA11448C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A13EFA-1CAF-7C8F-378A-DD0F2760BBA8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A953260-0679-7010-69F7-3FE9282B2384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CB703EFF-B4A1-54F8-432D-3B4DEF9EDEB0}"/>
              </a:ext>
            </a:extLst>
          </p:cNvPr>
          <p:cNvSpPr txBox="1"/>
          <p:nvPr/>
        </p:nvSpPr>
        <p:spPr>
          <a:xfrm>
            <a:off x="8870701" y="2360095"/>
            <a:ext cx="1132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AWREADY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3312953-0367-7FBC-7D3B-ABB51086EE16}"/>
              </a:ext>
            </a:extLst>
          </p:cNvPr>
          <p:cNvCxnSpPr>
            <a:cxnSpLocks/>
          </p:cNvCxnSpPr>
          <p:nvPr/>
        </p:nvCxnSpPr>
        <p:spPr>
          <a:xfrm flipH="1">
            <a:off x="8252937" y="2698574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7C411B80-1B70-B4DF-3BAF-88F5700F376F}"/>
              </a:ext>
            </a:extLst>
          </p:cNvPr>
          <p:cNvSpPr txBox="1"/>
          <p:nvPr/>
        </p:nvSpPr>
        <p:spPr>
          <a:xfrm>
            <a:off x="8419060" y="1838363"/>
            <a:ext cx="20384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AWADDR, AWVALID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CF8C958-6655-E647-8866-35F6BE472984}"/>
              </a:ext>
            </a:extLst>
          </p:cNvPr>
          <p:cNvCxnSpPr>
            <a:cxnSpLocks/>
          </p:cNvCxnSpPr>
          <p:nvPr/>
        </p:nvCxnSpPr>
        <p:spPr>
          <a:xfrm>
            <a:off x="8234652" y="3406386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47A1B314-E9B6-DC2F-C400-B00B30E30FF6}"/>
              </a:ext>
            </a:extLst>
          </p:cNvPr>
          <p:cNvSpPr txBox="1"/>
          <p:nvPr/>
        </p:nvSpPr>
        <p:spPr>
          <a:xfrm>
            <a:off x="9007404" y="4217568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3A2886CB-CF5B-4093-5FD5-ECA01038E7C0}"/>
              </a:ext>
            </a:extLst>
          </p:cNvPr>
          <p:cNvCxnSpPr>
            <a:cxnSpLocks/>
          </p:cNvCxnSpPr>
          <p:nvPr/>
        </p:nvCxnSpPr>
        <p:spPr>
          <a:xfrm flipH="1">
            <a:off x="8252937" y="389726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B6A052BC-9C1A-5654-683D-A6A5020CEDF0}"/>
              </a:ext>
            </a:extLst>
          </p:cNvPr>
          <p:cNvSpPr txBox="1"/>
          <p:nvPr/>
        </p:nvSpPr>
        <p:spPr>
          <a:xfrm>
            <a:off x="8419060" y="3037054"/>
            <a:ext cx="17406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WDATA, WVALID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CC2C7A94-FF0F-C37D-53E2-D10A91ECD914}"/>
              </a:ext>
            </a:extLst>
          </p:cNvPr>
          <p:cNvCxnSpPr>
            <a:cxnSpLocks/>
          </p:cNvCxnSpPr>
          <p:nvPr/>
        </p:nvCxnSpPr>
        <p:spPr>
          <a:xfrm flipH="1">
            <a:off x="8252937" y="4570015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3C55AC03-FD8D-71E0-B038-2A47BCB6594F}"/>
              </a:ext>
            </a:extLst>
          </p:cNvPr>
          <p:cNvSpPr txBox="1"/>
          <p:nvPr/>
        </p:nvSpPr>
        <p:spPr>
          <a:xfrm>
            <a:off x="8870701" y="3542024"/>
            <a:ext cx="10080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WREADY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B796F23-4048-4397-A021-B497D878C910}"/>
              </a:ext>
            </a:extLst>
          </p:cNvPr>
          <p:cNvCxnSpPr>
            <a:cxnSpLocks/>
          </p:cNvCxnSpPr>
          <p:nvPr/>
        </p:nvCxnSpPr>
        <p:spPr>
          <a:xfrm>
            <a:off x="8285322" y="522867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0F4AD49-3511-2FA3-BBE3-5B8F8DCD6A7F}"/>
              </a:ext>
            </a:extLst>
          </p:cNvPr>
          <p:cNvSpPr txBox="1"/>
          <p:nvPr/>
        </p:nvSpPr>
        <p:spPr>
          <a:xfrm>
            <a:off x="8950851" y="4812282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BREADY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9AA2E-AA7D-9CAA-B1BA-0C97439A7B6C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B3846A0-4C34-3391-0EDE-34D4750D84D5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964418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6F531127-1829-ED27-52AD-99C3854026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559" y="1626723"/>
            <a:ext cx="8057903" cy="32247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7B13BA9-9A46-4AF4-C293-986B5B848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ABF05D-9304-4AEA-7E92-4A33FD039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22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F19C5B9-EA49-E72C-5486-8BB3EC84730B}"/>
              </a:ext>
            </a:extLst>
          </p:cNvPr>
          <p:cNvCxnSpPr>
            <a:cxnSpLocks/>
          </p:cNvCxnSpPr>
          <p:nvPr/>
        </p:nvCxnSpPr>
        <p:spPr>
          <a:xfrm>
            <a:off x="1818670" y="2321842"/>
            <a:ext cx="0" cy="32766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706A970-5A1A-9EB6-66EF-04774D5681AE}"/>
              </a:ext>
            </a:extLst>
          </p:cNvPr>
          <p:cNvCxnSpPr/>
          <p:nvPr/>
        </p:nvCxnSpPr>
        <p:spPr>
          <a:xfrm>
            <a:off x="5928287" y="2733770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64D5BC62-C73C-14D6-6B9F-7F7AD0CBAD22}"/>
              </a:ext>
            </a:extLst>
          </p:cNvPr>
          <p:cNvSpPr txBox="1"/>
          <p:nvPr/>
        </p:nvSpPr>
        <p:spPr>
          <a:xfrm>
            <a:off x="3025074" y="4938423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9D4B7E3F-44D7-38F5-2410-AF173B8D21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53822" y="152412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with </a:t>
            </a:r>
          </a:p>
          <a:p>
            <a:r>
              <a:rPr lang="en-US" dirty="0"/>
              <a:t>Slave is ready before master </a:t>
            </a:r>
          </a:p>
          <a:p>
            <a:r>
              <a:rPr lang="en-US" dirty="0"/>
              <a:t>Address write before data write</a:t>
            </a:r>
          </a:p>
          <a:p>
            <a:r>
              <a:rPr lang="en-US" dirty="0"/>
              <a:t>But either order or together is fine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8914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36B72D-C84B-0BD0-5B48-B01620B7B0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EF34BB9-F4A3-0FB3-54ED-BCA94A683B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63" y="1859756"/>
            <a:ext cx="7842381" cy="313848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9D68D8A-C931-623C-D5C4-4698C95C84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AXI4-Lite Write With Stall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3217BF-E390-B999-67B3-6AE0F5213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23</a:t>
            </a:fld>
            <a:endParaRPr lang="en-US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42305EF-3619-44A8-63CC-D35E7453D130}"/>
              </a:ext>
            </a:extLst>
          </p:cNvPr>
          <p:cNvCxnSpPr>
            <a:cxnSpLocks/>
          </p:cNvCxnSpPr>
          <p:nvPr/>
        </p:nvCxnSpPr>
        <p:spPr>
          <a:xfrm>
            <a:off x="1832958" y="2381662"/>
            <a:ext cx="0" cy="3276602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86A0E8C4-F7DE-76DD-E627-595B6FDCE964}"/>
              </a:ext>
            </a:extLst>
          </p:cNvPr>
          <p:cNvCxnSpPr/>
          <p:nvPr/>
        </p:nvCxnSpPr>
        <p:spPr>
          <a:xfrm>
            <a:off x="5023413" y="2797378"/>
            <a:ext cx="0" cy="2795587"/>
          </a:xfrm>
          <a:prstGeom prst="line">
            <a:avLst/>
          </a:prstGeom>
          <a:ln w="254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0EBD7E54-EC2C-2AD4-3D3B-E4718376672E}"/>
              </a:ext>
            </a:extLst>
          </p:cNvPr>
          <p:cNvSpPr txBox="1"/>
          <p:nvPr/>
        </p:nvSpPr>
        <p:spPr>
          <a:xfrm>
            <a:off x="3039362" y="4998243"/>
            <a:ext cx="126207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Transaction</a:t>
            </a:r>
            <a:br>
              <a:rPr lang="en-US" dirty="0"/>
            </a:br>
            <a:r>
              <a:rPr lang="en-US" dirty="0"/>
              <a:t>4 cycles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AC18ADDC-BFB6-7E3D-7F72-5A33BDD587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68110" y="1583941"/>
            <a:ext cx="3855203" cy="43298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Example:</a:t>
            </a:r>
          </a:p>
          <a:p>
            <a:r>
              <a:rPr lang="en-US" dirty="0"/>
              <a:t>Master sets valid </a:t>
            </a:r>
          </a:p>
          <a:p>
            <a:r>
              <a:rPr lang="en-US" dirty="0"/>
              <a:t>Slave is not ready</a:t>
            </a:r>
          </a:p>
          <a:p>
            <a:r>
              <a:rPr lang="en-US" dirty="0"/>
              <a:t>Transfer </a:t>
            </a:r>
            <a:r>
              <a:rPr lang="en-US" dirty="0">
                <a:solidFill>
                  <a:srgbClr val="7030A0"/>
                </a:solidFill>
              </a:rPr>
              <a:t>stalls</a:t>
            </a:r>
          </a:p>
          <a:p>
            <a:r>
              <a:rPr lang="en-US" dirty="0">
                <a:solidFill>
                  <a:schemeClr val="tx1"/>
                </a:solidFill>
              </a:rPr>
              <a:t>Provides flow control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Ensures data waits until RX is ready</a:t>
            </a:r>
          </a:p>
          <a:p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0222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D636C-B761-68A9-24F4-D17796FB2D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Write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Master sets AWVALID=1, AWADDR=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WDATA=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 and WVALID=1</a:t>
                </a:r>
              </a:p>
              <a:p>
                <a:pPr lvl="1"/>
                <a:r>
                  <a:rPr lang="en-US" dirty="0"/>
                  <a:t>Slave is ready: AWREADY=WREADY=1</a:t>
                </a:r>
              </a:p>
              <a:p>
                <a:pPr lvl="1"/>
                <a:r>
                  <a:rPr lang="en-US" dirty="0"/>
                  <a:t>Both address and data are transferred to slave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Slave set BVALID=1 signaling transaction complete on slave side</a:t>
                </a:r>
              </a:p>
              <a:p>
                <a:pPr lvl="1"/>
                <a:r>
                  <a:rPr lang="en-US" dirty="0"/>
                  <a:t>Slave registers 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Master acknowledges with BREADY=1</a:t>
                </a:r>
              </a:p>
              <a:p>
                <a:pPr lvl="1"/>
                <a:r>
                  <a:rPr lang="en-US" dirty="0"/>
                  <a:t>Master starts next transaction in same clock cycle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write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minimum latency </a:t>
                </a:r>
                <a:r>
                  <a:rPr lang="en-US" dirty="0"/>
                  <a:t>= 2 clock cycles (master write + slave register)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229BFA-5CEC-9A4C-D57F-854ACE2E711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0D798E-4E81-1AD1-578D-2D3A87937D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178220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1823B-A2A5-26B8-AB2C-CC64039BF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AXI4-Lite Latency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85740-F840-51B3-AE57-E6635DC442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Suppose:</a:t>
            </a:r>
          </a:p>
          <a:p>
            <a:pPr lvl="1"/>
            <a:r>
              <a:rPr lang="en-US" dirty="0"/>
              <a:t>Master sets data and address on cycle 0</a:t>
            </a:r>
          </a:p>
          <a:p>
            <a:pPr lvl="1"/>
            <a:r>
              <a:rPr lang="en-US" dirty="0"/>
              <a:t>Slave is ready</a:t>
            </a:r>
          </a:p>
          <a:p>
            <a:r>
              <a:rPr lang="en-US" dirty="0"/>
              <a:t>In most practical register systems:</a:t>
            </a:r>
          </a:p>
          <a:p>
            <a:pPr lvl="1"/>
            <a:r>
              <a:rPr lang="en-US" dirty="0"/>
              <a:t>Slave takes 1-2 additional clock cycles for BREADY=1</a:t>
            </a:r>
          </a:p>
          <a:p>
            <a:r>
              <a:rPr lang="en-US" dirty="0"/>
              <a:t>Master takes at 1-2 additional clock cycles for BVALID=1 and next input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FCD1D8-2584-401C-49FE-5B22E7BC5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25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71CDBCF6-EFE2-E175-4B5B-B01F00DB1A28}"/>
              </a:ext>
            </a:extLst>
          </p:cNvPr>
          <p:cNvSpPr/>
          <p:nvPr/>
        </p:nvSpPr>
        <p:spPr>
          <a:xfrm>
            <a:off x="1865225" y="4124923"/>
            <a:ext cx="7481569" cy="11303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Practical throughput with AXI4-Lite:  1 word write per 3-5 clock cycles </a:t>
            </a:r>
          </a:p>
        </p:txBody>
      </p:sp>
    </p:spTree>
    <p:extLst>
      <p:ext uri="{BB962C8B-B14F-4D97-AF65-F5344CB8AC3E}">
        <p14:creationId xmlns:p14="http://schemas.microsoft.com/office/powerpoint/2010/main" val="423419245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E44D11-8C98-7997-0AF6-E03FC1495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9E0AE9-1953-E674-09A7-5AF868923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AXI4-Lite Read Protocol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Suppose </a:t>
                </a:r>
                <a:r>
                  <a:rPr lang="en-US" dirty="0">
                    <a:solidFill>
                      <a:schemeClr val="accent6"/>
                    </a:solidFill>
                  </a:rPr>
                  <a:t>master</a:t>
                </a:r>
                <a:r>
                  <a:rPr lang="en-US" dirty="0"/>
                  <a:t> wants to read data from address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ARADDR=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Indicates that it wants to read data</a:t>
                </a:r>
              </a:p>
              <a:p>
                <a:r>
                  <a:rPr lang="en-US" dirty="0"/>
                  <a:t>When </a:t>
                </a:r>
                <a:r>
                  <a:rPr lang="en-US" dirty="0">
                    <a:solidFill>
                      <a:srgbClr val="7030A0"/>
                    </a:solidFill>
                  </a:rPr>
                  <a:t>slave</a:t>
                </a:r>
                <a:r>
                  <a:rPr lang="en-US" dirty="0"/>
                  <a:t> accepts the request:</a:t>
                </a:r>
              </a:p>
              <a:p>
                <a:pPr lvl="1"/>
                <a:r>
                  <a:rPr lang="en-US" dirty="0"/>
                  <a:t>Sets ARREADY=1</a:t>
                </a:r>
              </a:p>
              <a:p>
                <a:r>
                  <a:rPr lang="en-US" dirty="0"/>
                  <a:t>When slave has fetched data:</a:t>
                </a:r>
              </a:p>
              <a:p>
                <a:pPr lvl="1"/>
                <a:r>
                  <a:rPr lang="en-US" dirty="0"/>
                  <a:t>Sets RVALID=1,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Can be 0 to many cycles after ARREADY=1</a:t>
                </a:r>
              </a:p>
              <a:p>
                <a:r>
                  <a:rPr lang="en-US" dirty="0"/>
                  <a:t>Handshake:</a:t>
                </a:r>
              </a:p>
              <a:p>
                <a:pPr lvl="1"/>
                <a:r>
                  <a:rPr lang="en-US" dirty="0"/>
                  <a:t>Master asserts RREADY=1 when ready to accept data</a:t>
                </a:r>
              </a:p>
              <a:p>
                <a:pPr lvl="1"/>
                <a:r>
                  <a:rPr lang="en-US" dirty="0"/>
                  <a:t>RREADY could be asserted before RVALID=1</a:t>
                </a:r>
              </a:p>
              <a:p>
                <a:pPr lvl="1"/>
                <a:r>
                  <a:rPr lang="en-US" dirty="0"/>
                  <a:t>Transfer completes when RVALID=RREADY=1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A614F5-2E5C-6C60-1D78-9F68C864159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101726" cy="4329817"/>
              </a:xfrm>
              <a:blipFill>
                <a:blip r:embed="rId2"/>
                <a:stretch>
                  <a:fillRect l="-2398" t="-21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F78258-D3D7-CF5E-5F7E-94A022A8F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5A07DFF-0E3F-18AC-DBC6-1DE80BDF32B2}"/>
              </a:ext>
            </a:extLst>
          </p:cNvPr>
          <p:cNvSpPr/>
          <p:nvPr/>
        </p:nvSpPr>
        <p:spPr>
          <a:xfrm>
            <a:off x="10531359" y="1985409"/>
            <a:ext cx="906219" cy="360708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5A57C7B-EFC6-712D-4628-80840AA8BA65}"/>
              </a:ext>
            </a:extLst>
          </p:cNvPr>
          <p:cNvSpPr/>
          <p:nvPr/>
        </p:nvSpPr>
        <p:spPr>
          <a:xfrm>
            <a:off x="7272862" y="1924786"/>
            <a:ext cx="906219" cy="366770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A6CA9ED-69D7-4DA2-E519-5C0B24BF4636}"/>
              </a:ext>
            </a:extLst>
          </p:cNvPr>
          <p:cNvCxnSpPr>
            <a:cxnSpLocks/>
          </p:cNvCxnSpPr>
          <p:nvPr/>
        </p:nvCxnSpPr>
        <p:spPr>
          <a:xfrm>
            <a:off x="8234652" y="2207695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B1E3E7D-2DE5-7F29-AF8B-F0190D83FA11}"/>
              </a:ext>
            </a:extLst>
          </p:cNvPr>
          <p:cNvSpPr txBox="1"/>
          <p:nvPr/>
        </p:nvSpPr>
        <p:spPr>
          <a:xfrm>
            <a:off x="8857564" y="2527239"/>
            <a:ext cx="1060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ARREADY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7A26035-FB6A-A1CC-5624-60D8BEC8B52B}"/>
              </a:ext>
            </a:extLst>
          </p:cNvPr>
          <p:cNvCxnSpPr>
            <a:cxnSpLocks/>
          </p:cNvCxnSpPr>
          <p:nvPr/>
        </p:nvCxnSpPr>
        <p:spPr>
          <a:xfrm flipH="1">
            <a:off x="8252937" y="2918756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D767FC9A-F1B1-B5A4-9914-F311F7E5D27C}"/>
              </a:ext>
            </a:extLst>
          </p:cNvPr>
          <p:cNvSpPr txBox="1"/>
          <p:nvPr/>
        </p:nvSpPr>
        <p:spPr>
          <a:xfrm>
            <a:off x="8419060" y="1838363"/>
            <a:ext cx="19035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ARADDR, ARVALID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D057CEB-BA7A-9E3F-6364-50986FE7E399}"/>
              </a:ext>
            </a:extLst>
          </p:cNvPr>
          <p:cNvSpPr txBox="1"/>
          <p:nvPr/>
        </p:nvSpPr>
        <p:spPr>
          <a:xfrm>
            <a:off x="8994179" y="4682605"/>
            <a:ext cx="8586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BVALID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D1653839-DFAF-6C8B-4AF8-65F35202B553}"/>
              </a:ext>
            </a:extLst>
          </p:cNvPr>
          <p:cNvCxnSpPr>
            <a:cxnSpLocks/>
          </p:cNvCxnSpPr>
          <p:nvPr/>
        </p:nvCxnSpPr>
        <p:spPr>
          <a:xfrm flipH="1">
            <a:off x="8277686" y="505193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0F75D292-8A57-8F60-F6EE-D97670C608AC}"/>
              </a:ext>
            </a:extLst>
          </p:cNvPr>
          <p:cNvCxnSpPr>
            <a:cxnSpLocks/>
          </p:cNvCxnSpPr>
          <p:nvPr/>
        </p:nvCxnSpPr>
        <p:spPr>
          <a:xfrm>
            <a:off x="8259401" y="4340878"/>
            <a:ext cx="2222851" cy="0"/>
          </a:xfrm>
          <a:prstGeom prst="straightConnector1">
            <a:avLst/>
          </a:prstGeom>
          <a:ln w="25400">
            <a:solidFill>
              <a:srgbClr val="0070C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7FA34F58-22E3-9427-D8C3-27F3790AA37B}"/>
              </a:ext>
            </a:extLst>
          </p:cNvPr>
          <p:cNvSpPr txBox="1"/>
          <p:nvPr/>
        </p:nvSpPr>
        <p:spPr>
          <a:xfrm>
            <a:off x="8924930" y="3971544"/>
            <a:ext cx="9279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RREADY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72FEEED-AB2F-FEEF-6562-00896A9F3676}"/>
              </a:ext>
            </a:extLst>
          </p:cNvPr>
          <p:cNvSpPr txBox="1"/>
          <p:nvPr/>
        </p:nvSpPr>
        <p:spPr>
          <a:xfrm>
            <a:off x="7199006" y="1453717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accent5">
                    <a:lumMod val="75000"/>
                  </a:schemeClr>
                </a:solidFill>
              </a:rPr>
              <a:t>MASTER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C3A48C-ECB6-1261-493F-B441862EB877}"/>
              </a:ext>
            </a:extLst>
          </p:cNvPr>
          <p:cNvSpPr txBox="1"/>
          <p:nvPr/>
        </p:nvSpPr>
        <p:spPr>
          <a:xfrm>
            <a:off x="10609902" y="1499958"/>
            <a:ext cx="149032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SLAVE</a:t>
            </a:r>
            <a:endParaRPr lang="en-US" dirty="0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C5BE2C73-0EC5-397D-F215-E2D1F5DAB1FE}"/>
              </a:ext>
            </a:extLst>
          </p:cNvPr>
          <p:cNvCxnSpPr>
            <a:cxnSpLocks/>
          </p:cNvCxnSpPr>
          <p:nvPr/>
        </p:nvCxnSpPr>
        <p:spPr>
          <a:xfrm flipH="1">
            <a:off x="8259401" y="3629817"/>
            <a:ext cx="2204566" cy="0"/>
          </a:xfrm>
          <a:prstGeom prst="straightConnector1">
            <a:avLst/>
          </a:prstGeom>
          <a:ln w="254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C03B7A58-8334-424F-DB8C-833C34C46148}"/>
              </a:ext>
            </a:extLst>
          </p:cNvPr>
          <p:cNvSpPr txBox="1"/>
          <p:nvPr/>
        </p:nvSpPr>
        <p:spPr>
          <a:xfrm>
            <a:off x="8603392" y="3193047"/>
            <a:ext cx="1569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030A0"/>
                </a:solidFill>
              </a:rPr>
              <a:t>RVALID, RDATA</a:t>
            </a:r>
          </a:p>
        </p:txBody>
      </p:sp>
    </p:spTree>
    <p:extLst>
      <p:ext uri="{BB962C8B-B14F-4D97-AF65-F5344CB8AC3E}">
        <p14:creationId xmlns:p14="http://schemas.microsoft.com/office/powerpoint/2010/main" val="400812593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564B0D-771A-D5C6-594F-DFC054BA3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Read Timing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11E5A-B440-B4A3-F8E1-3EACA7D08E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502555" y="1539277"/>
            <a:ext cx="3220872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In this example:</a:t>
            </a:r>
          </a:p>
          <a:p>
            <a:r>
              <a:rPr lang="en-US" dirty="0"/>
              <a:t>Slave is initially ready</a:t>
            </a:r>
            <a:br>
              <a:rPr lang="en-US" dirty="0"/>
            </a:br>
            <a:r>
              <a:rPr lang="en-US" dirty="0"/>
              <a:t>   (ARREADY=1)</a:t>
            </a:r>
          </a:p>
          <a:p>
            <a:r>
              <a:rPr lang="en-US" dirty="0"/>
              <a:t>Slave immediately accepts </a:t>
            </a:r>
            <a:br>
              <a:rPr lang="en-US" dirty="0"/>
            </a:br>
            <a:r>
              <a:rPr lang="en-US" dirty="0"/>
              <a:t>   request</a:t>
            </a:r>
          </a:p>
          <a:p>
            <a:r>
              <a:rPr lang="en-US" dirty="0"/>
              <a:t>Master is immediately available for </a:t>
            </a:r>
          </a:p>
          <a:p>
            <a:r>
              <a:rPr lang="en-US" dirty="0"/>
              <a:t> Data valid with two cycle    delay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3DC1AD-D857-B948-3AFC-3E4B94240E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C43C87-8B7A-2091-D657-BBCB53435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847" y="2245057"/>
            <a:ext cx="7795784" cy="2901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41669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18310-4585-4E86-07E7-B8DA5DE1EA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9F904F-F457-DD1F-B9F9-C766FF26A1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Theoretical Optimal Read Throughput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Cycle 0:  </a:t>
                </a:r>
              </a:p>
              <a:p>
                <a:pPr lvl="1"/>
                <a:r>
                  <a:rPr lang="en-US" dirty="0"/>
                  <a:t>Master sets ARADDR=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ARVALID=1 </a:t>
                </a:r>
              </a:p>
              <a:p>
                <a:pPr lvl="1"/>
                <a:r>
                  <a:rPr lang="en-US" dirty="0"/>
                  <a:t>Slave is ready: ARREADY=1</a:t>
                </a:r>
              </a:p>
              <a:p>
                <a:pPr lvl="1"/>
                <a:r>
                  <a:rPr lang="en-US" dirty="0"/>
                  <a:t>Address is transferred to slave</a:t>
                </a:r>
              </a:p>
              <a:p>
                <a:r>
                  <a:rPr lang="en-US" dirty="0"/>
                  <a:t>Cycle 1:</a:t>
                </a:r>
              </a:p>
              <a:p>
                <a:pPr lvl="1"/>
                <a:r>
                  <a:rPr lang="en-US" dirty="0"/>
                  <a:t>Slave set RVALID=1 with data RDATA=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Master is immediately ready, RREADY=1</a:t>
                </a:r>
              </a:p>
              <a:p>
                <a:r>
                  <a:rPr lang="en-US" dirty="0"/>
                  <a:t>Cycle 2:</a:t>
                </a:r>
              </a:p>
              <a:p>
                <a:pPr lvl="1"/>
                <a:r>
                  <a:rPr lang="en-US" dirty="0"/>
                  <a:t>Master moves to next read address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Theoretical optimal throughput </a:t>
                </a:r>
                <a:r>
                  <a:rPr lang="en-US" dirty="0"/>
                  <a:t>= 1 word read / 2 clock cycles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Practical throughput </a:t>
                </a:r>
                <a:r>
                  <a:rPr lang="en-US" dirty="0"/>
                  <a:t>= 1 word read per 3-5 clock cycles</a:t>
                </a:r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2867D97-8C8E-E52D-4C8F-4FAC55242EA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455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51F0AF-71AF-668F-FB88-440337367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7041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3C04C-9E18-063F-CC87-04193799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C66036-A7DA-9928-FBF3-456DBED59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0E5DEB-8119-61CA-0F89-916C38C34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Random Access Memory and Memory-Mapped Registers</a:t>
            </a:r>
          </a:p>
          <a:p>
            <a:r>
              <a:rPr lang="en-US" sz="2400" dirty="0"/>
              <a:t>Processor Interfaces with AXI-Lite</a:t>
            </a:r>
          </a:p>
          <a:p>
            <a:r>
              <a:rPr lang="en-US" sz="2400" dirty="0"/>
              <a:t>Implementing AXI-Lite Interface in Vitis HLS</a:t>
            </a:r>
          </a:p>
          <a:p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4DBF04-821A-B2C8-41F7-2B90C026B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29</a:t>
            </a:fld>
            <a:endParaRPr lang="en-US" dirty="0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D9E64F44-20E5-CE3A-8A11-76A3BCB19B05}"/>
              </a:ext>
            </a:extLst>
          </p:cNvPr>
          <p:cNvSpPr/>
          <p:nvPr/>
        </p:nvSpPr>
        <p:spPr>
          <a:xfrm>
            <a:off x="381162" y="2506333"/>
            <a:ext cx="938784" cy="48463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99793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834E2-F7EA-9339-A6D9-3053DF6E8C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8FB12A-00CD-D1F9-83B4-00F145F2F8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Example:  Connecting a Simple IP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</p:spPr>
            <p:txBody>
              <a:bodyPr/>
              <a:lstStyle/>
              <a:p>
                <a:r>
                  <a:rPr lang="en-US" dirty="0"/>
                  <a:t>ReLU + Linear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max</m:t>
                        </m:r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{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0}</m:t>
                        </m:r>
                      </m:e>
                    </m:func>
                  </m:oMath>
                </a14:m>
                <a:endParaRPr lang="en-US" b="0" dirty="0"/>
              </a:p>
              <a:p>
                <a:pPr lvl="1"/>
                <a:r>
                  <a:rPr lang="en-US" dirty="0"/>
                  <a:t>Identical to Unit 1</a:t>
                </a:r>
              </a:p>
              <a:p>
                <a:r>
                  <a:rPr lang="en-US" dirty="0"/>
                  <a:t>Add an interface to a processor</a:t>
                </a:r>
              </a:p>
              <a:p>
                <a:pPr lvl="1"/>
                <a:r>
                  <a:rPr lang="en-US" dirty="0"/>
                  <a:t>Processor can be an embedded </a:t>
                </a:r>
              </a:p>
              <a:p>
                <a:pPr lvl="1"/>
                <a:r>
                  <a:rPr lang="en-US" dirty="0"/>
                  <a:t>Ex:  ARM Core on </a:t>
                </a:r>
                <a:r>
                  <a:rPr lang="en-US" dirty="0" err="1"/>
                  <a:t>Pynq</a:t>
                </a:r>
                <a:r>
                  <a:rPr lang="en-US" dirty="0"/>
                  <a:t> board</a:t>
                </a:r>
              </a:p>
              <a:p>
                <a:pPr lvl="1"/>
                <a:r>
                  <a:rPr lang="en-US" dirty="0"/>
                  <a:t>Interfaces to the IP over AXI4-Lite</a:t>
                </a:r>
              </a:p>
              <a:p>
                <a:r>
                  <a:rPr lang="en-US" dirty="0"/>
                  <a:t>Add control from host PC</a:t>
                </a:r>
              </a:p>
              <a:p>
                <a:pPr lvl="1"/>
                <a:r>
                  <a:rPr lang="en-US" dirty="0"/>
                  <a:t>Ideally </a:t>
                </a:r>
                <a:r>
                  <a:rPr lang="en-US" dirty="0" err="1"/>
                  <a:t>jupyter</a:t>
                </a:r>
                <a:r>
                  <a:rPr lang="en-US" dirty="0"/>
                  <a:t> notebook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91625EC-21D8-01A3-47DD-FD78048B0F6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97280" y="1539277"/>
                <a:ext cx="6370320" cy="4329817"/>
              </a:xfrm>
              <a:blipFill>
                <a:blip r:embed="rId2"/>
                <a:stretch>
                  <a:fillRect l="-2297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50EF4E-B197-ACBB-2CA1-2C9B3C00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30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A2963A9-3648-9674-DFD8-3E4122D8844F}"/>
              </a:ext>
            </a:extLst>
          </p:cNvPr>
          <p:cNvSpPr/>
          <p:nvPr/>
        </p:nvSpPr>
        <p:spPr>
          <a:xfrm>
            <a:off x="10667093" y="354858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882DAD4-B330-0020-0B8C-8B95207020E6}"/>
              </a:ext>
            </a:extLst>
          </p:cNvPr>
          <p:cNvSpPr txBox="1"/>
          <p:nvPr/>
        </p:nvSpPr>
        <p:spPr>
          <a:xfrm>
            <a:off x="10526040" y="486978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/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68FFCF5-6A5D-5314-0838-282B54AEC82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542423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/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7FC8A15-52D4-A799-5D49-9082BBE47D5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3826657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/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45656BE8-AB8A-DB20-35E2-5F0376CDF50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087408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/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312EA4A2-BAD0-8496-A18C-860BD28836A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29656" y="4371642"/>
                <a:ext cx="901294" cy="294946"/>
              </a:xfrm>
              <a:prstGeom prst="rect">
                <a:avLst/>
              </a:prstGeom>
              <a:blipFill>
                <a:blip r:embed="rId6"/>
                <a:stretch>
                  <a:fillRect b="-15385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5F64FE1-D0B2-8F4E-69B7-3D7FB132562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9830950" y="368989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C4BB0E14-F841-D0D3-22E0-A2D29C392F93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9830950" y="397413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9E10278-C621-EA00-AC19-CF9BF0893BA7}"/>
              </a:ext>
            </a:extLst>
          </p:cNvPr>
          <p:cNvCxnSpPr>
            <a:cxnSpLocks/>
          </p:cNvCxnSpPr>
          <p:nvPr/>
        </p:nvCxnSpPr>
        <p:spPr>
          <a:xfrm flipV="1">
            <a:off x="9830950" y="421551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9810439-0DA2-6177-98F0-BDC7F99F755E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9830950" y="451911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C2700D5-D207-3896-9E01-072C252D9A75}"/>
              </a:ext>
            </a:extLst>
          </p:cNvPr>
          <p:cNvSpPr txBox="1"/>
          <p:nvPr/>
        </p:nvSpPr>
        <p:spPr>
          <a:xfrm>
            <a:off x="8850574" y="479430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9F0A5E8-98BB-E301-773B-1A65BD17055D}"/>
              </a:ext>
            </a:extLst>
          </p:cNvPr>
          <p:cNvSpPr/>
          <p:nvPr/>
        </p:nvSpPr>
        <p:spPr>
          <a:xfrm>
            <a:off x="6937405" y="3301114"/>
            <a:ext cx="914400" cy="163830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56788417-6A64-2620-2E4C-9714E1FEABA3}"/>
              </a:ext>
            </a:extLst>
          </p:cNvPr>
          <p:cNvSpPr/>
          <p:nvPr/>
        </p:nvSpPr>
        <p:spPr>
          <a:xfrm>
            <a:off x="7878114" y="398794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4D74AD0-5B41-EB44-8F3D-14CFEF5796F6}"/>
              </a:ext>
            </a:extLst>
          </p:cNvPr>
          <p:cNvSpPr txBox="1"/>
          <p:nvPr/>
        </p:nvSpPr>
        <p:spPr>
          <a:xfrm>
            <a:off x="6856005" y="4939414"/>
            <a:ext cx="123392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Processor</a:t>
            </a:r>
            <a:br>
              <a:rPr lang="en-US" dirty="0"/>
            </a:br>
            <a:r>
              <a:rPr lang="en-US" dirty="0"/>
              <a:t>system</a:t>
            </a:r>
            <a:br>
              <a:rPr lang="en-US" dirty="0"/>
            </a:br>
            <a:r>
              <a:rPr lang="en-US" dirty="0"/>
              <a:t>(e.g., ARM)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042FE8-B983-2BF4-4F78-B52BD09C3B54}"/>
              </a:ext>
            </a:extLst>
          </p:cNvPr>
          <p:cNvSpPr txBox="1"/>
          <p:nvPr/>
        </p:nvSpPr>
        <p:spPr>
          <a:xfrm>
            <a:off x="7844690" y="354044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70BACE1A-4BA6-7A00-E99D-DE363F4B38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25398" y="357249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4D9A2029-4BD8-1325-8852-676BDC8CAB0F}"/>
              </a:ext>
            </a:extLst>
          </p:cNvPr>
          <p:cNvSpPr txBox="1"/>
          <p:nvPr/>
        </p:nvSpPr>
        <p:spPr>
          <a:xfrm>
            <a:off x="5183205" y="525245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15726E8C-C744-E4A6-6B3E-E2C913443D21}"/>
              </a:ext>
            </a:extLst>
          </p:cNvPr>
          <p:cNvSpPr/>
          <p:nvPr/>
        </p:nvSpPr>
        <p:spPr>
          <a:xfrm>
            <a:off x="6367075" y="396614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A65BD00D-56E6-79FE-EBBD-FD2A899F5532}"/>
              </a:ext>
            </a:extLst>
          </p:cNvPr>
          <p:cNvSpPr/>
          <p:nvPr/>
        </p:nvSpPr>
        <p:spPr>
          <a:xfrm rot="5400000">
            <a:off x="8927061" y="398263"/>
            <a:ext cx="408802" cy="4859993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8EF6B7-9F7B-45B7-76AC-609D2C978611}"/>
              </a:ext>
            </a:extLst>
          </p:cNvPr>
          <p:cNvSpPr txBox="1"/>
          <p:nvPr/>
        </p:nvSpPr>
        <p:spPr>
          <a:xfrm>
            <a:off x="8616022" y="2197809"/>
            <a:ext cx="12940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FPGA board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E2CF4EB3-5A30-ADB9-E794-8E043EC425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11328" y="2633516"/>
            <a:ext cx="1027308" cy="10273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2974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06DCBE-017A-2D20-1A2E-80B827B2F4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A6C4DC-EA63-C1AE-66E5-7E45955A9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79" y="1539277"/>
            <a:ext cx="6484051" cy="404948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RTL: Register Transfer Language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Use specialized languages (e.g., </a:t>
            </a:r>
            <a:r>
              <a:rPr lang="en-US" dirty="0" err="1">
                <a:solidFill>
                  <a:schemeClr val="tx1"/>
                </a:solidFill>
              </a:rPr>
              <a:t>SystemVerilog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Manually schedule action in each clock cycle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Interfaces designed from scratch</a:t>
            </a:r>
          </a:p>
          <a:p>
            <a:pPr lvl="1"/>
            <a:r>
              <a:rPr lang="en-US" dirty="0"/>
              <a:t>High control, supports custom interfaces</a:t>
            </a:r>
          </a:p>
          <a:p>
            <a:pPr lvl="1"/>
            <a:r>
              <a:rPr lang="en-US" dirty="0"/>
              <a:t>But time-consuming, difficult to maintain</a:t>
            </a:r>
          </a:p>
          <a:p>
            <a:pPr lvl="1"/>
            <a:endParaRPr lang="en-US" dirty="0"/>
          </a:p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HLS:  High-Level Synthesis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Write in general purpose languages (e.g., C++)</a:t>
            </a:r>
          </a:p>
          <a:p>
            <a:pPr lvl="1"/>
            <a:r>
              <a:rPr lang="en-US" dirty="0"/>
              <a:t>Clock-level schedule determined automatically by compiler</a:t>
            </a:r>
          </a:p>
          <a:p>
            <a:pPr lvl="1"/>
            <a:r>
              <a:rPr lang="en-US" dirty="0"/>
              <a:t>API support for common interfaces (e.g., AXI)</a:t>
            </a:r>
          </a:p>
          <a:p>
            <a:pPr lvl="1"/>
            <a:r>
              <a:rPr lang="en-US" dirty="0"/>
              <a:t>Sacrifice some performance and flexibility</a:t>
            </a:r>
          </a:p>
          <a:p>
            <a:pPr lvl="1"/>
            <a:r>
              <a:rPr lang="en-US" dirty="0"/>
              <a:t>But enables rapid development</a:t>
            </a:r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41509-EEE1-4DD7-6915-99914D6B62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73B6D1C-45EA-A34F-2214-5F65D6BB1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7273" y="1126836"/>
            <a:ext cx="2657110" cy="196231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A94BD8F-D771-FB12-37E4-DBDC887B17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7273" y="4085347"/>
            <a:ext cx="3172268" cy="1362265"/>
          </a:xfrm>
          <a:prstGeom prst="rect">
            <a:avLst/>
          </a:prstGeom>
        </p:spPr>
      </p:pic>
      <p:pic>
        <p:nvPicPr>
          <p:cNvPr id="9" name="Picture 2" descr="Green checkmark icon - Free green check mark icons">
            <a:extLst>
              <a:ext uri="{FF2B5EF4-FFF2-40B4-BE49-F238E27FC236}">
                <a16:creationId xmlns:a16="http://schemas.microsoft.com/office/drawing/2014/main" id="{B02B2037-F555-C091-B2B7-6A3458076A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5260754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Green checkmark icon - Free green check mark icons">
            <a:extLst>
              <a:ext uri="{FF2B5EF4-FFF2-40B4-BE49-F238E27FC236}">
                <a16:creationId xmlns:a16="http://schemas.microsoft.com/office/drawing/2014/main" id="{2C45185E-8095-BB51-5D6B-5C0DC28BD8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79" y="2667000"/>
            <a:ext cx="350167" cy="3280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7448EC3D-7C91-6845-3651-B23C5312D4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2995004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B50B1A3-24C7-6B17-07AD-9BD671397E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919" y="4932749"/>
            <a:ext cx="348506" cy="3280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25694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4EC2F-14BA-9782-883A-7CD2C9478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HLS vs. RTL FPGA Design Flow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E281C-63C7-8DA4-3BA6-8A0AC958FD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922" y="1539277"/>
            <a:ext cx="4060778" cy="4329817"/>
          </a:xfrm>
        </p:spPr>
        <p:txBody>
          <a:bodyPr/>
          <a:lstStyle/>
          <a:p>
            <a:r>
              <a:rPr lang="en-US" dirty="0"/>
              <a:t>Traditional RTL Design Flow</a:t>
            </a:r>
          </a:p>
          <a:p>
            <a:pPr lvl="1"/>
            <a:r>
              <a:rPr lang="en-US" dirty="0"/>
              <a:t>Designer directly writes RTL</a:t>
            </a:r>
          </a:p>
          <a:p>
            <a:pPr lvl="1"/>
            <a:r>
              <a:rPr lang="en-US" dirty="0"/>
              <a:t>Tools simulate and synthesize</a:t>
            </a:r>
          </a:p>
          <a:p>
            <a:pPr lvl="1"/>
            <a:endParaRPr lang="en-US" dirty="0"/>
          </a:p>
          <a:p>
            <a:r>
              <a:rPr lang="en-US" dirty="0"/>
              <a:t>HLS Flow</a:t>
            </a:r>
          </a:p>
          <a:p>
            <a:pPr lvl="1"/>
            <a:r>
              <a:rPr lang="en-US" dirty="0"/>
              <a:t>Designer write high-level language (e.g., C)</a:t>
            </a:r>
          </a:p>
          <a:p>
            <a:pPr lvl="1"/>
            <a:r>
              <a:rPr lang="en-US" dirty="0"/>
              <a:t>Standard software compile-synthesis</a:t>
            </a:r>
          </a:p>
          <a:p>
            <a:pPr lvl="1"/>
            <a:r>
              <a:rPr lang="en-US" dirty="0"/>
              <a:t>RTL files auto-generated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95E58B-51A0-CB16-A594-7A4FEE42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32</a:t>
            </a:fld>
            <a:endParaRPr lang="en-US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E3793E7-B7A1-782F-F1B7-698CD690A45A}"/>
              </a:ext>
            </a:extLst>
          </p:cNvPr>
          <p:cNvSpPr/>
          <p:nvPr/>
        </p:nvSpPr>
        <p:spPr>
          <a:xfrm>
            <a:off x="3814773" y="1680477"/>
            <a:ext cx="1109662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Simulate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0A4F2D-47A4-A691-A73A-27E04015D15A}"/>
              </a:ext>
            </a:extLst>
          </p:cNvPr>
          <p:cNvSpPr/>
          <p:nvPr/>
        </p:nvSpPr>
        <p:spPr>
          <a:xfrm>
            <a:off x="5274478" y="167070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8A343BD7-491D-E16A-2CAA-2F78DAC4EDF1}"/>
              </a:ext>
            </a:extLst>
          </p:cNvPr>
          <p:cNvSpPr/>
          <p:nvPr/>
        </p:nvSpPr>
        <p:spPr>
          <a:xfrm>
            <a:off x="3155164" y="1933461"/>
            <a:ext cx="750098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85CF3599-9CEA-3F23-86D1-6927A7CD1E47}"/>
              </a:ext>
            </a:extLst>
          </p:cNvPr>
          <p:cNvSpPr/>
          <p:nvPr/>
        </p:nvSpPr>
        <p:spPr>
          <a:xfrm>
            <a:off x="6531786" y="196241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AD8C0FFE-72BD-9141-4753-990605E0B7A0}"/>
              </a:ext>
            </a:extLst>
          </p:cNvPr>
          <p:cNvSpPr/>
          <p:nvPr/>
        </p:nvSpPr>
        <p:spPr>
          <a:xfrm>
            <a:off x="4837368" y="19432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/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7476AE94-438E-6CA1-E3F8-BDDE90AAF9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04899" y="1972191"/>
                <a:ext cx="434734" cy="36933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40A08C9-8F9A-C592-A92B-7061CFD979EC}"/>
              </a:ext>
            </a:extLst>
          </p:cNvPr>
          <p:cNvSpPr/>
          <p:nvPr/>
        </p:nvSpPr>
        <p:spPr>
          <a:xfrm>
            <a:off x="3607244" y="5041646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CF5E446-EB2D-3250-6CF6-86A307264FCF}"/>
              </a:ext>
            </a:extLst>
          </p:cNvPr>
          <p:cNvSpPr/>
          <p:nvPr/>
        </p:nvSpPr>
        <p:spPr>
          <a:xfrm>
            <a:off x="5153211" y="4999668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DC51C92-30C8-71D7-4803-A16096BFA1F2}"/>
              </a:ext>
            </a:extLst>
          </p:cNvPr>
          <p:cNvSpPr txBox="1"/>
          <p:nvPr/>
        </p:nvSpPr>
        <p:spPr>
          <a:xfrm>
            <a:off x="1298274" y="1674007"/>
            <a:ext cx="146040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RTL files</a:t>
            </a:r>
            <a:br>
              <a:rPr lang="en-US" sz="1600" dirty="0"/>
            </a:br>
            <a:r>
              <a:rPr lang="en-US" sz="1600" dirty="0"/>
              <a:t>(e.g. SV)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C6FE357F-D144-7135-3034-E2AA75D409BB}"/>
              </a:ext>
            </a:extLst>
          </p:cNvPr>
          <p:cNvSpPr/>
          <p:nvPr/>
        </p:nvSpPr>
        <p:spPr>
          <a:xfrm>
            <a:off x="4924435" y="3211299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75EC5475-0636-FE3A-B32C-B1DD805760CC}"/>
              </a:ext>
            </a:extLst>
          </p:cNvPr>
          <p:cNvSpPr/>
          <p:nvPr/>
        </p:nvSpPr>
        <p:spPr>
          <a:xfrm>
            <a:off x="3268640" y="3211298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42EA3789-5BC0-B19D-F228-C2D3486A1095}"/>
              </a:ext>
            </a:extLst>
          </p:cNvPr>
          <p:cNvSpPr/>
          <p:nvPr/>
        </p:nvSpPr>
        <p:spPr>
          <a:xfrm rot="5400000">
            <a:off x="4155110" y="4638210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Arrow: Right 15">
            <a:extLst>
              <a:ext uri="{FF2B5EF4-FFF2-40B4-BE49-F238E27FC236}">
                <a16:creationId xmlns:a16="http://schemas.microsoft.com/office/drawing/2014/main" id="{D70EEFAB-F920-B5EA-D7D8-3646B8064541}"/>
              </a:ext>
            </a:extLst>
          </p:cNvPr>
          <p:cNvSpPr/>
          <p:nvPr/>
        </p:nvSpPr>
        <p:spPr>
          <a:xfrm>
            <a:off x="6421770" y="5279652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A9830BBD-20C5-0E6A-6585-70037C67F4D6}"/>
              </a:ext>
            </a:extLst>
          </p:cNvPr>
          <p:cNvSpPr/>
          <p:nvPr/>
        </p:nvSpPr>
        <p:spPr>
          <a:xfrm>
            <a:off x="4820923" y="5262427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4DC8FC50-0227-CF80-41F5-17E23FAA2D95}"/>
              </a:ext>
            </a:extLst>
          </p:cNvPr>
          <p:cNvSpPr/>
          <p:nvPr/>
        </p:nvSpPr>
        <p:spPr>
          <a:xfrm>
            <a:off x="4526013" y="3463563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Right 23">
            <a:extLst>
              <a:ext uri="{FF2B5EF4-FFF2-40B4-BE49-F238E27FC236}">
                <a16:creationId xmlns:a16="http://schemas.microsoft.com/office/drawing/2014/main" id="{7DD3FF33-78C5-18CA-0AB8-0C202F2AE763}"/>
              </a:ext>
            </a:extLst>
          </p:cNvPr>
          <p:cNvSpPr/>
          <p:nvPr/>
        </p:nvSpPr>
        <p:spPr>
          <a:xfrm>
            <a:off x="2588410" y="3472159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823E5A3-6CB0-72AA-3601-440E15F88659}"/>
              </a:ext>
            </a:extLst>
          </p:cNvPr>
          <p:cNvSpPr txBox="1"/>
          <p:nvPr/>
        </p:nvSpPr>
        <p:spPr>
          <a:xfrm>
            <a:off x="2684894" y="4307385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26" name="L-Shape 25">
            <a:extLst>
              <a:ext uri="{FF2B5EF4-FFF2-40B4-BE49-F238E27FC236}">
                <a16:creationId xmlns:a16="http://schemas.microsoft.com/office/drawing/2014/main" id="{D38BFC15-D03D-1A33-3AB1-C22CB4160A9D}"/>
              </a:ext>
            </a:extLst>
          </p:cNvPr>
          <p:cNvSpPr/>
          <p:nvPr/>
        </p:nvSpPr>
        <p:spPr>
          <a:xfrm rot="16200000">
            <a:off x="4663612" y="3793031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050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28BEE24F-862D-0922-272F-06F60152CB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1680477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7FFF738D-F944-89E0-4566-817F47F1CC1B}"/>
              </a:ext>
            </a:extLst>
          </p:cNvPr>
          <p:cNvSpPr txBox="1"/>
          <p:nvPr/>
        </p:nvSpPr>
        <p:spPr>
          <a:xfrm>
            <a:off x="1333900" y="3201523"/>
            <a:ext cx="146040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Human-written</a:t>
            </a:r>
            <a:br>
              <a:rPr lang="en-US" sz="1600" dirty="0"/>
            </a:br>
            <a:r>
              <a:rPr lang="en-US" sz="1600" dirty="0"/>
              <a:t>C files</a:t>
            </a:r>
          </a:p>
        </p:txBody>
      </p:sp>
      <p:pic>
        <p:nvPicPr>
          <p:cNvPr id="29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8B7E3D5A-DFD6-3D65-EC51-E9BDCB03E8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251602" y="3164435"/>
            <a:ext cx="110966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744808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90E8A0-6676-9DB9-C060-DFD8111BB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Bad vs. Good HLS Code Write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B7D8F1-24C3-0485-60B4-77668F0EE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5464064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Bad:</a:t>
            </a:r>
            <a:r>
              <a:rPr lang="en-US" dirty="0"/>
              <a:t> Treat HLS tool as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black box</a:t>
            </a:r>
          </a:p>
          <a:p>
            <a:r>
              <a:rPr lang="en-US" dirty="0"/>
              <a:t>Results in RTL code with poor performance</a:t>
            </a:r>
          </a:p>
          <a:p>
            <a:r>
              <a:rPr lang="en-US" dirty="0"/>
              <a:t>No way to evaluate if resulting design is good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Good:</a:t>
            </a:r>
            <a:r>
              <a:rPr lang="en-US" dirty="0"/>
              <a:t>  Have a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mental model</a:t>
            </a:r>
          </a:p>
          <a:p>
            <a:r>
              <a:rPr lang="en-US" dirty="0"/>
              <a:t>Think what the RTL code should look like</a:t>
            </a:r>
          </a:p>
          <a:p>
            <a:r>
              <a:rPr lang="en-US" dirty="0"/>
              <a:t>What should happen on each clock cycle</a:t>
            </a:r>
          </a:p>
          <a:p>
            <a:r>
              <a:rPr lang="en-US" dirty="0"/>
              <a:t>What resources should be used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BC3C1F-92F4-02B6-AE1C-72D90E30DC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33</a:t>
            </a:fld>
            <a:endParaRPr lang="en-US" dirty="0"/>
          </a:p>
        </p:txBody>
      </p:sp>
      <p:pic>
        <p:nvPicPr>
          <p:cNvPr id="5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A5BD5D31-09E0-C351-BF91-1F1FFC15F2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1590377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B12D765-2B5D-279B-D18E-B69AA2B1132D}"/>
              </a:ext>
            </a:extLst>
          </p:cNvPr>
          <p:cNvSpPr/>
          <p:nvPr/>
        </p:nvSpPr>
        <p:spPr>
          <a:xfrm>
            <a:off x="10078371" y="1611366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ED89534-2D46-CADD-8410-87DB73217FF6}"/>
              </a:ext>
            </a:extLst>
          </p:cNvPr>
          <p:cNvSpPr/>
          <p:nvPr/>
        </p:nvSpPr>
        <p:spPr>
          <a:xfrm>
            <a:off x="8568949" y="1590377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9A03DAF1-01D8-A0F4-6C1D-89F703B97FD4}"/>
              </a:ext>
            </a:extLst>
          </p:cNvPr>
          <p:cNvSpPr/>
          <p:nvPr/>
        </p:nvSpPr>
        <p:spPr>
          <a:xfrm>
            <a:off x="7990305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5C12F44B-3B8F-2BF3-4155-29C08D5DA513}"/>
              </a:ext>
            </a:extLst>
          </p:cNvPr>
          <p:cNvSpPr/>
          <p:nvPr/>
        </p:nvSpPr>
        <p:spPr>
          <a:xfrm>
            <a:off x="9598821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Arrow: Right 9">
            <a:extLst>
              <a:ext uri="{FF2B5EF4-FFF2-40B4-BE49-F238E27FC236}">
                <a16:creationId xmlns:a16="http://schemas.microsoft.com/office/drawing/2014/main" id="{F07D30AD-FB05-C4EE-3730-65935015B7F0}"/>
              </a:ext>
            </a:extLst>
          </p:cNvPr>
          <p:cNvSpPr/>
          <p:nvPr/>
        </p:nvSpPr>
        <p:spPr>
          <a:xfrm>
            <a:off x="11189138" y="1853136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2" descr="Coder Female: Over 977 Royalty-Free Licensable Stock Illustrations &amp;  Drawings | Shutterstock">
            <a:extLst>
              <a:ext uri="{FF2B5EF4-FFF2-40B4-BE49-F238E27FC236}">
                <a16:creationId xmlns:a16="http://schemas.microsoft.com/office/drawing/2014/main" id="{9A9DBF16-DE06-18F5-7F59-797D1419333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038" t="-28" r="17239" b="23451"/>
          <a:stretch>
            <a:fillRect/>
          </a:stretch>
        </p:blipFill>
        <p:spPr bwMode="auto">
          <a:xfrm>
            <a:off x="7101172" y="4547664"/>
            <a:ext cx="1108222" cy="1079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112A62F1-E4E8-05EF-1C0C-07E3BF8CC671}"/>
              </a:ext>
            </a:extLst>
          </p:cNvPr>
          <p:cNvSpPr/>
          <p:nvPr/>
        </p:nvSpPr>
        <p:spPr>
          <a:xfrm>
            <a:off x="10078371" y="4568653"/>
            <a:ext cx="1084551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9F8170E2-88AE-0F59-5812-1ADAC9870E7D}"/>
              </a:ext>
            </a:extLst>
          </p:cNvPr>
          <p:cNvSpPr/>
          <p:nvPr/>
        </p:nvSpPr>
        <p:spPr>
          <a:xfrm>
            <a:off x="8568949" y="4547664"/>
            <a:ext cx="959639" cy="91440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HLS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Tool</a:t>
            </a:r>
          </a:p>
        </p:txBody>
      </p:sp>
      <p:sp>
        <p:nvSpPr>
          <p:cNvPr id="20" name="Arrow: Right 19">
            <a:extLst>
              <a:ext uri="{FF2B5EF4-FFF2-40B4-BE49-F238E27FC236}">
                <a16:creationId xmlns:a16="http://schemas.microsoft.com/office/drawing/2014/main" id="{EDB1F384-6115-A275-DEE8-EA213103343E}"/>
              </a:ext>
            </a:extLst>
          </p:cNvPr>
          <p:cNvSpPr/>
          <p:nvPr/>
        </p:nvSpPr>
        <p:spPr>
          <a:xfrm>
            <a:off x="7990305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Arrow: Right 20">
            <a:extLst>
              <a:ext uri="{FF2B5EF4-FFF2-40B4-BE49-F238E27FC236}">
                <a16:creationId xmlns:a16="http://schemas.microsoft.com/office/drawing/2014/main" id="{6C93D179-236D-FA78-9538-2C0568886162}"/>
              </a:ext>
            </a:extLst>
          </p:cNvPr>
          <p:cNvSpPr/>
          <p:nvPr/>
        </p:nvSpPr>
        <p:spPr>
          <a:xfrm>
            <a:off x="9598821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Arrow: Right 21">
            <a:extLst>
              <a:ext uri="{FF2B5EF4-FFF2-40B4-BE49-F238E27FC236}">
                <a16:creationId xmlns:a16="http://schemas.microsoft.com/office/drawing/2014/main" id="{808F56E6-4641-C731-2649-A00DA8403E3A}"/>
              </a:ext>
            </a:extLst>
          </p:cNvPr>
          <p:cNvSpPr/>
          <p:nvPr/>
        </p:nvSpPr>
        <p:spPr>
          <a:xfrm>
            <a:off x="11189138" y="4810423"/>
            <a:ext cx="578644" cy="388882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Speech Bubble: Oval 22">
            <a:extLst>
              <a:ext uri="{FF2B5EF4-FFF2-40B4-BE49-F238E27FC236}">
                <a16:creationId xmlns:a16="http://schemas.microsoft.com/office/drawing/2014/main" id="{6DB16840-285A-ADC2-6C57-F05CCB1A565B}"/>
              </a:ext>
            </a:extLst>
          </p:cNvPr>
          <p:cNvSpPr/>
          <p:nvPr/>
        </p:nvSpPr>
        <p:spPr>
          <a:xfrm>
            <a:off x="5730765" y="3412020"/>
            <a:ext cx="1661158" cy="1156633"/>
          </a:xfrm>
          <a:prstGeom prst="wedgeEllipseCallout">
            <a:avLst>
              <a:gd name="adj1" fmla="val 33515"/>
              <a:gd name="adj2" fmla="val 75479"/>
            </a:avLst>
          </a:prstGeom>
          <a:solidFill>
            <a:srgbClr val="EAE5EB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3380BBA2-61D2-4345-1850-B87564F2B24E}"/>
              </a:ext>
            </a:extLst>
          </p:cNvPr>
          <p:cNvSpPr/>
          <p:nvPr/>
        </p:nvSpPr>
        <p:spPr>
          <a:xfrm>
            <a:off x="6019068" y="3696567"/>
            <a:ext cx="1084551" cy="679776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Mental RTL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model</a:t>
            </a:r>
          </a:p>
        </p:txBody>
      </p:sp>
      <p:pic>
        <p:nvPicPr>
          <p:cNvPr id="25" name="Picture 2" descr="Green checkmark icon - Free green check mark icons">
            <a:extLst>
              <a:ext uri="{FF2B5EF4-FFF2-40B4-BE49-F238E27FC236}">
                <a16:creationId xmlns:a16="http://schemas.microsoft.com/office/drawing/2014/main" id="{10383258-A82F-C835-98B6-ADE6D6DE4A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04098" y="4950676"/>
            <a:ext cx="694582" cy="6506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Simple red cross mark icon. Vector. 26529438 Vector Art at ...">
            <a:extLst>
              <a:ext uri="{FF2B5EF4-FFF2-40B4-BE49-F238E27FC236}">
                <a16:creationId xmlns:a16="http://schemas.microsoft.com/office/drawing/2014/main" id="{B77CBB07-5ECF-7131-A506-4BDCC29E51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7640" y="1806918"/>
            <a:ext cx="647406" cy="6093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77479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CF48F8-C48B-B6A3-3D5A-B7F2A07EDE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9DF1EC-6539-1A86-1043-30C8BBE3A1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Developed by Xilinx (now AMD)</a:t>
            </a:r>
          </a:p>
          <a:p>
            <a:pPr lvl="1"/>
            <a:r>
              <a:rPr lang="en-US" dirty="0"/>
              <a:t>Evolved from </a:t>
            </a:r>
            <a:r>
              <a:rPr lang="en-US" dirty="0" err="1"/>
              <a:t>Vivado</a:t>
            </a:r>
            <a:r>
              <a:rPr lang="en-US" dirty="0"/>
              <a:t> HLS </a:t>
            </a:r>
          </a:p>
          <a:p>
            <a:r>
              <a:rPr lang="en-US" dirty="0"/>
              <a:t>Supports C / C++</a:t>
            </a:r>
          </a:p>
          <a:p>
            <a:pPr lvl="1"/>
            <a:r>
              <a:rPr lang="en-US" dirty="0"/>
              <a:t>Simple, common development </a:t>
            </a:r>
          </a:p>
          <a:p>
            <a:r>
              <a:rPr lang="en-US" dirty="0"/>
              <a:t>Some python support for testbenches</a:t>
            </a:r>
          </a:p>
          <a:p>
            <a:r>
              <a:rPr lang="en-US" dirty="0"/>
              <a:t>Ships with Vitis IDE</a:t>
            </a:r>
          </a:p>
          <a:p>
            <a:r>
              <a:rPr lang="en-US" dirty="0"/>
              <a:t>Native support for AXI protocols</a:t>
            </a:r>
          </a:p>
          <a:p>
            <a:pPr lvl="1"/>
            <a:r>
              <a:rPr lang="en-US" dirty="0"/>
              <a:t>No need to build handshake from scratch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83ABE0-5A9F-4CAD-19C8-CF0A3C5FE5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34</a:t>
            </a:fld>
            <a:endParaRPr lang="en-US" dirty="0"/>
          </a:p>
        </p:txBody>
      </p:sp>
      <p:pic>
        <p:nvPicPr>
          <p:cNvPr id="5" name="Picture 2" descr="Xilinx Vitis HLS introduction - imperix">
            <a:extLst>
              <a:ext uri="{FF2B5EF4-FFF2-40B4-BE49-F238E27FC236}">
                <a16:creationId xmlns:a16="http://schemas.microsoft.com/office/drawing/2014/main" id="{A4ECFD25-23A4-D0BC-58E9-F3DDCC0081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86201" y="188576"/>
            <a:ext cx="1710467" cy="1138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B576598-DEAE-160E-8B78-F1229E723F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8429" y="1631950"/>
            <a:ext cx="6004882" cy="4005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2290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8E8B9D-0034-401B-1D7D-AA6E381A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FPGA Board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7D29B0-8410-A491-D94D-5A189BE60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539277"/>
            <a:ext cx="4998720" cy="4329817"/>
          </a:xfrm>
        </p:spPr>
        <p:txBody>
          <a:bodyPr/>
          <a:lstStyle/>
          <a:p>
            <a:r>
              <a:rPr lang="en-US" dirty="0"/>
              <a:t>We target a design on a real FPGA board</a:t>
            </a:r>
          </a:p>
          <a:p>
            <a:r>
              <a:rPr lang="en-US" dirty="0"/>
              <a:t>Boards have three components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Processing system (PS)</a:t>
            </a:r>
          </a:p>
          <a:p>
            <a:pPr lvl="1"/>
            <a:r>
              <a:rPr lang="en-US" dirty="0"/>
              <a:t>A lightweight processor</a:t>
            </a:r>
          </a:p>
          <a:p>
            <a:pPr lvl="1"/>
            <a:r>
              <a:rPr lang="en-US" dirty="0"/>
              <a:t>Often an ARM core</a:t>
            </a:r>
          </a:p>
          <a:p>
            <a:pPr lvl="1"/>
            <a:r>
              <a:rPr lang="en-US" dirty="0"/>
              <a:t>E.g., ARM A9</a:t>
            </a:r>
          </a:p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Programmable logic (PL)</a:t>
            </a:r>
          </a:p>
          <a:p>
            <a:pPr lvl="1"/>
            <a:r>
              <a:rPr lang="en-US" dirty="0"/>
              <a:t>The programmable fabric</a:t>
            </a:r>
          </a:p>
          <a:p>
            <a:pPr lvl="1"/>
            <a:r>
              <a:rPr lang="en-US" dirty="0"/>
              <a:t>This is where your IP will reside</a:t>
            </a:r>
          </a:p>
          <a:p>
            <a:pPr lvl="1"/>
            <a:r>
              <a:rPr lang="en-US" dirty="0"/>
              <a:t>Also contains the registers and internal memory</a:t>
            </a:r>
          </a:p>
          <a:p>
            <a:r>
              <a:rPr lang="en-US" dirty="0"/>
              <a:t>An </a:t>
            </a:r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AXI4 interface</a:t>
            </a:r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DAE4B8-3778-3A78-7A19-E818D5CF6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35</a:t>
            </a:fld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DB657F65-47BE-0EA1-6784-8FB1C179BDB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84325" y="1712439"/>
            <a:ext cx="4724400" cy="2505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EB41C-6F1D-0FD1-4603-EB467CA34FF6}"/>
              </a:ext>
            </a:extLst>
          </p:cNvPr>
          <p:cNvSpPr txBox="1"/>
          <p:nvPr/>
        </p:nvSpPr>
        <p:spPr>
          <a:xfrm>
            <a:off x="6892119" y="4499230"/>
            <a:ext cx="472440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Image from MathWorks </a:t>
            </a:r>
            <a:r>
              <a:rPr lang="en-US" dirty="0">
                <a:hlinkClick r:id="rId3"/>
              </a:rPr>
              <a:t>page</a:t>
            </a:r>
            <a:r>
              <a:rPr lang="en-US" dirty="0"/>
              <a:t> on embedded design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B968F51-7D3F-092B-95B1-F3C693C2EB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7844" y="4981700"/>
            <a:ext cx="1436417" cy="115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55339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: Rounded Corners 35">
            <a:extLst>
              <a:ext uri="{FF2B5EF4-FFF2-40B4-BE49-F238E27FC236}">
                <a16:creationId xmlns:a16="http://schemas.microsoft.com/office/drawing/2014/main" id="{81C44D72-71B2-6A46-4E6E-8F159F853802}"/>
              </a:ext>
            </a:extLst>
          </p:cNvPr>
          <p:cNvSpPr/>
          <p:nvPr/>
        </p:nvSpPr>
        <p:spPr>
          <a:xfrm>
            <a:off x="3133392" y="2701098"/>
            <a:ext cx="4912330" cy="1838980"/>
          </a:xfrm>
          <a:prstGeom prst="roundRect">
            <a:avLst/>
          </a:prstGeom>
          <a:solidFill>
            <a:srgbClr val="DEE6F8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5D273B2-B8C1-403F-8FFA-1CFDC3D24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Target Architecture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39EA86-1648-7505-7EDD-634A573DF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36</a:t>
            </a:fld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6C0DB9C-199F-91B7-4F35-5AEAF74D3CD1}"/>
              </a:ext>
            </a:extLst>
          </p:cNvPr>
          <p:cNvSpPr/>
          <p:nvPr/>
        </p:nvSpPr>
        <p:spPr>
          <a:xfrm>
            <a:off x="6978015" y="3218871"/>
            <a:ext cx="901294" cy="1173734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FB3678E-E18C-B4EF-7B93-FE9D8A3544BF}"/>
              </a:ext>
            </a:extLst>
          </p:cNvPr>
          <p:cNvSpPr txBox="1"/>
          <p:nvPr/>
        </p:nvSpPr>
        <p:spPr>
          <a:xfrm>
            <a:off x="6836962" y="4540077"/>
            <a:ext cx="153106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Linear + </a:t>
            </a:r>
            <a:r>
              <a:rPr lang="en-US" dirty="0" err="1"/>
              <a:t>ReLU</a:t>
            </a:r>
            <a:r>
              <a:rPr lang="en-US" dirty="0"/>
              <a:t> </a:t>
            </a:r>
          </a:p>
          <a:p>
            <a:r>
              <a:rPr lang="en-US" dirty="0"/>
              <a:t>Hardware “IP”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/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06B8222-7E18-825C-E6E5-9A7FE962A5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212713"/>
                <a:ext cx="901294" cy="294946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/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1D59092A-6327-C7C5-96D9-C5AA6B3387B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496947"/>
                <a:ext cx="901294" cy="29494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/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91B0CB74-0EF4-B566-FE3E-86BC86EA68D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3757698"/>
                <a:ext cx="901294" cy="294946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/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solidFill>
                  <a:schemeClr val="accent6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US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DEE0E23-BCDB-8659-76AC-B13373F1724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0578" y="4041932"/>
                <a:ext cx="901294" cy="294946"/>
              </a:xfrm>
              <a:prstGeom prst="rect">
                <a:avLst/>
              </a:prstGeom>
              <a:blipFill>
                <a:blip r:embed="rId5"/>
                <a:stretch>
                  <a:fillRect b="-17647"/>
                </a:stretch>
              </a:blipFill>
              <a:ln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57911DD-96C0-B29A-8ED5-C4A88AED8EAF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6141872" y="3360185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2262BE6-936F-F51C-9FA7-0D1BC2D2EE72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6141872" y="3644420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B8B9E3F-F280-E83D-9352-D568009E6C09}"/>
              </a:ext>
            </a:extLst>
          </p:cNvPr>
          <p:cNvCxnSpPr>
            <a:cxnSpLocks/>
          </p:cNvCxnSpPr>
          <p:nvPr/>
        </p:nvCxnSpPr>
        <p:spPr>
          <a:xfrm flipV="1">
            <a:off x="6141872" y="3885804"/>
            <a:ext cx="836143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32E4270-8566-92F0-3750-232C3E72BFB3}"/>
              </a:ext>
            </a:extLst>
          </p:cNvPr>
          <p:cNvCxnSpPr>
            <a:cxnSpLocks/>
            <a:endCxn id="10" idx="3"/>
          </p:cNvCxnSpPr>
          <p:nvPr/>
        </p:nvCxnSpPr>
        <p:spPr>
          <a:xfrm flipH="1">
            <a:off x="6141872" y="4189405"/>
            <a:ext cx="83614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5515FC1-4593-44A0-BB65-933C6A1062C4}"/>
              </a:ext>
            </a:extLst>
          </p:cNvPr>
          <p:cNvSpPr txBox="1"/>
          <p:nvPr/>
        </p:nvSpPr>
        <p:spPr>
          <a:xfrm>
            <a:off x="5161496" y="4464590"/>
            <a:ext cx="10594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Memory-</a:t>
            </a:r>
            <a:br>
              <a:rPr lang="en-US" dirty="0"/>
            </a:br>
            <a:r>
              <a:rPr lang="en-US" dirty="0"/>
              <a:t>mapped</a:t>
            </a:r>
            <a:br>
              <a:rPr lang="en-US" dirty="0"/>
            </a:br>
            <a:r>
              <a:rPr lang="en-US" dirty="0"/>
              <a:t>registers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F80FF17-29A2-AA94-49C1-26D325FC5BD6}"/>
              </a:ext>
            </a:extLst>
          </p:cNvPr>
          <p:cNvSpPr/>
          <p:nvPr/>
        </p:nvSpPr>
        <p:spPr>
          <a:xfrm>
            <a:off x="3248327" y="2971404"/>
            <a:ext cx="914400" cy="1421201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Arrow: Left-Right 23">
            <a:extLst>
              <a:ext uri="{FF2B5EF4-FFF2-40B4-BE49-F238E27FC236}">
                <a16:creationId xmlns:a16="http://schemas.microsoft.com/office/drawing/2014/main" id="{D135608A-B42F-79E6-11EE-05BB6E442E67}"/>
              </a:ext>
            </a:extLst>
          </p:cNvPr>
          <p:cNvSpPr/>
          <p:nvPr/>
        </p:nvSpPr>
        <p:spPr>
          <a:xfrm>
            <a:off x="4189036" y="3658235"/>
            <a:ext cx="946150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897342B-F5DC-5FFA-BB15-6A316F5D7192}"/>
              </a:ext>
            </a:extLst>
          </p:cNvPr>
          <p:cNvSpPr txBox="1"/>
          <p:nvPr/>
        </p:nvSpPr>
        <p:spPr>
          <a:xfrm>
            <a:off x="3500984" y="4660183"/>
            <a:ext cx="4090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5B0841E-6387-25DA-F6E2-7EEE776E5BBB}"/>
              </a:ext>
            </a:extLst>
          </p:cNvPr>
          <p:cNvSpPr txBox="1"/>
          <p:nvPr/>
        </p:nvSpPr>
        <p:spPr>
          <a:xfrm>
            <a:off x="4155612" y="3210734"/>
            <a:ext cx="10237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AXI4-Lite</a:t>
            </a:r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962DCDB0-15AE-65CE-FE0E-9AB6BCCB1E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8546" y="2188847"/>
            <a:ext cx="1308100" cy="1308100"/>
          </a:xfrm>
          <a:prstGeom prst="rect">
            <a:avLst/>
          </a:prstGeom>
        </p:spPr>
      </p:pic>
      <p:pic>
        <p:nvPicPr>
          <p:cNvPr id="3078" name="Picture 6" descr="PYNQ | Python Productivity for AMD Adaptive Computing platforms">
            <a:extLst>
              <a:ext uri="{FF2B5EF4-FFF2-40B4-BE49-F238E27FC236}">
                <a16:creationId xmlns:a16="http://schemas.microsoft.com/office/drawing/2014/main" id="{1C126EF6-8B50-C9A6-AC0A-D46D7C1311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33392" y="2300354"/>
            <a:ext cx="1144270" cy="55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Desktop Computer Icon Computer PNG &amp; SVG Design For T-Shirts">
            <a:extLst>
              <a:ext uri="{FF2B5EF4-FFF2-40B4-BE49-F238E27FC236}">
                <a16:creationId xmlns:a16="http://schemas.microsoft.com/office/drawing/2014/main" id="{9D2D9F6D-0538-0C2B-F90B-E2C7E7F1E0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6320" y="3242787"/>
            <a:ext cx="1679960" cy="16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FEC9C2AA-EDD4-6DB7-50F1-1BC24F40EDFD}"/>
              </a:ext>
            </a:extLst>
          </p:cNvPr>
          <p:cNvSpPr txBox="1"/>
          <p:nvPr/>
        </p:nvSpPr>
        <p:spPr>
          <a:xfrm>
            <a:off x="1494127" y="4922747"/>
            <a:ext cx="9098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Host PC</a:t>
            </a:r>
          </a:p>
        </p:txBody>
      </p:sp>
      <p:sp>
        <p:nvSpPr>
          <p:cNvPr id="30" name="Arrow: Left-Right 29">
            <a:extLst>
              <a:ext uri="{FF2B5EF4-FFF2-40B4-BE49-F238E27FC236}">
                <a16:creationId xmlns:a16="http://schemas.microsoft.com/office/drawing/2014/main" id="{A8200BA3-EADC-06C1-D271-47CD213F4B29}"/>
              </a:ext>
            </a:extLst>
          </p:cNvPr>
          <p:cNvSpPr/>
          <p:nvPr/>
        </p:nvSpPr>
        <p:spPr>
          <a:xfrm>
            <a:off x="2677997" y="3636439"/>
            <a:ext cx="557176" cy="268732"/>
          </a:xfrm>
          <a:prstGeom prst="leftRightArrow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6B7D95A3-7D25-DF92-46C1-BCF554448A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60657" y="1326814"/>
            <a:ext cx="1436417" cy="1155057"/>
          </a:xfrm>
          <a:prstGeom prst="rect">
            <a:avLst/>
          </a:prstGeom>
        </p:spPr>
      </p:pic>
      <p:sp>
        <p:nvSpPr>
          <p:cNvPr id="38" name="TextBox 37">
            <a:extLst>
              <a:ext uri="{FF2B5EF4-FFF2-40B4-BE49-F238E27FC236}">
                <a16:creationId xmlns:a16="http://schemas.microsoft.com/office/drawing/2014/main" id="{573E6AF3-0D96-BEE6-B1B0-91C5EDD3D64C}"/>
              </a:ext>
            </a:extLst>
          </p:cNvPr>
          <p:cNvSpPr txBox="1"/>
          <p:nvPr/>
        </p:nvSpPr>
        <p:spPr>
          <a:xfrm>
            <a:off x="4923321" y="1554266"/>
            <a:ext cx="15358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Pynq</a:t>
            </a:r>
            <a:r>
              <a:rPr lang="en-US" dirty="0"/>
              <a:t> Z2 board</a:t>
            </a:r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6B096EFB-C66D-7222-5443-D15DCE633E69}"/>
              </a:ext>
            </a:extLst>
          </p:cNvPr>
          <p:cNvSpPr/>
          <p:nvPr/>
        </p:nvSpPr>
        <p:spPr>
          <a:xfrm rot="16200000">
            <a:off x="6517193" y="3798468"/>
            <a:ext cx="408802" cy="3292856"/>
          </a:xfrm>
          <a:prstGeom prst="leftBrac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E515B7C-0D45-C55B-1D60-312CFCC14585}"/>
              </a:ext>
            </a:extLst>
          </p:cNvPr>
          <p:cNvSpPr txBox="1"/>
          <p:nvPr/>
        </p:nvSpPr>
        <p:spPr>
          <a:xfrm>
            <a:off x="6521058" y="5666741"/>
            <a:ext cx="4010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tx2">
                    <a:lumMod val="60000"/>
                    <a:lumOff val="40000"/>
                  </a:schemeClr>
                </a:solidFill>
              </a:rPr>
              <a:t>PL</a:t>
            </a:r>
          </a:p>
        </p:txBody>
      </p:sp>
      <p:sp>
        <p:nvSpPr>
          <p:cNvPr id="43" name="Content Placeholder 2">
            <a:extLst>
              <a:ext uri="{FF2B5EF4-FFF2-40B4-BE49-F238E27FC236}">
                <a16:creationId xmlns:a16="http://schemas.microsoft.com/office/drawing/2014/main" id="{32C435DA-FD57-DCE7-673B-567EB7F3B4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52468" y="1554266"/>
            <a:ext cx="2870426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We will rapidly build</a:t>
            </a:r>
          </a:p>
          <a:p>
            <a:r>
              <a:rPr lang="en-US" dirty="0">
                <a:solidFill>
                  <a:schemeClr val="tx1"/>
                </a:solidFill>
              </a:rPr>
              <a:t>Complete AXI4-Lite I/F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Interface done automatically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No need to code any handshaking</a:t>
            </a:r>
          </a:p>
          <a:p>
            <a:r>
              <a:rPr lang="en-US" dirty="0">
                <a:solidFill>
                  <a:schemeClr val="tx1"/>
                </a:solidFill>
              </a:rPr>
              <a:t>Control through host</a:t>
            </a:r>
          </a:p>
          <a:p>
            <a:pPr lvl="1"/>
            <a:r>
              <a:rPr lang="en-US" dirty="0">
                <a:solidFill>
                  <a:schemeClr val="tx1"/>
                </a:solidFill>
              </a:rPr>
              <a:t>Simple python </a:t>
            </a:r>
            <a:r>
              <a:rPr lang="en-US" dirty="0" err="1">
                <a:solidFill>
                  <a:schemeClr val="tx1"/>
                </a:solidFill>
              </a:rPr>
              <a:t>jupyter</a:t>
            </a:r>
            <a:r>
              <a:rPr lang="en-US" dirty="0">
                <a:solidFill>
                  <a:schemeClr val="tx1"/>
                </a:solidFill>
              </a:rPr>
              <a:t> notebook</a:t>
            </a:r>
          </a:p>
          <a:p>
            <a:r>
              <a:rPr lang="en-US" dirty="0">
                <a:solidFill>
                  <a:schemeClr val="tx1"/>
                </a:solidFill>
              </a:rPr>
              <a:t>Deploy to a real FPGA!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60040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96FBD9-6BF5-7FD8-B81E-8C4D3238A1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IP Source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CE825-1232-C32E-AF2D-3D20F7F1D0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539277"/>
            <a:ext cx="4056865" cy="432981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IP Source Code is simple</a:t>
            </a:r>
          </a:p>
          <a:p>
            <a:r>
              <a:rPr lang="en-US" dirty="0"/>
              <a:t>Module declaration</a:t>
            </a:r>
          </a:p>
          <a:p>
            <a:endParaRPr lang="en-US" dirty="0"/>
          </a:p>
          <a:p>
            <a:r>
              <a:rPr lang="en-US" dirty="0"/>
              <a:t>Port descriptions</a:t>
            </a:r>
          </a:p>
          <a:p>
            <a:endParaRPr lang="en-US" dirty="0"/>
          </a:p>
          <a:p>
            <a:r>
              <a:rPr lang="en-US" dirty="0"/>
              <a:t>Main functional description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59A6F4-136C-F46B-5685-2D06992F5D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37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F525D74-73D7-136E-FC8F-66B1C0AFE0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10E3E34-156B-DDB6-6550-295831329535}"/>
              </a:ext>
            </a:extLst>
          </p:cNvPr>
          <p:cNvCxnSpPr/>
          <p:nvPr/>
        </p:nvCxnSpPr>
        <p:spPr>
          <a:xfrm flipH="1">
            <a:off x="4603750" y="2139950"/>
            <a:ext cx="2330450" cy="825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561E01C-0A81-8836-0469-2AC55F104209}"/>
              </a:ext>
            </a:extLst>
          </p:cNvPr>
          <p:cNvCxnSpPr>
            <a:cxnSpLocks/>
          </p:cNvCxnSpPr>
          <p:nvPr/>
        </p:nvCxnSpPr>
        <p:spPr>
          <a:xfrm flipH="1">
            <a:off x="5933589" y="311818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85ED182-229C-FB53-0261-4646FF12A6EA}"/>
              </a:ext>
            </a:extLst>
          </p:cNvPr>
          <p:cNvCxnSpPr>
            <a:cxnSpLocks/>
          </p:cNvCxnSpPr>
          <p:nvPr/>
        </p:nvCxnSpPr>
        <p:spPr>
          <a:xfrm flipH="1">
            <a:off x="5933589" y="4026236"/>
            <a:ext cx="10006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8371996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E9121-FB3B-5B35-FDE0-8313298A6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59824-9E00-3361-FBD9-FABDD7CD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652C75-9B91-F545-9843-76EAFC0B35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98814" y="1879603"/>
            <a:ext cx="4056865" cy="398949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Module declaration</a:t>
            </a:r>
          </a:p>
          <a:p>
            <a:pPr lvl="1"/>
            <a:r>
              <a:rPr lang="en-US" dirty="0"/>
              <a:t>Defines inputs and outputs</a:t>
            </a:r>
          </a:p>
          <a:p>
            <a:pPr lvl="1"/>
            <a:r>
              <a:rPr lang="en-US" dirty="0"/>
              <a:t>Standard C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787EDC-ECB1-800D-9C56-54DE44E8C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38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DCA3EA-DE44-8FD6-3B82-6AB906232E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6971" y="1954016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598AFEF7-8D74-67D0-B8FB-04C26A6617F6}"/>
              </a:ext>
            </a:extLst>
          </p:cNvPr>
          <p:cNvCxnSpPr>
            <a:cxnSpLocks/>
          </p:cNvCxnSpPr>
          <p:nvPr/>
        </p:nvCxnSpPr>
        <p:spPr>
          <a:xfrm flipH="1">
            <a:off x="5888370" y="2222836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B718DAA9-6A2A-0C9B-6B03-422E9AE49C04}"/>
              </a:ext>
            </a:extLst>
          </p:cNvPr>
          <p:cNvSpPr/>
          <p:nvPr/>
        </p:nvSpPr>
        <p:spPr>
          <a:xfrm>
            <a:off x="1156971" y="2490983"/>
            <a:ext cx="4648849" cy="2273299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26482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235057-6D65-8131-EC80-44C5609EEE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A1A90-F706-1FDE-9222-2BE1FE2CD4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209DC-72AA-37E0-C9BA-121241C818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054092"/>
            <a:ext cx="4890370" cy="3815002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Port definitions</a:t>
            </a:r>
          </a:p>
          <a:p>
            <a:pPr lvl="1"/>
            <a:r>
              <a:rPr lang="en-US" dirty="0"/>
              <a:t>Use pragma statements</a:t>
            </a:r>
          </a:p>
          <a:p>
            <a:pPr lvl="1"/>
            <a:r>
              <a:rPr lang="en-US" dirty="0"/>
              <a:t>Do not change function</a:t>
            </a:r>
          </a:p>
          <a:p>
            <a:pPr lvl="1"/>
            <a:r>
              <a:rPr lang="en-US" dirty="0"/>
              <a:t>But tell synthesizer how to map to hardware</a:t>
            </a:r>
          </a:p>
          <a:p>
            <a:pPr lvl="1"/>
            <a:r>
              <a:rPr lang="en-US" dirty="0"/>
              <a:t>Indicates ports are </a:t>
            </a:r>
            <a:r>
              <a:rPr lang="en-US" dirty="0" err="1"/>
              <a:t>axislite</a:t>
            </a:r>
            <a:r>
              <a:rPr lang="en-US" dirty="0"/>
              <a:t> (AXI4-Lite slave)</a:t>
            </a:r>
          </a:p>
          <a:p>
            <a:pPr lvl="1"/>
            <a:r>
              <a:rPr lang="en-US" dirty="0"/>
              <a:t>Share a common bundle</a:t>
            </a:r>
            <a:br>
              <a:rPr lang="en-US" dirty="0"/>
            </a:br>
            <a:r>
              <a:rPr lang="en-US" dirty="0"/>
              <a:t>(all on the same AXI4-Lite interface)</a:t>
            </a:r>
          </a:p>
          <a:p>
            <a:pPr lvl="1"/>
            <a:r>
              <a:rPr lang="en-US" dirty="0"/>
              <a:t>Additional port=return</a:t>
            </a:r>
            <a:br>
              <a:rPr lang="en-US" dirty="0"/>
            </a:br>
            <a:r>
              <a:rPr lang="en-US" dirty="0"/>
              <a:t>(Provides start, stop, see later)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27D669-209F-6F29-721A-BCFFDECC71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39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EE01DCF-527D-CD6E-BDBF-CE061165C6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DFF853-3C6C-13EA-3696-6DA36BF9F6A3}"/>
              </a:ext>
            </a:extLst>
          </p:cNvPr>
          <p:cNvCxnSpPr>
            <a:cxnSpLocks/>
          </p:cNvCxnSpPr>
          <p:nvPr/>
        </p:nvCxnSpPr>
        <p:spPr>
          <a:xfrm flipH="1">
            <a:off x="5557066" y="2534263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26275978-6B0E-F2ED-922C-0F796A2634DE}"/>
              </a:ext>
            </a:extLst>
          </p:cNvPr>
          <p:cNvSpPr/>
          <p:nvPr/>
        </p:nvSpPr>
        <p:spPr>
          <a:xfrm>
            <a:off x="825667" y="3498574"/>
            <a:ext cx="4648849" cy="125908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8E16AA5-27DE-CF46-3224-42A15FB7CBFB}"/>
              </a:ext>
            </a:extLst>
          </p:cNvPr>
          <p:cNvSpPr/>
          <p:nvPr/>
        </p:nvSpPr>
        <p:spPr>
          <a:xfrm>
            <a:off x="825667" y="1947389"/>
            <a:ext cx="4648849" cy="424750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682893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645196-7F2C-5010-64BB-71D3DDFD0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9EF88-5C0A-D583-ACF3-62D122178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Declaration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ABD7C-CB89-6DF3-D6FA-B31A281211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5963" y="2534262"/>
            <a:ext cx="4890370" cy="3334831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Main function definition</a:t>
            </a:r>
          </a:p>
          <a:p>
            <a:pPr lvl="1"/>
            <a:r>
              <a:rPr lang="en-US" dirty="0"/>
              <a:t>Plain C</a:t>
            </a:r>
          </a:p>
          <a:p>
            <a:pPr lvl="1"/>
            <a:r>
              <a:rPr lang="en-US" dirty="0"/>
              <a:t>Do not specify the implementation</a:t>
            </a:r>
            <a:br>
              <a:rPr lang="en-US" dirty="0"/>
            </a:br>
            <a:r>
              <a:rPr lang="en-US" dirty="0"/>
              <a:t>Just the desired behavior</a:t>
            </a:r>
          </a:p>
          <a:p>
            <a:pPr lvl="1"/>
            <a:r>
              <a:rPr lang="en-US" dirty="0"/>
              <a:t>Synthesizer may map to multiple clock cycles</a:t>
            </a:r>
          </a:p>
          <a:p>
            <a:pPr lvl="1"/>
            <a:r>
              <a:rPr lang="en-US" dirty="0"/>
              <a:t>You do not have to do scheduling manually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BCFDC3-DC02-B585-F82C-E872087F9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40</a:t>
            </a:fld>
            <a:endParaRPr lang="en-US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28BC620-989B-0689-6915-AD8328C6BC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667" y="1947390"/>
            <a:ext cx="4648849" cy="2810267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57D3A1E-DBF8-CE50-5B74-5CB7496DECD3}"/>
              </a:ext>
            </a:extLst>
          </p:cNvPr>
          <p:cNvCxnSpPr>
            <a:cxnSpLocks/>
          </p:cNvCxnSpPr>
          <p:nvPr/>
        </p:nvCxnSpPr>
        <p:spPr>
          <a:xfrm flipH="1">
            <a:off x="5475352" y="3972124"/>
            <a:ext cx="1000611" cy="0"/>
          </a:xfrm>
          <a:prstGeom prst="straightConnector1">
            <a:avLst/>
          </a:prstGeom>
          <a:ln w="254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9A3FEB4-71CF-9F90-07F3-A6B68B54F924}"/>
              </a:ext>
            </a:extLst>
          </p:cNvPr>
          <p:cNvSpPr/>
          <p:nvPr/>
        </p:nvSpPr>
        <p:spPr>
          <a:xfrm>
            <a:off x="825667" y="1947391"/>
            <a:ext cx="4648849" cy="1617442"/>
          </a:xfrm>
          <a:prstGeom prst="rect">
            <a:avLst/>
          </a:prstGeom>
          <a:solidFill>
            <a:srgbClr val="E3DFF7">
              <a:alpha val="8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72181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2E95B-3D65-C876-948A-A739F312D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Testbench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00320-83F0-5188-AFFA-87E225021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/>
                </a:solidFill>
              </a:rPr>
              <a:t>Testbench</a:t>
            </a:r>
          </a:p>
          <a:p>
            <a:pPr lvl="1"/>
            <a:r>
              <a:rPr lang="en-US" dirty="0"/>
              <a:t>Program simulating another unit interacting with IP</a:t>
            </a:r>
          </a:p>
          <a:p>
            <a:pPr lvl="1"/>
            <a:r>
              <a:rPr lang="en-US" dirty="0"/>
              <a:t>IP is the device-under-test (DUT)</a:t>
            </a:r>
          </a:p>
          <a:p>
            <a:r>
              <a:rPr lang="en-US" dirty="0"/>
              <a:t>In </a:t>
            </a:r>
            <a:r>
              <a:rPr lang="en-US" dirty="0">
                <a:solidFill>
                  <a:schemeClr val="accent1"/>
                </a:solidFill>
              </a:rPr>
              <a:t>HLS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Testbench another C program</a:t>
            </a:r>
          </a:p>
          <a:p>
            <a:pPr lvl="1"/>
            <a:r>
              <a:rPr lang="en-US" dirty="0"/>
              <a:t>Calls the DUT module like a C function</a:t>
            </a:r>
          </a:p>
          <a:p>
            <a:pPr lvl="1"/>
            <a:r>
              <a:rPr lang="en-US" dirty="0"/>
              <a:t>Sequential behavior</a:t>
            </a:r>
          </a:p>
          <a:p>
            <a:pPr lvl="1"/>
            <a:r>
              <a:rPr lang="en-US" dirty="0"/>
              <a:t>Testbench code can use any C / C++ functions</a:t>
            </a:r>
          </a:p>
          <a:p>
            <a:pPr lvl="1"/>
            <a:r>
              <a:rPr lang="en-US" dirty="0"/>
              <a:t>Does not need to be “synthesizable”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F126D-5140-350D-AB28-9670C3A5B7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41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7C497C0-D417-8945-050F-D9D95EF88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1263" y="270035"/>
            <a:ext cx="1762371" cy="19528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61CD016-A4D5-A17A-AEA2-0C690F17B5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41263" y="2368766"/>
            <a:ext cx="4126033" cy="372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741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FA0A34-25DC-9D16-E2E3-4AF76B084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Vitis HLS Flow Described in Flow Panel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3D355-27B1-07F6-265A-75F58CDB4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96084" y="1539277"/>
            <a:ext cx="4959596" cy="4329817"/>
          </a:xfrm>
        </p:spPr>
        <p:txBody>
          <a:bodyPr/>
          <a:lstStyle/>
          <a:p>
            <a:r>
              <a:rPr lang="en-US" dirty="0"/>
              <a:t>Tool follows expected steps for HLS 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D204A0-4263-9C55-1A95-38DF0CF8A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42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8D61A20-EDD3-B489-FA79-30DD3169DD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4397" y="1539277"/>
            <a:ext cx="2505425" cy="4477375"/>
          </a:xfrm>
          <a:prstGeom prst="rect">
            <a:avLst/>
          </a:prstGeom>
        </p:spPr>
      </p:pic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CA205D4-AC6F-E8B9-7DF1-B9BC9334CD7D}"/>
              </a:ext>
            </a:extLst>
          </p:cNvPr>
          <p:cNvSpPr/>
          <p:nvPr/>
        </p:nvSpPr>
        <p:spPr>
          <a:xfrm>
            <a:off x="5661232" y="4714099"/>
            <a:ext cx="1328648" cy="872422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RTL Simulation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5B296190-E8F9-B1C9-3412-5E89562B9483}"/>
              </a:ext>
            </a:extLst>
          </p:cNvPr>
          <p:cNvSpPr/>
          <p:nvPr/>
        </p:nvSpPr>
        <p:spPr>
          <a:xfrm>
            <a:off x="7207199" y="4672121"/>
            <a:ext cx="1304929" cy="9144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Package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E8FF64AC-51C0-2AF5-1E5C-A7EFF236F388}"/>
              </a:ext>
            </a:extLst>
          </p:cNvPr>
          <p:cNvSpPr/>
          <p:nvPr/>
        </p:nvSpPr>
        <p:spPr>
          <a:xfrm>
            <a:off x="6978423" y="2883752"/>
            <a:ext cx="1133992" cy="893410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Synthesis</a:t>
            </a:r>
          </a:p>
        </p:txBody>
      </p: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01D3A6D8-27BF-906C-9E4F-B05CE0ADE565}"/>
              </a:ext>
            </a:extLst>
          </p:cNvPr>
          <p:cNvSpPr/>
          <p:nvPr/>
        </p:nvSpPr>
        <p:spPr>
          <a:xfrm>
            <a:off x="5322628" y="2883751"/>
            <a:ext cx="1328648" cy="872422"/>
          </a:xfrm>
          <a:prstGeom prst="roundRect">
            <a:avLst/>
          </a:prstGeom>
          <a:solidFill>
            <a:srgbClr val="E0F8E0"/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solidFill>
                  <a:schemeClr val="tx1"/>
                </a:solidFill>
              </a:rPr>
              <a:t>C </a:t>
            </a:r>
            <a:br>
              <a:rPr lang="en-US" sz="1600" dirty="0">
                <a:solidFill>
                  <a:schemeClr val="tx1"/>
                </a:solidFill>
              </a:rPr>
            </a:br>
            <a:r>
              <a:rPr lang="en-US" sz="1600" dirty="0">
                <a:solidFill>
                  <a:schemeClr val="tx1"/>
                </a:solidFill>
              </a:rPr>
              <a:t>simulation</a:t>
            </a:r>
          </a:p>
        </p:txBody>
      </p:sp>
      <p:sp>
        <p:nvSpPr>
          <p:cNvPr id="34" name="Arrow: Right 33">
            <a:extLst>
              <a:ext uri="{FF2B5EF4-FFF2-40B4-BE49-F238E27FC236}">
                <a16:creationId xmlns:a16="http://schemas.microsoft.com/office/drawing/2014/main" id="{ED062EA9-EDAD-B9E3-24BB-586BCA5C738A}"/>
              </a:ext>
            </a:extLst>
          </p:cNvPr>
          <p:cNvSpPr/>
          <p:nvPr/>
        </p:nvSpPr>
        <p:spPr>
          <a:xfrm rot="5400000">
            <a:off x="6209098" y="4310663"/>
            <a:ext cx="549711" cy="388882"/>
          </a:xfrm>
          <a:prstGeom prst="rightArrow">
            <a:avLst/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C978349C-BF94-D587-10F2-EC9AF6CFAD7C}"/>
              </a:ext>
            </a:extLst>
          </p:cNvPr>
          <p:cNvSpPr/>
          <p:nvPr/>
        </p:nvSpPr>
        <p:spPr>
          <a:xfrm>
            <a:off x="6874911" y="4934880"/>
            <a:ext cx="476718" cy="372574"/>
          </a:xfrm>
          <a:prstGeom prst="rightArrow">
            <a:avLst/>
          </a:prstGeom>
          <a:solidFill>
            <a:schemeClr val="accent5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Arrow: Right 35">
            <a:extLst>
              <a:ext uri="{FF2B5EF4-FFF2-40B4-BE49-F238E27FC236}">
                <a16:creationId xmlns:a16="http://schemas.microsoft.com/office/drawing/2014/main" id="{97906784-E198-9341-0AB7-AB8911F2C59B}"/>
              </a:ext>
            </a:extLst>
          </p:cNvPr>
          <p:cNvSpPr/>
          <p:nvPr/>
        </p:nvSpPr>
        <p:spPr>
          <a:xfrm>
            <a:off x="6580001" y="3136016"/>
            <a:ext cx="578644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Arrow: Right 36">
            <a:extLst>
              <a:ext uri="{FF2B5EF4-FFF2-40B4-BE49-F238E27FC236}">
                <a16:creationId xmlns:a16="http://schemas.microsoft.com/office/drawing/2014/main" id="{163D780A-C78C-4F85-7594-9EC4BDB6ED40}"/>
              </a:ext>
            </a:extLst>
          </p:cNvPr>
          <p:cNvSpPr/>
          <p:nvPr/>
        </p:nvSpPr>
        <p:spPr>
          <a:xfrm>
            <a:off x="4642398" y="3144612"/>
            <a:ext cx="738928" cy="388882"/>
          </a:xfrm>
          <a:prstGeom prst="rightArrow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43A3F1F-ABB7-A914-4F56-ACECC9D7C408}"/>
              </a:ext>
            </a:extLst>
          </p:cNvPr>
          <p:cNvSpPr txBox="1"/>
          <p:nvPr/>
        </p:nvSpPr>
        <p:spPr>
          <a:xfrm>
            <a:off x="4738882" y="3979838"/>
            <a:ext cx="149669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Auto-generated</a:t>
            </a:r>
            <a:br>
              <a:rPr lang="en-US" sz="1600" dirty="0"/>
            </a:br>
            <a:r>
              <a:rPr lang="en-US" sz="1600" dirty="0"/>
              <a:t>RTL files</a:t>
            </a:r>
          </a:p>
        </p:txBody>
      </p:sp>
      <p:sp>
        <p:nvSpPr>
          <p:cNvPr id="39" name="L-Shape 38">
            <a:extLst>
              <a:ext uri="{FF2B5EF4-FFF2-40B4-BE49-F238E27FC236}">
                <a16:creationId xmlns:a16="http://schemas.microsoft.com/office/drawing/2014/main" id="{23E1CA6C-D160-9777-AED2-807F591AA08B}"/>
              </a:ext>
            </a:extLst>
          </p:cNvPr>
          <p:cNvSpPr/>
          <p:nvPr/>
        </p:nvSpPr>
        <p:spPr>
          <a:xfrm rot="16200000">
            <a:off x="6717600" y="3465484"/>
            <a:ext cx="598116" cy="1238536"/>
          </a:xfrm>
          <a:prstGeom prst="corner">
            <a:avLst>
              <a:gd name="adj1" fmla="val 28277"/>
              <a:gd name="adj2" fmla="val 30302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5597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FF4E1-D1EF-6615-0F28-8B33EB420D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Output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091796-DBD2-7B96-8E93-B271125FC8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Resulting Verilog files are massive!</a:t>
            </a:r>
          </a:p>
          <a:p>
            <a:r>
              <a:rPr lang="en-US" dirty="0"/>
              <a:t>Main function in this case:</a:t>
            </a:r>
          </a:p>
          <a:p>
            <a:pPr lvl="1"/>
            <a:r>
              <a:rPr lang="en-US" dirty="0" err="1"/>
              <a:t>simp_fun.v</a:t>
            </a:r>
            <a:endParaRPr lang="en-US" dirty="0"/>
          </a:p>
          <a:p>
            <a:pPr lvl="1"/>
            <a:r>
              <a:rPr lang="en-US" dirty="0"/>
              <a:t>&gt; 200 lines of Verilog</a:t>
            </a:r>
          </a:p>
          <a:p>
            <a:pPr lvl="1"/>
            <a:r>
              <a:rPr lang="en-US" dirty="0"/>
              <a:t>Hard to read code</a:t>
            </a:r>
          </a:p>
          <a:p>
            <a:r>
              <a:rPr lang="en-US" dirty="0"/>
              <a:t>You saved a lot of time coding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88459-7410-5142-BA76-8CDC107598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43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43BC554-39B4-F9F3-C222-87DDCA4A01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7815" y="570605"/>
            <a:ext cx="2864991" cy="5521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127105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1485B-0271-D67D-C297-6C04DD4B1B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Synthesis Report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FDDA9-B77D-3B2F-B126-2A260F81C5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Generate a Report in Vitis Tool</a:t>
            </a:r>
          </a:p>
          <a:p>
            <a:pPr lvl="1"/>
            <a:r>
              <a:rPr lang="en-US" dirty="0"/>
              <a:t>Later, we will write python to parse these</a:t>
            </a:r>
          </a:p>
          <a:p>
            <a:r>
              <a:rPr lang="en-US" dirty="0"/>
              <a:t>Timing estimate</a:t>
            </a:r>
          </a:p>
          <a:p>
            <a:pPr lvl="1"/>
            <a:r>
              <a:rPr lang="en-US" dirty="0"/>
              <a:t>Timing of critical path</a:t>
            </a:r>
          </a:p>
          <a:p>
            <a:pPr lvl="1"/>
            <a:r>
              <a:rPr lang="en-US" dirty="0"/>
              <a:t>Can verify that lower than clock period</a:t>
            </a:r>
          </a:p>
          <a:p>
            <a:r>
              <a:rPr lang="en-US" dirty="0"/>
              <a:t>Estimated latency </a:t>
            </a:r>
          </a:p>
          <a:p>
            <a:pPr lvl="1"/>
            <a:r>
              <a:rPr lang="en-US" dirty="0"/>
              <a:t>In this case = 4 clock </a:t>
            </a:r>
            <a:r>
              <a:rPr lang="en-US" dirty="0" err="1"/>
              <a:t>cylces</a:t>
            </a:r>
            <a:endParaRPr lang="en-US" dirty="0"/>
          </a:p>
          <a:p>
            <a:r>
              <a:rPr lang="en-US" dirty="0"/>
              <a:t>Estimate resources</a:t>
            </a:r>
          </a:p>
          <a:p>
            <a:pPr lvl="1"/>
            <a:r>
              <a:rPr lang="en-US" dirty="0"/>
              <a:t>Amount of each FPGA resources used</a:t>
            </a:r>
          </a:p>
          <a:p>
            <a:pPr lvl="1"/>
            <a:r>
              <a:rPr lang="en-US" dirty="0"/>
              <a:t>BRAM, DSP, …</a:t>
            </a:r>
          </a:p>
          <a:p>
            <a:pPr lvl="1"/>
            <a:r>
              <a:rPr lang="en-US" dirty="0"/>
              <a:t>We will discuss these in detail later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999CB-191F-6878-D0F2-E3774ED46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44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D6311E0-7BCD-B25A-29EF-6826C67DAE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8698" y="1833777"/>
            <a:ext cx="4746254" cy="18704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75414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8ECA0-D8EA-FC48-7393-74DE53F399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RTL Simulation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</p:spPr>
            <p:txBody>
              <a:bodyPr/>
              <a:lstStyle/>
              <a:p>
                <a:r>
                  <a:rPr lang="en-US" dirty="0"/>
                  <a:t>Run RTL sim and extract VCD diagram</a:t>
                </a:r>
              </a:p>
              <a:p>
                <a:r>
                  <a:rPr lang="en-US" dirty="0"/>
                  <a:t>Left plot:</a:t>
                </a:r>
              </a:p>
              <a:p>
                <a:pPr lvl="1"/>
                <a:r>
                  <a:rPr lang="en-US" dirty="0"/>
                  <a:t>One transaction with IP</a:t>
                </a:r>
              </a:p>
              <a:p>
                <a:pPr lvl="1"/>
                <a:r>
                  <a:rPr lang="en-US" dirty="0"/>
                  <a:t>Can visualize AXI4-Lite interaction</a:t>
                </a:r>
              </a:p>
              <a:p>
                <a:r>
                  <a:rPr lang="en-US" dirty="0">
                    <a:solidFill>
                      <a:schemeClr val="accent1"/>
                    </a:solidFill>
                  </a:rPr>
                  <a:t>Write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Write three values: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3 clock cycles each</a:t>
                </a:r>
              </a:p>
              <a:p>
                <a:r>
                  <a:rPr lang="en-US" dirty="0">
                    <a:solidFill>
                      <a:srgbClr val="00B050"/>
                    </a:solidFill>
                  </a:rPr>
                  <a:t>Read</a:t>
                </a:r>
                <a:r>
                  <a:rPr lang="en-US" dirty="0"/>
                  <a:t>:</a:t>
                </a:r>
              </a:p>
              <a:p>
                <a:pPr lvl="1"/>
                <a:r>
                  <a:rPr lang="en-US" dirty="0"/>
                  <a:t>Reads output</a:t>
                </a:r>
              </a:p>
              <a:p>
                <a:pPr lvl="1"/>
                <a:r>
                  <a:rPr lang="en-US" dirty="0"/>
                  <a:t>Approximately 20 cycles after first write</a:t>
                </a:r>
              </a:p>
              <a:p>
                <a:pPr lvl="1"/>
                <a:endParaRPr lang="en-US" dirty="0"/>
              </a:p>
              <a:p>
                <a:pPr lvl="1"/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110171A-D870-1FA7-ECC6-1DA72EA549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71146" y="1539277"/>
                <a:ext cx="4884533" cy="4329817"/>
              </a:xfrm>
              <a:blipFill>
                <a:blip r:embed="rId2"/>
                <a:stretch>
                  <a:fillRect l="-2996" t="-15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C32A37-EB2C-D7C1-23DB-852EC3DCD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45</a:t>
            </a:fld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647209E-B40D-69CA-128D-B6EAF3B219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7280" y="1405719"/>
            <a:ext cx="4487624" cy="4517410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8E50C70-CF73-F36A-40AD-39E8455763B3}"/>
              </a:ext>
            </a:extLst>
          </p:cNvPr>
          <p:cNvSpPr/>
          <p:nvPr/>
        </p:nvSpPr>
        <p:spPr>
          <a:xfrm>
            <a:off x="1876567" y="2722728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C0E1C0F-D5F3-C805-7919-D6F5940D5D9A}"/>
              </a:ext>
            </a:extLst>
          </p:cNvPr>
          <p:cNvSpPr/>
          <p:nvPr/>
        </p:nvSpPr>
        <p:spPr>
          <a:xfrm>
            <a:off x="2003567" y="3298114"/>
            <a:ext cx="1624084" cy="261772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2AFAD8C-5316-D582-5F44-623117094139}"/>
              </a:ext>
            </a:extLst>
          </p:cNvPr>
          <p:cNvSpPr txBox="1"/>
          <p:nvPr/>
        </p:nvSpPr>
        <p:spPr>
          <a:xfrm>
            <a:off x="6591300" y="307975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7CA275D-666F-7F0E-843E-A1AE035B38FE}"/>
              </a:ext>
            </a:extLst>
          </p:cNvPr>
          <p:cNvSpPr/>
          <p:nvPr/>
        </p:nvSpPr>
        <p:spPr>
          <a:xfrm>
            <a:off x="4572000" y="46658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4E3CCEB1-6954-6C5A-B2FD-B8227EAFEA5D}"/>
              </a:ext>
            </a:extLst>
          </p:cNvPr>
          <p:cNvSpPr/>
          <p:nvPr/>
        </p:nvSpPr>
        <p:spPr>
          <a:xfrm>
            <a:off x="4572000" y="4094328"/>
            <a:ext cx="744020" cy="261772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036813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321EDE-DA0C-1BEA-7670-EA3CFC618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RTL Simulation over Multiple Interactions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D5116-9D61-86BB-625F-36AF229CE3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Approximately 20 cycles for each input</a:t>
            </a:r>
          </a:p>
          <a:p>
            <a:r>
              <a:rPr lang="en-US" dirty="0"/>
              <a:t>We will be able to do this much faster</a:t>
            </a:r>
          </a:p>
          <a:p>
            <a:pPr lvl="1"/>
            <a:r>
              <a:rPr lang="en-US" dirty="0"/>
              <a:t>Will use an AXI-Streaming interface</a:t>
            </a:r>
          </a:p>
          <a:p>
            <a:pPr lvl="1"/>
            <a:r>
              <a:rPr lang="en-US" dirty="0"/>
              <a:t>Next lecture</a:t>
            </a:r>
          </a:p>
          <a:p>
            <a:r>
              <a:rPr lang="en-US" dirty="0"/>
              <a:t>AXI4-Lite is design for slowly varying items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B1750A-0502-3FE9-0471-364E3EAF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46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8CCD5D7-1B2F-CE9D-4944-FC424CE00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D20860C8-5CB5-8EDF-D856-C2A81DA16D13}"/>
              </a:ext>
            </a:extLst>
          </p:cNvPr>
          <p:cNvCxnSpPr/>
          <p:nvPr/>
        </p:nvCxnSpPr>
        <p:spPr>
          <a:xfrm>
            <a:off x="225188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F578E1D-31AA-E7E1-355A-FC1358D62C5C}"/>
              </a:ext>
            </a:extLst>
          </p:cNvPr>
          <p:cNvCxnSpPr/>
          <p:nvPr/>
        </p:nvCxnSpPr>
        <p:spPr>
          <a:xfrm>
            <a:off x="2956731" y="1869743"/>
            <a:ext cx="0" cy="429222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377958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E8A0B-CDA7-3FD5-763F-CECB9CB93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CEF32-D517-8F14-1DE2-16E9CF4E5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Execution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61ECE-C6DD-FC62-E31E-1979C15508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78550" y="1539277"/>
            <a:ext cx="4977130" cy="4329817"/>
          </a:xfrm>
        </p:spPr>
        <p:txBody>
          <a:bodyPr/>
          <a:lstStyle/>
          <a:p>
            <a:r>
              <a:rPr lang="en-US" dirty="0"/>
              <a:t>Write phase</a:t>
            </a:r>
          </a:p>
          <a:p>
            <a:pPr lvl="1"/>
            <a:r>
              <a:rPr lang="en-US" dirty="0"/>
              <a:t>PS writes input control registers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PS “start” on the control register</a:t>
            </a:r>
          </a:p>
          <a:p>
            <a:pPr lvl="1"/>
            <a:r>
              <a:rPr lang="en-US" dirty="0"/>
              <a:t>Transaction starts when “ready”</a:t>
            </a:r>
          </a:p>
          <a:p>
            <a:pPr lvl="1"/>
            <a:r>
              <a:rPr lang="en-US" dirty="0"/>
              <a:t>IP asserts “done”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PS reads outputs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E63B21F-7F22-6A87-6EC9-FC78421B4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47</a:t>
            </a:fld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784471-8FDA-FB8F-5E0C-35205CAC65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9443" y="1380327"/>
            <a:ext cx="4736611" cy="4843051"/>
          </a:xfrm>
          <a:prstGeom prst="rect">
            <a:avLst/>
          </a:prstGeom>
        </p:spPr>
      </p:pic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CCDD1C1-853A-3D7E-43D3-3364644991D9}"/>
              </a:ext>
            </a:extLst>
          </p:cNvPr>
          <p:cNvSpPr/>
          <p:nvPr/>
        </p:nvSpPr>
        <p:spPr>
          <a:xfrm>
            <a:off x="1638300" y="2362200"/>
            <a:ext cx="590550" cy="144780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FABF5F6-54C3-017B-52BE-28A818E020FF}"/>
              </a:ext>
            </a:extLst>
          </p:cNvPr>
          <p:cNvSpPr/>
          <p:nvPr/>
        </p:nvSpPr>
        <p:spPr>
          <a:xfrm>
            <a:off x="2451100" y="4267200"/>
            <a:ext cx="196850" cy="1682750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F178B7-71B7-D880-D786-DFAC7BBFFF49}"/>
              </a:ext>
            </a:extLst>
          </p:cNvPr>
          <p:cNvSpPr/>
          <p:nvPr/>
        </p:nvSpPr>
        <p:spPr>
          <a:xfrm>
            <a:off x="2155825" y="1828800"/>
            <a:ext cx="352425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E8C0F3-CCDE-461B-913A-5B62B6EFD776}"/>
              </a:ext>
            </a:extLst>
          </p:cNvPr>
          <p:cNvSpPr/>
          <p:nvPr/>
        </p:nvSpPr>
        <p:spPr>
          <a:xfrm>
            <a:off x="9832975" y="1806913"/>
            <a:ext cx="590550" cy="387350"/>
          </a:xfrm>
          <a:prstGeom prst="roundRect">
            <a:avLst/>
          </a:prstGeom>
          <a:solidFill>
            <a:srgbClr val="92278F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DE972D1A-54C7-6141-FAEA-881786124E59}"/>
              </a:ext>
            </a:extLst>
          </p:cNvPr>
          <p:cNvSpPr/>
          <p:nvPr/>
        </p:nvSpPr>
        <p:spPr>
          <a:xfrm>
            <a:off x="9896475" y="2895600"/>
            <a:ext cx="590550" cy="692150"/>
          </a:xfrm>
          <a:prstGeom prst="roundRect">
            <a:avLst/>
          </a:prstGeom>
          <a:solidFill>
            <a:srgbClr val="CCFF99">
              <a:alpha val="2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2DAACD4-FE40-FCF3-69AB-CF34E0D11D70}"/>
              </a:ext>
            </a:extLst>
          </p:cNvPr>
          <p:cNvSpPr/>
          <p:nvPr/>
        </p:nvSpPr>
        <p:spPr>
          <a:xfrm>
            <a:off x="9931399" y="3997999"/>
            <a:ext cx="555625" cy="612101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736943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63C6D2-4D0E-0F15-2D0F-DAF338355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Deploying on an FPGA 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322B15-6C0F-E849-7176-DAFD60275C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Will show this in class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5A14C3-E2B0-FE8F-3151-19595F2BF8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9637A9-119A-49DA-BD12-AAC58B377D80}" type="slidenum">
              <a:rPr lang="en-US" smtClean="0"/>
              <a:t>48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9783831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Violet II">
      <a:dk1>
        <a:sysClr val="windowText" lastClr="000000"/>
      </a:dk1>
      <a:lt1>
        <a:sysClr val="window" lastClr="FFFFFF"/>
      </a:lt1>
      <a:dk2>
        <a:srgbClr val="632E62"/>
      </a:dk2>
      <a:lt2>
        <a:srgbClr val="EAE5EB"/>
      </a:lt2>
      <a:accent1>
        <a:srgbClr val="92278F"/>
      </a:accent1>
      <a:accent2>
        <a:srgbClr val="9B57D3"/>
      </a:accent2>
      <a:accent3>
        <a:srgbClr val="755DD9"/>
      </a:accent3>
      <a:accent4>
        <a:srgbClr val="665EB8"/>
      </a:accent4>
      <a:accent5>
        <a:srgbClr val="45A5ED"/>
      </a:accent5>
      <a:accent6>
        <a:srgbClr val="5982DB"/>
      </a:accent6>
      <a:hlink>
        <a:srgbClr val="0066FF"/>
      </a:hlink>
      <a:folHlink>
        <a:srgbClr val="666699"/>
      </a:folHlink>
    </a:clrScheme>
    <a:fontScheme name="Calibri">
      <a:maj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02006FA4-1611-4B07-AF7F-85CF6D20EB3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12391</TotalTime>
  <Words>2802</Words>
  <Application>Microsoft Office PowerPoint</Application>
  <PresentationFormat>Widescreen</PresentationFormat>
  <Paragraphs>626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3" baseType="lpstr">
      <vt:lpstr>Arial</vt:lpstr>
      <vt:lpstr>Calibri</vt:lpstr>
      <vt:lpstr>Cambria Math</vt:lpstr>
      <vt:lpstr>Wingdings</vt:lpstr>
      <vt:lpstr>Retrospect</vt:lpstr>
      <vt:lpstr>Unit 4  Memory and Basic Processor Interfaces</vt:lpstr>
      <vt:lpstr>Learning Objectives</vt:lpstr>
      <vt:lpstr>Outline</vt:lpstr>
      <vt:lpstr>Addressable Memory</vt:lpstr>
      <vt:lpstr>Sequential vs Random Access</vt:lpstr>
      <vt:lpstr>Typical RAM Architecture</vt:lpstr>
      <vt:lpstr>Bus</vt:lpstr>
      <vt:lpstr>High Impedance</vt:lpstr>
      <vt:lpstr>High Impedance on a Data Bus</vt:lpstr>
      <vt:lpstr>External vs. Internal Memory</vt:lpstr>
      <vt:lpstr>External vs. Internal Compared</vt:lpstr>
      <vt:lpstr>Example Memory Internal Sizes</vt:lpstr>
      <vt:lpstr>Example:  Video</vt:lpstr>
      <vt:lpstr>Registers vs. Block Memory</vt:lpstr>
      <vt:lpstr>Memory Mapped Registers</vt:lpstr>
      <vt:lpstr>Example</vt:lpstr>
      <vt:lpstr>Outline</vt:lpstr>
      <vt:lpstr>AXI4-Lite Protocol</vt:lpstr>
      <vt:lpstr>AXI4-Lite Use Case:  Processor to Hardware IP</vt:lpstr>
      <vt:lpstr>Master-Slave and Transactions</vt:lpstr>
      <vt:lpstr>AXI4-Lite Write Protocol</vt:lpstr>
      <vt:lpstr>Example AXI4-Lite Write</vt:lpstr>
      <vt:lpstr>Example AXI4-Lite Write With Stall</vt:lpstr>
      <vt:lpstr>Theoretical Optimal Write Throughput</vt:lpstr>
      <vt:lpstr>Practical AXI4-Lite Latency</vt:lpstr>
      <vt:lpstr>AXI4-Lite Read Protocol</vt:lpstr>
      <vt:lpstr>Example Read Timing</vt:lpstr>
      <vt:lpstr>Theoretical Optimal Read Throughput</vt:lpstr>
      <vt:lpstr>Outline</vt:lpstr>
      <vt:lpstr>Example:  Connecting a Simple IP </vt:lpstr>
      <vt:lpstr>HLS vs. RTL</vt:lpstr>
      <vt:lpstr>HLS vs. RTL FPGA Design Flow</vt:lpstr>
      <vt:lpstr>Bad vs. Good HLS Code Write</vt:lpstr>
      <vt:lpstr>Vitis HLS</vt:lpstr>
      <vt:lpstr>FPGA Board Components</vt:lpstr>
      <vt:lpstr>Target Architecture</vt:lpstr>
      <vt:lpstr>IP Source Code</vt:lpstr>
      <vt:lpstr>Module Declaration</vt:lpstr>
      <vt:lpstr>Module Declaration</vt:lpstr>
      <vt:lpstr>Module Declaration</vt:lpstr>
      <vt:lpstr>Vitis HLS Testbench</vt:lpstr>
      <vt:lpstr>Vitis HLS Flow Described in Flow Panel</vt:lpstr>
      <vt:lpstr>Synthesis Output</vt:lpstr>
      <vt:lpstr>Synthesis Report</vt:lpstr>
      <vt:lpstr>RTL Simulation</vt:lpstr>
      <vt:lpstr>RTL Simulation over Multiple Interactions</vt:lpstr>
      <vt:lpstr>Execution Model</vt:lpstr>
      <vt:lpstr>Deploying on an FPGA Board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Sundeep Rangan</dc:creator>
  <cp:lastModifiedBy>Sundeep Rangan</cp:lastModifiedBy>
  <cp:revision>533</cp:revision>
  <cp:lastPrinted>2018-09-04T19:00:14Z</cp:lastPrinted>
  <dcterms:created xsi:type="dcterms:W3CDTF">2015-03-22T11:15:32Z</dcterms:created>
  <dcterms:modified xsi:type="dcterms:W3CDTF">2026-02-07T13:58:24Z</dcterms:modified>
</cp:coreProperties>
</file>